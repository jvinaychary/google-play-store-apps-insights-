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6" r:id="rId10"/>
  </p:sldIdLst>
  <p:sldSz cx="18288000" cy="10287000"/>
  <p:notesSz cx="6858000" cy="9144000"/>
  <p:embeddedFontLst>
    <p:embeddedFont>
      <p:font typeface="Poppins" panose="00000500000000000000" pitchFamily="2" charset="0"/>
      <p:regular r:id="rId12"/>
      <p:bold r:id="rId13"/>
    </p:embeddedFont>
    <p:embeddedFont>
      <p:font typeface="Poppins Bold" panose="00000800000000000000" charset="0"/>
      <p:regular r:id="rId14"/>
    </p:embeddedFont>
    <p:embeddedFont>
      <p:font typeface="Poppins Light" panose="00000400000000000000" pitchFamily="2" charset="0"/>
      <p:regular r:id="rId15"/>
      <p: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D2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50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sp>
        <p:nvSpPr>
          <p:cNvPr id="10" name="TextBox 10"/>
          <p:cNvSpPr txBox="1"/>
          <p:nvPr/>
        </p:nvSpPr>
        <p:spPr>
          <a:xfrm>
            <a:off x="992238" y="1417736"/>
            <a:ext cx="7159526" cy="1848147"/>
          </a:xfrm>
          <a:prstGeom prst="rect">
            <a:avLst/>
          </a:prstGeom>
        </p:spPr>
        <p:txBody>
          <a:bodyPr lIns="0" tIns="0" rIns="0" bIns="0" rtlCol="0" anchor="t">
            <a:spAutoFit/>
          </a:bodyPr>
          <a:lstStyle/>
          <a:p>
            <a:pPr algn="l">
              <a:lnSpc>
                <a:spcPts val="6937"/>
              </a:lnSpc>
            </a:pPr>
            <a:r>
              <a:rPr lang="en-US" sz="5562" b="1">
                <a:solidFill>
                  <a:srgbClr val="000000"/>
                </a:solidFill>
                <a:latin typeface="Poppins Bold"/>
                <a:ea typeface="Poppins Bold"/>
                <a:cs typeface="Poppins Bold"/>
                <a:sym typeface="Poppins Bold"/>
              </a:rPr>
              <a:t>App Store Insights Dashboard</a:t>
            </a:r>
          </a:p>
        </p:txBody>
      </p:sp>
      <p:sp>
        <p:nvSpPr>
          <p:cNvPr id="11" name="TextBox 11"/>
          <p:cNvSpPr txBox="1"/>
          <p:nvPr/>
        </p:nvSpPr>
        <p:spPr>
          <a:xfrm>
            <a:off x="992238" y="3548211"/>
            <a:ext cx="7159526" cy="5244852"/>
          </a:xfrm>
          <a:prstGeom prst="rect">
            <a:avLst/>
          </a:prstGeom>
        </p:spPr>
        <p:txBody>
          <a:bodyPr lIns="0" tIns="0" rIns="0" bIns="0" rtlCol="0" anchor="t">
            <a:spAutoFit/>
          </a:bodyPr>
          <a:lstStyle/>
          <a:p>
            <a:pPr algn="l">
              <a:lnSpc>
                <a:spcPts val="4437"/>
              </a:lnSpc>
            </a:pPr>
            <a:r>
              <a:rPr lang="en-US" sz="2750">
                <a:solidFill>
                  <a:srgbClr val="1F4E79"/>
                </a:solidFill>
                <a:latin typeface="Poppins"/>
                <a:ea typeface="Poppins"/>
                <a:cs typeface="Poppins"/>
                <a:sym typeface="Poppins"/>
              </a:rPr>
              <a:t>To analyze Google Play Store app data and extract insights on app performance, category-wise trends, user engagement, ratings, installs, pricing, and content distribution. This dashboard helps stakeholders quickly understand which apps perform well, what categories dominate the market, and how user ratings impact popularity.</a:t>
            </a:r>
          </a:p>
        </p:txBody>
      </p:sp>
      <p:pic>
        <p:nvPicPr>
          <p:cNvPr id="13" name="Picture 12">
            <a:extLst>
              <a:ext uri="{FF2B5EF4-FFF2-40B4-BE49-F238E27FC236}">
                <a16:creationId xmlns:a16="http://schemas.microsoft.com/office/drawing/2014/main" id="{0E414BC5-DA73-6408-CFB1-737788782D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99001" y="0"/>
            <a:ext cx="7788999"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sp>
        <p:nvSpPr>
          <p:cNvPr id="6" name="TextBox 6"/>
          <p:cNvSpPr txBox="1"/>
          <p:nvPr/>
        </p:nvSpPr>
        <p:spPr>
          <a:xfrm>
            <a:off x="847725" y="589806"/>
            <a:ext cx="6055221" cy="833140"/>
          </a:xfrm>
          <a:prstGeom prst="rect">
            <a:avLst/>
          </a:prstGeom>
        </p:spPr>
        <p:txBody>
          <a:bodyPr lIns="0" tIns="0" rIns="0" bIns="0" rtlCol="0" anchor="t">
            <a:spAutoFit/>
          </a:bodyPr>
          <a:lstStyle/>
          <a:p>
            <a:pPr algn="l">
              <a:lnSpc>
                <a:spcPts val="5937"/>
              </a:lnSpc>
            </a:pPr>
            <a:r>
              <a:rPr lang="en-US" sz="4750" b="1">
                <a:solidFill>
                  <a:srgbClr val="000000"/>
                </a:solidFill>
                <a:latin typeface="Poppins Bold"/>
                <a:ea typeface="Poppins Bold"/>
                <a:cs typeface="Poppins Bold"/>
                <a:sym typeface="Poppins Bold"/>
              </a:rPr>
              <a:t>Data Description</a:t>
            </a:r>
          </a:p>
        </p:txBody>
      </p:sp>
      <p:sp>
        <p:nvSpPr>
          <p:cNvPr id="7" name="TextBox 7"/>
          <p:cNvSpPr txBox="1"/>
          <p:nvPr/>
        </p:nvSpPr>
        <p:spPr>
          <a:xfrm>
            <a:off x="847725" y="1980754"/>
            <a:ext cx="8000851" cy="955774"/>
          </a:xfrm>
          <a:prstGeom prst="rect">
            <a:avLst/>
          </a:prstGeom>
        </p:spPr>
        <p:txBody>
          <a:bodyPr lIns="0" tIns="0" rIns="0" bIns="0" rtlCol="0" anchor="t">
            <a:spAutoFit/>
          </a:bodyPr>
          <a:lstStyle/>
          <a:p>
            <a:pPr algn="l">
              <a:lnSpc>
                <a:spcPts val="3562"/>
              </a:lnSpc>
            </a:pPr>
            <a:r>
              <a:rPr lang="en-US" sz="2812" b="1">
                <a:solidFill>
                  <a:srgbClr val="000000"/>
                </a:solidFill>
                <a:latin typeface="Poppins Bold"/>
                <a:ea typeface="Poppins Bold"/>
                <a:cs typeface="Poppins Bold"/>
                <a:sym typeface="Poppins Bold"/>
              </a:rPr>
              <a:t>Dataset Source: </a:t>
            </a:r>
            <a:r>
              <a:rPr lang="en-US" sz="2812" b="1">
                <a:solidFill>
                  <a:srgbClr val="1D1F22"/>
                </a:solidFill>
                <a:latin typeface="Poppins Bold"/>
                <a:ea typeface="Poppins Bold"/>
                <a:cs typeface="Poppins Bold"/>
                <a:sym typeface="Poppins Bold"/>
              </a:rPr>
              <a:t>Google Playstore Apps – gauthamp10</a:t>
            </a:r>
          </a:p>
        </p:txBody>
      </p:sp>
      <p:sp>
        <p:nvSpPr>
          <p:cNvPr id="8" name="TextBox 8"/>
          <p:cNvSpPr txBox="1"/>
          <p:nvPr/>
        </p:nvSpPr>
        <p:spPr>
          <a:xfrm>
            <a:off x="847725" y="3083421"/>
            <a:ext cx="8000851" cy="482650"/>
          </a:xfrm>
          <a:prstGeom prst="rect">
            <a:avLst/>
          </a:prstGeom>
        </p:spPr>
        <p:txBody>
          <a:bodyPr lIns="0" tIns="0" rIns="0" bIns="0" rtlCol="0" anchor="t">
            <a:spAutoFit/>
          </a:bodyPr>
          <a:lstStyle/>
          <a:p>
            <a:pPr algn="l">
              <a:lnSpc>
                <a:spcPts val="3000"/>
              </a:lnSpc>
            </a:pPr>
            <a:r>
              <a:rPr lang="en-US" sz="1874" b="1">
                <a:solidFill>
                  <a:srgbClr val="1F4E79"/>
                </a:solidFill>
                <a:latin typeface="Poppins Bold"/>
                <a:ea typeface="Poppins Bold"/>
                <a:cs typeface="Poppins Bold"/>
                <a:sym typeface="Poppins Bold"/>
              </a:rPr>
              <a:t>Total Records:</a:t>
            </a:r>
            <a:r>
              <a:rPr lang="en-US" sz="1874">
                <a:solidFill>
                  <a:srgbClr val="1F4E79"/>
                </a:solidFill>
                <a:latin typeface="Poppins"/>
                <a:ea typeface="Poppins"/>
                <a:cs typeface="Poppins"/>
                <a:sym typeface="Poppins"/>
              </a:rPr>
              <a:t> ~10,842 apps</a:t>
            </a:r>
          </a:p>
        </p:txBody>
      </p:sp>
      <p:sp>
        <p:nvSpPr>
          <p:cNvPr id="9" name="TextBox 9"/>
          <p:cNvSpPr txBox="1"/>
          <p:nvPr/>
        </p:nvSpPr>
        <p:spPr>
          <a:xfrm>
            <a:off x="847725" y="3770114"/>
            <a:ext cx="3027610" cy="416421"/>
          </a:xfrm>
          <a:prstGeom prst="rect">
            <a:avLst/>
          </a:prstGeom>
        </p:spPr>
        <p:txBody>
          <a:bodyPr lIns="0" tIns="0" rIns="0" bIns="0" rtlCol="0" anchor="t">
            <a:spAutoFit/>
          </a:bodyPr>
          <a:lstStyle/>
          <a:p>
            <a:pPr algn="l">
              <a:lnSpc>
                <a:spcPts val="2937"/>
              </a:lnSpc>
            </a:pPr>
            <a:r>
              <a:rPr lang="en-US" sz="2375" b="1">
                <a:solidFill>
                  <a:srgbClr val="000000"/>
                </a:solidFill>
                <a:latin typeface="Poppins Bold"/>
                <a:ea typeface="Poppins Bold"/>
                <a:cs typeface="Poppins Bold"/>
                <a:sym typeface="Poppins Bold"/>
              </a:rPr>
              <a:t>Key Columns Used:</a:t>
            </a:r>
          </a:p>
        </p:txBody>
      </p:sp>
      <p:sp>
        <p:nvSpPr>
          <p:cNvPr id="10" name="TextBox 10"/>
          <p:cNvSpPr txBox="1"/>
          <p:nvPr/>
        </p:nvSpPr>
        <p:spPr>
          <a:xfrm>
            <a:off x="847725" y="4333429"/>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App</a:t>
            </a:r>
          </a:p>
        </p:txBody>
      </p:sp>
      <p:sp>
        <p:nvSpPr>
          <p:cNvPr id="11" name="TextBox 11"/>
          <p:cNvSpPr txBox="1"/>
          <p:nvPr/>
        </p:nvSpPr>
        <p:spPr>
          <a:xfrm>
            <a:off x="847725" y="4805511"/>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Category</a:t>
            </a:r>
          </a:p>
        </p:txBody>
      </p:sp>
      <p:sp>
        <p:nvSpPr>
          <p:cNvPr id="12" name="TextBox 12"/>
          <p:cNvSpPr txBox="1"/>
          <p:nvPr/>
        </p:nvSpPr>
        <p:spPr>
          <a:xfrm>
            <a:off x="847725" y="5277594"/>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Rating</a:t>
            </a:r>
          </a:p>
        </p:txBody>
      </p:sp>
      <p:sp>
        <p:nvSpPr>
          <p:cNvPr id="13" name="TextBox 13"/>
          <p:cNvSpPr txBox="1"/>
          <p:nvPr/>
        </p:nvSpPr>
        <p:spPr>
          <a:xfrm>
            <a:off x="847725" y="5749677"/>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Reviews</a:t>
            </a:r>
          </a:p>
        </p:txBody>
      </p:sp>
      <p:sp>
        <p:nvSpPr>
          <p:cNvPr id="14" name="TextBox 14"/>
          <p:cNvSpPr txBox="1"/>
          <p:nvPr/>
        </p:nvSpPr>
        <p:spPr>
          <a:xfrm>
            <a:off x="847725" y="6221760"/>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Size</a:t>
            </a:r>
          </a:p>
        </p:txBody>
      </p:sp>
      <p:sp>
        <p:nvSpPr>
          <p:cNvPr id="15" name="TextBox 15"/>
          <p:cNvSpPr txBox="1"/>
          <p:nvPr/>
        </p:nvSpPr>
        <p:spPr>
          <a:xfrm>
            <a:off x="847725" y="6693842"/>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Installs</a:t>
            </a:r>
          </a:p>
        </p:txBody>
      </p:sp>
      <p:sp>
        <p:nvSpPr>
          <p:cNvPr id="16" name="TextBox 16"/>
          <p:cNvSpPr txBox="1"/>
          <p:nvPr/>
        </p:nvSpPr>
        <p:spPr>
          <a:xfrm>
            <a:off x="847725" y="7165925"/>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Price</a:t>
            </a:r>
          </a:p>
        </p:txBody>
      </p:sp>
      <p:sp>
        <p:nvSpPr>
          <p:cNvPr id="17" name="TextBox 17"/>
          <p:cNvSpPr txBox="1"/>
          <p:nvPr/>
        </p:nvSpPr>
        <p:spPr>
          <a:xfrm>
            <a:off x="847725" y="7638009"/>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Type (Free/Paid)</a:t>
            </a:r>
          </a:p>
        </p:txBody>
      </p:sp>
      <p:sp>
        <p:nvSpPr>
          <p:cNvPr id="18" name="TextBox 18"/>
          <p:cNvSpPr txBox="1"/>
          <p:nvPr/>
        </p:nvSpPr>
        <p:spPr>
          <a:xfrm>
            <a:off x="847725" y="8110091"/>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Content Rating</a:t>
            </a:r>
          </a:p>
        </p:txBody>
      </p:sp>
      <p:sp>
        <p:nvSpPr>
          <p:cNvPr id="19" name="TextBox 19"/>
          <p:cNvSpPr txBox="1"/>
          <p:nvPr/>
        </p:nvSpPr>
        <p:spPr>
          <a:xfrm>
            <a:off x="847725" y="8582174"/>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Genres</a:t>
            </a:r>
          </a:p>
        </p:txBody>
      </p:sp>
      <p:sp>
        <p:nvSpPr>
          <p:cNvPr id="20" name="TextBox 20"/>
          <p:cNvSpPr txBox="1"/>
          <p:nvPr/>
        </p:nvSpPr>
        <p:spPr>
          <a:xfrm>
            <a:off x="847725" y="9054256"/>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Last Updated</a:t>
            </a:r>
          </a:p>
        </p:txBody>
      </p:sp>
      <p:sp>
        <p:nvSpPr>
          <p:cNvPr id="21" name="TextBox 21"/>
          <p:cNvSpPr txBox="1"/>
          <p:nvPr/>
        </p:nvSpPr>
        <p:spPr>
          <a:xfrm>
            <a:off x="9448949" y="1990279"/>
            <a:ext cx="4030266" cy="416421"/>
          </a:xfrm>
          <a:prstGeom prst="rect">
            <a:avLst/>
          </a:prstGeom>
        </p:spPr>
        <p:txBody>
          <a:bodyPr lIns="0" tIns="0" rIns="0" bIns="0" rtlCol="0" anchor="t">
            <a:spAutoFit/>
          </a:bodyPr>
          <a:lstStyle/>
          <a:p>
            <a:pPr algn="l">
              <a:lnSpc>
                <a:spcPts val="2937"/>
              </a:lnSpc>
            </a:pPr>
            <a:r>
              <a:rPr lang="en-US" sz="2375" b="1">
                <a:solidFill>
                  <a:srgbClr val="000000"/>
                </a:solidFill>
                <a:latin typeface="Poppins Bold"/>
                <a:ea typeface="Poppins Bold"/>
                <a:cs typeface="Poppins Bold"/>
                <a:sym typeface="Poppins Bold"/>
              </a:rPr>
              <a:t>Data Cleaning Performed:</a:t>
            </a:r>
          </a:p>
        </p:txBody>
      </p:sp>
      <p:sp>
        <p:nvSpPr>
          <p:cNvPr id="22" name="TextBox 22"/>
          <p:cNvSpPr txBox="1"/>
          <p:nvPr/>
        </p:nvSpPr>
        <p:spPr>
          <a:xfrm>
            <a:off x="9448949" y="2553593"/>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Removed duplicates based on App name</a:t>
            </a:r>
          </a:p>
        </p:txBody>
      </p:sp>
      <p:sp>
        <p:nvSpPr>
          <p:cNvPr id="23" name="TextBox 23"/>
          <p:cNvSpPr txBox="1"/>
          <p:nvPr/>
        </p:nvSpPr>
        <p:spPr>
          <a:xfrm>
            <a:off x="9448949" y="3025676"/>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Fixed formatting issues in Price and Installs</a:t>
            </a:r>
          </a:p>
        </p:txBody>
      </p:sp>
      <p:sp>
        <p:nvSpPr>
          <p:cNvPr id="24" name="TextBox 24"/>
          <p:cNvSpPr txBox="1"/>
          <p:nvPr/>
        </p:nvSpPr>
        <p:spPr>
          <a:xfrm>
            <a:off x="9448949" y="3497759"/>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Replaced "NaN" and blank values in Rating</a:t>
            </a:r>
          </a:p>
        </p:txBody>
      </p:sp>
      <p:sp>
        <p:nvSpPr>
          <p:cNvPr id="25" name="TextBox 25"/>
          <p:cNvSpPr txBox="1"/>
          <p:nvPr/>
        </p:nvSpPr>
        <p:spPr>
          <a:xfrm>
            <a:off x="9448949" y="3969841"/>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Transformed columns into proper data types</a:t>
            </a:r>
          </a:p>
        </p:txBody>
      </p:sp>
      <p:sp>
        <p:nvSpPr>
          <p:cNvPr id="26" name="TextBox 26"/>
          <p:cNvSpPr txBox="1"/>
          <p:nvPr/>
        </p:nvSpPr>
        <p:spPr>
          <a:xfrm>
            <a:off x="9448949" y="4441924"/>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Removed errors in Power Query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sp>
        <p:nvSpPr>
          <p:cNvPr id="6" name="TextBox 6"/>
          <p:cNvSpPr txBox="1"/>
          <p:nvPr/>
        </p:nvSpPr>
        <p:spPr>
          <a:xfrm>
            <a:off x="992238" y="1876574"/>
            <a:ext cx="7088237" cy="962174"/>
          </a:xfrm>
          <a:prstGeom prst="rect">
            <a:avLst/>
          </a:prstGeom>
        </p:spPr>
        <p:txBody>
          <a:bodyPr lIns="0" tIns="0" rIns="0" bIns="0" rtlCol="0" anchor="t">
            <a:spAutoFit/>
          </a:bodyPr>
          <a:lstStyle/>
          <a:p>
            <a:pPr algn="l">
              <a:lnSpc>
                <a:spcPts val="6937"/>
              </a:lnSpc>
            </a:pPr>
            <a:r>
              <a:rPr lang="en-US" sz="5562" b="1">
                <a:solidFill>
                  <a:srgbClr val="000000"/>
                </a:solidFill>
                <a:latin typeface="Poppins Bold"/>
                <a:ea typeface="Poppins Bold"/>
                <a:cs typeface="Poppins Bold"/>
                <a:sym typeface="Poppins Bold"/>
              </a:rPr>
              <a:t>Target Audience</a:t>
            </a:r>
          </a:p>
        </p:txBody>
      </p:sp>
      <p:sp>
        <p:nvSpPr>
          <p:cNvPr id="7" name="TextBox 7"/>
          <p:cNvSpPr txBox="1"/>
          <p:nvPr/>
        </p:nvSpPr>
        <p:spPr>
          <a:xfrm>
            <a:off x="992238" y="3262907"/>
            <a:ext cx="16303526" cy="709761"/>
          </a:xfrm>
          <a:prstGeom prst="rect">
            <a:avLst/>
          </a:prstGeom>
        </p:spPr>
        <p:txBody>
          <a:bodyPr lIns="0" tIns="0" rIns="0" bIns="0" rtlCol="0" anchor="t">
            <a:spAutoFit/>
          </a:bodyPr>
          <a:lstStyle/>
          <a:p>
            <a:pPr algn="l">
              <a:lnSpc>
                <a:spcPts val="4437"/>
              </a:lnSpc>
            </a:pPr>
            <a:r>
              <a:rPr lang="en-US" sz="2750">
                <a:solidFill>
                  <a:srgbClr val="1F4E79"/>
                </a:solidFill>
                <a:latin typeface="Poppins"/>
                <a:ea typeface="Poppins"/>
                <a:cs typeface="Poppins"/>
                <a:sym typeface="Poppins"/>
              </a:rPr>
              <a:t>This dashboard is designed for:</a:t>
            </a:r>
          </a:p>
        </p:txBody>
      </p:sp>
      <p:grpSp>
        <p:nvGrpSpPr>
          <p:cNvPr id="8" name="Group 8"/>
          <p:cNvGrpSpPr/>
          <p:nvPr/>
        </p:nvGrpSpPr>
        <p:grpSpPr>
          <a:xfrm>
            <a:off x="987475" y="4286845"/>
            <a:ext cx="5254973" cy="2115890"/>
            <a:chOff x="0" y="0"/>
            <a:chExt cx="7006630" cy="2821187"/>
          </a:xfrm>
        </p:grpSpPr>
        <p:sp>
          <p:nvSpPr>
            <p:cNvPr id="9" name="Freeform 9"/>
            <p:cNvSpPr/>
            <p:nvPr/>
          </p:nvSpPr>
          <p:spPr>
            <a:xfrm>
              <a:off x="6350" y="6350"/>
              <a:ext cx="6993890" cy="2808478"/>
            </a:xfrm>
            <a:custGeom>
              <a:avLst/>
              <a:gdLst/>
              <a:ahLst/>
              <a:cxnLst/>
              <a:rect l="l" t="t" r="r" b="b"/>
              <a:pathLst>
                <a:path w="6993890" h="2808478">
                  <a:moveTo>
                    <a:pt x="0" y="158750"/>
                  </a:moveTo>
                  <a:cubicBezTo>
                    <a:pt x="0" y="71120"/>
                    <a:pt x="71247" y="0"/>
                    <a:pt x="159258" y="0"/>
                  </a:cubicBezTo>
                  <a:lnTo>
                    <a:pt x="6834759" y="0"/>
                  </a:lnTo>
                  <a:cubicBezTo>
                    <a:pt x="6922643" y="0"/>
                    <a:pt x="6993890" y="71120"/>
                    <a:pt x="6993890" y="158750"/>
                  </a:cubicBezTo>
                  <a:lnTo>
                    <a:pt x="6993890" y="2649728"/>
                  </a:lnTo>
                  <a:cubicBezTo>
                    <a:pt x="6993890" y="2737485"/>
                    <a:pt x="6922643" y="2808478"/>
                    <a:pt x="6834632" y="2808478"/>
                  </a:cubicBezTo>
                  <a:lnTo>
                    <a:pt x="159258" y="2808478"/>
                  </a:lnTo>
                  <a:cubicBezTo>
                    <a:pt x="71374" y="2808478"/>
                    <a:pt x="0" y="2737358"/>
                    <a:pt x="0" y="2649728"/>
                  </a:cubicBezTo>
                  <a:close/>
                </a:path>
              </a:pathLst>
            </a:custGeom>
            <a:solidFill>
              <a:srgbClr val="E1F2D9"/>
            </a:solidFill>
          </p:spPr>
        </p:sp>
        <p:sp>
          <p:nvSpPr>
            <p:cNvPr id="10" name="Freeform 10"/>
            <p:cNvSpPr/>
            <p:nvPr/>
          </p:nvSpPr>
          <p:spPr>
            <a:xfrm>
              <a:off x="0" y="0"/>
              <a:ext cx="7006717" cy="2821178"/>
            </a:xfrm>
            <a:custGeom>
              <a:avLst/>
              <a:gdLst/>
              <a:ahLst/>
              <a:cxnLst/>
              <a:rect l="l" t="t" r="r" b="b"/>
              <a:pathLst>
                <a:path w="7006717" h="2821178">
                  <a:moveTo>
                    <a:pt x="0" y="165100"/>
                  </a:moveTo>
                  <a:cubicBezTo>
                    <a:pt x="0" y="73914"/>
                    <a:pt x="74168" y="0"/>
                    <a:pt x="165608" y="0"/>
                  </a:cubicBezTo>
                  <a:lnTo>
                    <a:pt x="6841109" y="0"/>
                  </a:lnTo>
                  <a:lnTo>
                    <a:pt x="6841109" y="6350"/>
                  </a:lnTo>
                  <a:lnTo>
                    <a:pt x="6841109" y="0"/>
                  </a:lnTo>
                  <a:cubicBezTo>
                    <a:pt x="6932549" y="0"/>
                    <a:pt x="7006717" y="73914"/>
                    <a:pt x="7006717" y="165100"/>
                  </a:cubicBezTo>
                  <a:lnTo>
                    <a:pt x="7000367" y="165100"/>
                  </a:lnTo>
                  <a:lnTo>
                    <a:pt x="7006717" y="165100"/>
                  </a:lnTo>
                  <a:lnTo>
                    <a:pt x="7006717" y="2656078"/>
                  </a:lnTo>
                  <a:lnTo>
                    <a:pt x="7000367" y="2656078"/>
                  </a:lnTo>
                  <a:lnTo>
                    <a:pt x="7006717" y="2656078"/>
                  </a:lnTo>
                  <a:cubicBezTo>
                    <a:pt x="7006717" y="2747264"/>
                    <a:pt x="6932549" y="2821178"/>
                    <a:pt x="6841109" y="2821178"/>
                  </a:cubicBezTo>
                  <a:lnTo>
                    <a:pt x="6841109" y="2814828"/>
                  </a:lnTo>
                  <a:lnTo>
                    <a:pt x="6841109" y="2821178"/>
                  </a:lnTo>
                  <a:lnTo>
                    <a:pt x="165608" y="2821178"/>
                  </a:lnTo>
                  <a:lnTo>
                    <a:pt x="165608" y="2814828"/>
                  </a:lnTo>
                  <a:lnTo>
                    <a:pt x="165608" y="2821178"/>
                  </a:lnTo>
                  <a:cubicBezTo>
                    <a:pt x="74168" y="2821178"/>
                    <a:pt x="0" y="2747264"/>
                    <a:pt x="0" y="2656078"/>
                  </a:cubicBezTo>
                  <a:lnTo>
                    <a:pt x="0" y="165100"/>
                  </a:lnTo>
                  <a:lnTo>
                    <a:pt x="6350" y="165100"/>
                  </a:lnTo>
                  <a:lnTo>
                    <a:pt x="0" y="165100"/>
                  </a:lnTo>
                  <a:moveTo>
                    <a:pt x="12700" y="165100"/>
                  </a:moveTo>
                  <a:lnTo>
                    <a:pt x="12700" y="2656078"/>
                  </a:lnTo>
                  <a:lnTo>
                    <a:pt x="6350" y="2656078"/>
                  </a:lnTo>
                  <a:lnTo>
                    <a:pt x="12700" y="2656078"/>
                  </a:lnTo>
                  <a:cubicBezTo>
                    <a:pt x="12700" y="2740279"/>
                    <a:pt x="81153" y="2808478"/>
                    <a:pt x="165608" y="2808478"/>
                  </a:cubicBezTo>
                  <a:lnTo>
                    <a:pt x="6841109" y="2808478"/>
                  </a:lnTo>
                  <a:cubicBezTo>
                    <a:pt x="6925564" y="2808478"/>
                    <a:pt x="6994017" y="2740152"/>
                    <a:pt x="6994017" y="2656078"/>
                  </a:cubicBezTo>
                  <a:lnTo>
                    <a:pt x="6994017" y="165100"/>
                  </a:lnTo>
                  <a:cubicBezTo>
                    <a:pt x="6994017" y="80899"/>
                    <a:pt x="6925564" y="12700"/>
                    <a:pt x="6841109" y="12700"/>
                  </a:cubicBezTo>
                  <a:lnTo>
                    <a:pt x="165608" y="12700"/>
                  </a:lnTo>
                  <a:lnTo>
                    <a:pt x="165608" y="6350"/>
                  </a:lnTo>
                  <a:lnTo>
                    <a:pt x="165608" y="12700"/>
                  </a:lnTo>
                  <a:cubicBezTo>
                    <a:pt x="81153" y="12700"/>
                    <a:pt x="12700" y="81026"/>
                    <a:pt x="12700" y="165100"/>
                  </a:cubicBezTo>
                  <a:close/>
                </a:path>
              </a:pathLst>
            </a:custGeom>
            <a:solidFill>
              <a:srgbClr val="C7D8BF"/>
            </a:solidFill>
          </p:spPr>
        </p:sp>
      </p:grpSp>
      <p:sp>
        <p:nvSpPr>
          <p:cNvPr id="11" name="TextBox 11"/>
          <p:cNvSpPr txBox="1"/>
          <p:nvPr/>
        </p:nvSpPr>
        <p:spPr>
          <a:xfrm>
            <a:off x="1285280" y="4537025"/>
            <a:ext cx="3544044" cy="490537"/>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Product Managers</a:t>
            </a:r>
          </a:p>
        </p:txBody>
      </p:sp>
      <p:sp>
        <p:nvSpPr>
          <p:cNvPr id="12" name="TextBox 12"/>
          <p:cNvSpPr txBox="1"/>
          <p:nvPr/>
        </p:nvSpPr>
        <p:spPr>
          <a:xfrm>
            <a:off x="1285280" y="5083374"/>
            <a:ext cx="4659362" cy="1021556"/>
          </a:xfrm>
          <a:prstGeom prst="rect">
            <a:avLst/>
          </a:prstGeom>
        </p:spPr>
        <p:txBody>
          <a:bodyPr lIns="0" tIns="0" rIns="0" bIns="0" rtlCol="0" anchor="t">
            <a:spAutoFit/>
          </a:bodyPr>
          <a:lstStyle/>
          <a:p>
            <a:pPr algn="l">
              <a:lnSpc>
                <a:spcPts val="3562"/>
              </a:lnSpc>
            </a:pPr>
            <a:r>
              <a:rPr lang="en-US" sz="2187">
                <a:solidFill>
                  <a:srgbClr val="1F4E79"/>
                </a:solidFill>
                <a:latin typeface="Poppins"/>
                <a:ea typeface="Poppins"/>
                <a:cs typeface="Poppins"/>
                <a:sym typeface="Poppins"/>
              </a:rPr>
              <a:t>to track competitor performance</a:t>
            </a:r>
          </a:p>
        </p:txBody>
      </p:sp>
      <p:grpSp>
        <p:nvGrpSpPr>
          <p:cNvPr id="13" name="Group 13"/>
          <p:cNvGrpSpPr/>
          <p:nvPr/>
        </p:nvGrpSpPr>
        <p:grpSpPr>
          <a:xfrm>
            <a:off x="6516440" y="4286845"/>
            <a:ext cx="5254973" cy="2115890"/>
            <a:chOff x="0" y="0"/>
            <a:chExt cx="7006630" cy="2821187"/>
          </a:xfrm>
        </p:grpSpPr>
        <p:sp>
          <p:nvSpPr>
            <p:cNvPr id="14" name="Freeform 14"/>
            <p:cNvSpPr/>
            <p:nvPr/>
          </p:nvSpPr>
          <p:spPr>
            <a:xfrm>
              <a:off x="6350" y="6350"/>
              <a:ext cx="6993890" cy="2808478"/>
            </a:xfrm>
            <a:custGeom>
              <a:avLst/>
              <a:gdLst/>
              <a:ahLst/>
              <a:cxnLst/>
              <a:rect l="l" t="t" r="r" b="b"/>
              <a:pathLst>
                <a:path w="6993890" h="2808478">
                  <a:moveTo>
                    <a:pt x="0" y="158750"/>
                  </a:moveTo>
                  <a:cubicBezTo>
                    <a:pt x="0" y="71120"/>
                    <a:pt x="71247" y="0"/>
                    <a:pt x="159258" y="0"/>
                  </a:cubicBezTo>
                  <a:lnTo>
                    <a:pt x="6834759" y="0"/>
                  </a:lnTo>
                  <a:cubicBezTo>
                    <a:pt x="6922643" y="0"/>
                    <a:pt x="6993890" y="71120"/>
                    <a:pt x="6993890" y="158750"/>
                  </a:cubicBezTo>
                  <a:lnTo>
                    <a:pt x="6993890" y="2649728"/>
                  </a:lnTo>
                  <a:cubicBezTo>
                    <a:pt x="6993890" y="2737485"/>
                    <a:pt x="6922643" y="2808478"/>
                    <a:pt x="6834632" y="2808478"/>
                  </a:cubicBezTo>
                  <a:lnTo>
                    <a:pt x="159258" y="2808478"/>
                  </a:lnTo>
                  <a:cubicBezTo>
                    <a:pt x="71374" y="2808478"/>
                    <a:pt x="0" y="2737358"/>
                    <a:pt x="0" y="2649728"/>
                  </a:cubicBezTo>
                  <a:close/>
                </a:path>
              </a:pathLst>
            </a:custGeom>
            <a:solidFill>
              <a:srgbClr val="E1F2D9"/>
            </a:solidFill>
          </p:spPr>
        </p:sp>
        <p:sp>
          <p:nvSpPr>
            <p:cNvPr id="15" name="Freeform 15"/>
            <p:cNvSpPr/>
            <p:nvPr/>
          </p:nvSpPr>
          <p:spPr>
            <a:xfrm>
              <a:off x="0" y="0"/>
              <a:ext cx="7006717" cy="2821178"/>
            </a:xfrm>
            <a:custGeom>
              <a:avLst/>
              <a:gdLst/>
              <a:ahLst/>
              <a:cxnLst/>
              <a:rect l="l" t="t" r="r" b="b"/>
              <a:pathLst>
                <a:path w="7006717" h="2821178">
                  <a:moveTo>
                    <a:pt x="0" y="165100"/>
                  </a:moveTo>
                  <a:cubicBezTo>
                    <a:pt x="0" y="73914"/>
                    <a:pt x="74168" y="0"/>
                    <a:pt x="165608" y="0"/>
                  </a:cubicBezTo>
                  <a:lnTo>
                    <a:pt x="6841109" y="0"/>
                  </a:lnTo>
                  <a:lnTo>
                    <a:pt x="6841109" y="6350"/>
                  </a:lnTo>
                  <a:lnTo>
                    <a:pt x="6841109" y="0"/>
                  </a:lnTo>
                  <a:cubicBezTo>
                    <a:pt x="6932549" y="0"/>
                    <a:pt x="7006717" y="73914"/>
                    <a:pt x="7006717" y="165100"/>
                  </a:cubicBezTo>
                  <a:lnTo>
                    <a:pt x="7000367" y="165100"/>
                  </a:lnTo>
                  <a:lnTo>
                    <a:pt x="7006717" y="165100"/>
                  </a:lnTo>
                  <a:lnTo>
                    <a:pt x="7006717" y="2656078"/>
                  </a:lnTo>
                  <a:lnTo>
                    <a:pt x="7000367" y="2656078"/>
                  </a:lnTo>
                  <a:lnTo>
                    <a:pt x="7006717" y="2656078"/>
                  </a:lnTo>
                  <a:cubicBezTo>
                    <a:pt x="7006717" y="2747264"/>
                    <a:pt x="6932549" y="2821178"/>
                    <a:pt x="6841109" y="2821178"/>
                  </a:cubicBezTo>
                  <a:lnTo>
                    <a:pt x="6841109" y="2814828"/>
                  </a:lnTo>
                  <a:lnTo>
                    <a:pt x="6841109" y="2821178"/>
                  </a:lnTo>
                  <a:lnTo>
                    <a:pt x="165608" y="2821178"/>
                  </a:lnTo>
                  <a:lnTo>
                    <a:pt x="165608" y="2814828"/>
                  </a:lnTo>
                  <a:lnTo>
                    <a:pt x="165608" y="2821178"/>
                  </a:lnTo>
                  <a:cubicBezTo>
                    <a:pt x="74168" y="2821178"/>
                    <a:pt x="0" y="2747264"/>
                    <a:pt x="0" y="2656078"/>
                  </a:cubicBezTo>
                  <a:lnTo>
                    <a:pt x="0" y="165100"/>
                  </a:lnTo>
                  <a:lnTo>
                    <a:pt x="6350" y="165100"/>
                  </a:lnTo>
                  <a:lnTo>
                    <a:pt x="0" y="165100"/>
                  </a:lnTo>
                  <a:moveTo>
                    <a:pt x="12700" y="165100"/>
                  </a:moveTo>
                  <a:lnTo>
                    <a:pt x="12700" y="2656078"/>
                  </a:lnTo>
                  <a:lnTo>
                    <a:pt x="6350" y="2656078"/>
                  </a:lnTo>
                  <a:lnTo>
                    <a:pt x="12700" y="2656078"/>
                  </a:lnTo>
                  <a:cubicBezTo>
                    <a:pt x="12700" y="2740279"/>
                    <a:pt x="81153" y="2808478"/>
                    <a:pt x="165608" y="2808478"/>
                  </a:cubicBezTo>
                  <a:lnTo>
                    <a:pt x="6841109" y="2808478"/>
                  </a:lnTo>
                  <a:cubicBezTo>
                    <a:pt x="6925564" y="2808478"/>
                    <a:pt x="6994017" y="2740152"/>
                    <a:pt x="6994017" y="2656078"/>
                  </a:cubicBezTo>
                  <a:lnTo>
                    <a:pt x="6994017" y="165100"/>
                  </a:lnTo>
                  <a:cubicBezTo>
                    <a:pt x="6994017" y="80899"/>
                    <a:pt x="6925564" y="12700"/>
                    <a:pt x="6841109" y="12700"/>
                  </a:cubicBezTo>
                  <a:lnTo>
                    <a:pt x="165608" y="12700"/>
                  </a:lnTo>
                  <a:lnTo>
                    <a:pt x="165608" y="6350"/>
                  </a:lnTo>
                  <a:lnTo>
                    <a:pt x="165608" y="12700"/>
                  </a:lnTo>
                  <a:cubicBezTo>
                    <a:pt x="81153" y="12700"/>
                    <a:pt x="12700" y="81026"/>
                    <a:pt x="12700" y="165100"/>
                  </a:cubicBezTo>
                  <a:close/>
                </a:path>
              </a:pathLst>
            </a:custGeom>
            <a:solidFill>
              <a:srgbClr val="C7D8BF"/>
            </a:solidFill>
          </p:spPr>
        </p:sp>
      </p:grpSp>
      <p:sp>
        <p:nvSpPr>
          <p:cNvPr id="16" name="TextBox 16"/>
          <p:cNvSpPr txBox="1"/>
          <p:nvPr/>
        </p:nvSpPr>
        <p:spPr>
          <a:xfrm>
            <a:off x="6814245" y="4537025"/>
            <a:ext cx="3544044" cy="490537"/>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App Developers</a:t>
            </a:r>
          </a:p>
        </p:txBody>
      </p:sp>
      <p:sp>
        <p:nvSpPr>
          <p:cNvPr id="17" name="TextBox 17"/>
          <p:cNvSpPr txBox="1"/>
          <p:nvPr/>
        </p:nvSpPr>
        <p:spPr>
          <a:xfrm>
            <a:off x="6814245" y="5083374"/>
            <a:ext cx="4659362" cy="1021556"/>
          </a:xfrm>
          <a:prstGeom prst="rect">
            <a:avLst/>
          </a:prstGeom>
        </p:spPr>
        <p:txBody>
          <a:bodyPr lIns="0" tIns="0" rIns="0" bIns="0" rtlCol="0" anchor="t">
            <a:spAutoFit/>
          </a:bodyPr>
          <a:lstStyle/>
          <a:p>
            <a:pPr algn="l">
              <a:lnSpc>
                <a:spcPts val="3562"/>
              </a:lnSpc>
            </a:pPr>
            <a:r>
              <a:rPr lang="en-US" sz="2187">
                <a:solidFill>
                  <a:srgbClr val="1F4E79"/>
                </a:solidFill>
                <a:latin typeface="Poppins"/>
                <a:ea typeface="Poppins"/>
                <a:cs typeface="Poppins"/>
                <a:sym typeface="Poppins"/>
              </a:rPr>
              <a:t>to understand trends &amp; user expectations</a:t>
            </a:r>
          </a:p>
        </p:txBody>
      </p:sp>
      <p:grpSp>
        <p:nvGrpSpPr>
          <p:cNvPr id="18" name="Group 18"/>
          <p:cNvGrpSpPr/>
          <p:nvPr/>
        </p:nvGrpSpPr>
        <p:grpSpPr>
          <a:xfrm>
            <a:off x="12045404" y="4286845"/>
            <a:ext cx="5254973" cy="2115890"/>
            <a:chOff x="0" y="0"/>
            <a:chExt cx="7006630" cy="2821187"/>
          </a:xfrm>
        </p:grpSpPr>
        <p:sp>
          <p:nvSpPr>
            <p:cNvPr id="19" name="Freeform 19"/>
            <p:cNvSpPr/>
            <p:nvPr/>
          </p:nvSpPr>
          <p:spPr>
            <a:xfrm>
              <a:off x="6350" y="6350"/>
              <a:ext cx="6993890" cy="2808478"/>
            </a:xfrm>
            <a:custGeom>
              <a:avLst/>
              <a:gdLst/>
              <a:ahLst/>
              <a:cxnLst/>
              <a:rect l="l" t="t" r="r" b="b"/>
              <a:pathLst>
                <a:path w="6993890" h="2808478">
                  <a:moveTo>
                    <a:pt x="0" y="158750"/>
                  </a:moveTo>
                  <a:cubicBezTo>
                    <a:pt x="0" y="71120"/>
                    <a:pt x="71247" y="0"/>
                    <a:pt x="159258" y="0"/>
                  </a:cubicBezTo>
                  <a:lnTo>
                    <a:pt x="6834759" y="0"/>
                  </a:lnTo>
                  <a:cubicBezTo>
                    <a:pt x="6922643" y="0"/>
                    <a:pt x="6993890" y="71120"/>
                    <a:pt x="6993890" y="158750"/>
                  </a:cubicBezTo>
                  <a:lnTo>
                    <a:pt x="6993890" y="2649728"/>
                  </a:lnTo>
                  <a:cubicBezTo>
                    <a:pt x="6993890" y="2737485"/>
                    <a:pt x="6922643" y="2808478"/>
                    <a:pt x="6834632" y="2808478"/>
                  </a:cubicBezTo>
                  <a:lnTo>
                    <a:pt x="159258" y="2808478"/>
                  </a:lnTo>
                  <a:cubicBezTo>
                    <a:pt x="71374" y="2808478"/>
                    <a:pt x="0" y="2737358"/>
                    <a:pt x="0" y="2649728"/>
                  </a:cubicBezTo>
                  <a:close/>
                </a:path>
              </a:pathLst>
            </a:custGeom>
            <a:solidFill>
              <a:srgbClr val="E1F2D9"/>
            </a:solidFill>
          </p:spPr>
        </p:sp>
        <p:sp>
          <p:nvSpPr>
            <p:cNvPr id="20" name="Freeform 20"/>
            <p:cNvSpPr/>
            <p:nvPr/>
          </p:nvSpPr>
          <p:spPr>
            <a:xfrm>
              <a:off x="0" y="0"/>
              <a:ext cx="7006717" cy="2821178"/>
            </a:xfrm>
            <a:custGeom>
              <a:avLst/>
              <a:gdLst/>
              <a:ahLst/>
              <a:cxnLst/>
              <a:rect l="l" t="t" r="r" b="b"/>
              <a:pathLst>
                <a:path w="7006717" h="2821178">
                  <a:moveTo>
                    <a:pt x="0" y="165100"/>
                  </a:moveTo>
                  <a:cubicBezTo>
                    <a:pt x="0" y="73914"/>
                    <a:pt x="74168" y="0"/>
                    <a:pt x="165608" y="0"/>
                  </a:cubicBezTo>
                  <a:lnTo>
                    <a:pt x="6841109" y="0"/>
                  </a:lnTo>
                  <a:lnTo>
                    <a:pt x="6841109" y="6350"/>
                  </a:lnTo>
                  <a:lnTo>
                    <a:pt x="6841109" y="0"/>
                  </a:lnTo>
                  <a:cubicBezTo>
                    <a:pt x="6932549" y="0"/>
                    <a:pt x="7006717" y="73914"/>
                    <a:pt x="7006717" y="165100"/>
                  </a:cubicBezTo>
                  <a:lnTo>
                    <a:pt x="7000367" y="165100"/>
                  </a:lnTo>
                  <a:lnTo>
                    <a:pt x="7006717" y="165100"/>
                  </a:lnTo>
                  <a:lnTo>
                    <a:pt x="7006717" y="2656078"/>
                  </a:lnTo>
                  <a:lnTo>
                    <a:pt x="7000367" y="2656078"/>
                  </a:lnTo>
                  <a:lnTo>
                    <a:pt x="7006717" y="2656078"/>
                  </a:lnTo>
                  <a:cubicBezTo>
                    <a:pt x="7006717" y="2747264"/>
                    <a:pt x="6932549" y="2821178"/>
                    <a:pt x="6841109" y="2821178"/>
                  </a:cubicBezTo>
                  <a:lnTo>
                    <a:pt x="6841109" y="2814828"/>
                  </a:lnTo>
                  <a:lnTo>
                    <a:pt x="6841109" y="2821178"/>
                  </a:lnTo>
                  <a:lnTo>
                    <a:pt x="165608" y="2821178"/>
                  </a:lnTo>
                  <a:lnTo>
                    <a:pt x="165608" y="2814828"/>
                  </a:lnTo>
                  <a:lnTo>
                    <a:pt x="165608" y="2821178"/>
                  </a:lnTo>
                  <a:cubicBezTo>
                    <a:pt x="74168" y="2821178"/>
                    <a:pt x="0" y="2747264"/>
                    <a:pt x="0" y="2656078"/>
                  </a:cubicBezTo>
                  <a:lnTo>
                    <a:pt x="0" y="165100"/>
                  </a:lnTo>
                  <a:lnTo>
                    <a:pt x="6350" y="165100"/>
                  </a:lnTo>
                  <a:lnTo>
                    <a:pt x="0" y="165100"/>
                  </a:lnTo>
                  <a:moveTo>
                    <a:pt x="12700" y="165100"/>
                  </a:moveTo>
                  <a:lnTo>
                    <a:pt x="12700" y="2656078"/>
                  </a:lnTo>
                  <a:lnTo>
                    <a:pt x="6350" y="2656078"/>
                  </a:lnTo>
                  <a:lnTo>
                    <a:pt x="12700" y="2656078"/>
                  </a:lnTo>
                  <a:cubicBezTo>
                    <a:pt x="12700" y="2740279"/>
                    <a:pt x="81153" y="2808478"/>
                    <a:pt x="165608" y="2808478"/>
                  </a:cubicBezTo>
                  <a:lnTo>
                    <a:pt x="6841109" y="2808478"/>
                  </a:lnTo>
                  <a:cubicBezTo>
                    <a:pt x="6925564" y="2808478"/>
                    <a:pt x="6994017" y="2740152"/>
                    <a:pt x="6994017" y="2656078"/>
                  </a:cubicBezTo>
                  <a:lnTo>
                    <a:pt x="6994017" y="165100"/>
                  </a:lnTo>
                  <a:cubicBezTo>
                    <a:pt x="6994017" y="80899"/>
                    <a:pt x="6925564" y="12700"/>
                    <a:pt x="6841109" y="12700"/>
                  </a:cubicBezTo>
                  <a:lnTo>
                    <a:pt x="165608" y="12700"/>
                  </a:lnTo>
                  <a:lnTo>
                    <a:pt x="165608" y="6350"/>
                  </a:lnTo>
                  <a:lnTo>
                    <a:pt x="165608" y="12700"/>
                  </a:lnTo>
                  <a:cubicBezTo>
                    <a:pt x="81153" y="12700"/>
                    <a:pt x="12700" y="81026"/>
                    <a:pt x="12700" y="165100"/>
                  </a:cubicBezTo>
                  <a:close/>
                </a:path>
              </a:pathLst>
            </a:custGeom>
            <a:solidFill>
              <a:srgbClr val="C7D8BF"/>
            </a:solidFill>
          </p:spPr>
        </p:sp>
      </p:grpSp>
      <p:sp>
        <p:nvSpPr>
          <p:cNvPr id="21" name="TextBox 21"/>
          <p:cNvSpPr txBox="1"/>
          <p:nvPr/>
        </p:nvSpPr>
        <p:spPr>
          <a:xfrm>
            <a:off x="12343210" y="4537025"/>
            <a:ext cx="3544044" cy="490537"/>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Marketing Teams</a:t>
            </a:r>
          </a:p>
        </p:txBody>
      </p:sp>
      <p:sp>
        <p:nvSpPr>
          <p:cNvPr id="22" name="TextBox 22"/>
          <p:cNvSpPr txBox="1"/>
          <p:nvPr/>
        </p:nvSpPr>
        <p:spPr>
          <a:xfrm>
            <a:off x="12343210" y="5083374"/>
            <a:ext cx="4659362" cy="1021556"/>
          </a:xfrm>
          <a:prstGeom prst="rect">
            <a:avLst/>
          </a:prstGeom>
        </p:spPr>
        <p:txBody>
          <a:bodyPr lIns="0" tIns="0" rIns="0" bIns="0" rtlCol="0" anchor="t">
            <a:spAutoFit/>
          </a:bodyPr>
          <a:lstStyle/>
          <a:p>
            <a:pPr algn="l">
              <a:lnSpc>
                <a:spcPts val="3562"/>
              </a:lnSpc>
            </a:pPr>
            <a:r>
              <a:rPr lang="en-US" sz="2187">
                <a:solidFill>
                  <a:srgbClr val="1F4E79"/>
                </a:solidFill>
                <a:latin typeface="Poppins"/>
                <a:ea typeface="Poppins"/>
                <a:cs typeface="Poppins"/>
                <a:sym typeface="Poppins"/>
              </a:rPr>
              <a:t>to identify high-install categories</a:t>
            </a:r>
          </a:p>
        </p:txBody>
      </p:sp>
      <p:grpSp>
        <p:nvGrpSpPr>
          <p:cNvPr id="23" name="Group 23"/>
          <p:cNvGrpSpPr/>
          <p:nvPr/>
        </p:nvGrpSpPr>
        <p:grpSpPr>
          <a:xfrm>
            <a:off x="987475" y="6676727"/>
            <a:ext cx="8019455" cy="1662261"/>
            <a:chOff x="0" y="0"/>
            <a:chExt cx="10692607" cy="2216348"/>
          </a:xfrm>
        </p:grpSpPr>
        <p:sp>
          <p:nvSpPr>
            <p:cNvPr id="24" name="Freeform 24"/>
            <p:cNvSpPr/>
            <p:nvPr/>
          </p:nvSpPr>
          <p:spPr>
            <a:xfrm>
              <a:off x="6350" y="6350"/>
              <a:ext cx="10679938" cy="2203577"/>
            </a:xfrm>
            <a:custGeom>
              <a:avLst/>
              <a:gdLst/>
              <a:ahLst/>
              <a:cxnLst/>
              <a:rect l="l" t="t" r="r" b="b"/>
              <a:pathLst>
                <a:path w="10679938" h="2203577">
                  <a:moveTo>
                    <a:pt x="0" y="158750"/>
                  </a:moveTo>
                  <a:cubicBezTo>
                    <a:pt x="0" y="71120"/>
                    <a:pt x="71374" y="0"/>
                    <a:pt x="159512" y="0"/>
                  </a:cubicBezTo>
                  <a:lnTo>
                    <a:pt x="10520426" y="0"/>
                  </a:lnTo>
                  <a:cubicBezTo>
                    <a:pt x="10608564" y="0"/>
                    <a:pt x="10679938" y="71120"/>
                    <a:pt x="10679938" y="158750"/>
                  </a:cubicBezTo>
                  <a:lnTo>
                    <a:pt x="10679938" y="2044827"/>
                  </a:lnTo>
                  <a:cubicBezTo>
                    <a:pt x="10679938" y="2132457"/>
                    <a:pt x="10608564" y="2203577"/>
                    <a:pt x="10520426" y="2203577"/>
                  </a:cubicBezTo>
                  <a:lnTo>
                    <a:pt x="159512" y="2203577"/>
                  </a:lnTo>
                  <a:cubicBezTo>
                    <a:pt x="71374" y="2203577"/>
                    <a:pt x="0" y="2132457"/>
                    <a:pt x="0" y="2044827"/>
                  </a:cubicBezTo>
                  <a:close/>
                </a:path>
              </a:pathLst>
            </a:custGeom>
            <a:solidFill>
              <a:srgbClr val="E1F2D9"/>
            </a:solidFill>
          </p:spPr>
        </p:sp>
        <p:sp>
          <p:nvSpPr>
            <p:cNvPr id="25" name="Freeform 25"/>
            <p:cNvSpPr/>
            <p:nvPr/>
          </p:nvSpPr>
          <p:spPr>
            <a:xfrm>
              <a:off x="0" y="0"/>
              <a:ext cx="10692638" cy="2216277"/>
            </a:xfrm>
            <a:custGeom>
              <a:avLst/>
              <a:gdLst/>
              <a:ahLst/>
              <a:cxnLst/>
              <a:rect l="l" t="t" r="r" b="b"/>
              <a:pathLst>
                <a:path w="10692638" h="2216277">
                  <a:moveTo>
                    <a:pt x="0" y="165100"/>
                  </a:moveTo>
                  <a:cubicBezTo>
                    <a:pt x="0" y="73914"/>
                    <a:pt x="74295" y="0"/>
                    <a:pt x="165862" y="0"/>
                  </a:cubicBezTo>
                  <a:lnTo>
                    <a:pt x="10526776" y="0"/>
                  </a:lnTo>
                  <a:lnTo>
                    <a:pt x="10526776" y="6350"/>
                  </a:lnTo>
                  <a:lnTo>
                    <a:pt x="10526776" y="0"/>
                  </a:lnTo>
                  <a:cubicBezTo>
                    <a:pt x="10618343" y="0"/>
                    <a:pt x="10692638" y="73914"/>
                    <a:pt x="10692638" y="165100"/>
                  </a:cubicBezTo>
                  <a:lnTo>
                    <a:pt x="10686288" y="165100"/>
                  </a:lnTo>
                  <a:lnTo>
                    <a:pt x="10692638" y="165100"/>
                  </a:lnTo>
                  <a:lnTo>
                    <a:pt x="10692638" y="2051177"/>
                  </a:lnTo>
                  <a:lnTo>
                    <a:pt x="10686288" y="2051177"/>
                  </a:lnTo>
                  <a:lnTo>
                    <a:pt x="10692638" y="2051177"/>
                  </a:lnTo>
                  <a:cubicBezTo>
                    <a:pt x="10692638" y="2142363"/>
                    <a:pt x="10618343" y="2216277"/>
                    <a:pt x="10526776" y="2216277"/>
                  </a:cubicBezTo>
                  <a:lnTo>
                    <a:pt x="10526776" y="2209927"/>
                  </a:lnTo>
                  <a:lnTo>
                    <a:pt x="10526776" y="2216277"/>
                  </a:lnTo>
                  <a:lnTo>
                    <a:pt x="165862" y="2216277"/>
                  </a:lnTo>
                  <a:lnTo>
                    <a:pt x="165862" y="2209927"/>
                  </a:lnTo>
                  <a:lnTo>
                    <a:pt x="165862" y="2216277"/>
                  </a:lnTo>
                  <a:cubicBezTo>
                    <a:pt x="74295" y="2216277"/>
                    <a:pt x="0" y="2142363"/>
                    <a:pt x="0" y="2051177"/>
                  </a:cubicBezTo>
                  <a:lnTo>
                    <a:pt x="0" y="165100"/>
                  </a:lnTo>
                  <a:lnTo>
                    <a:pt x="6350" y="165100"/>
                  </a:lnTo>
                  <a:lnTo>
                    <a:pt x="0" y="165100"/>
                  </a:lnTo>
                  <a:moveTo>
                    <a:pt x="12700" y="165100"/>
                  </a:moveTo>
                  <a:lnTo>
                    <a:pt x="12700" y="2051177"/>
                  </a:lnTo>
                  <a:lnTo>
                    <a:pt x="6350" y="2051177"/>
                  </a:lnTo>
                  <a:lnTo>
                    <a:pt x="12700" y="2051177"/>
                  </a:lnTo>
                  <a:cubicBezTo>
                    <a:pt x="12700" y="2135378"/>
                    <a:pt x="81280" y="2203577"/>
                    <a:pt x="165862" y="2203577"/>
                  </a:cubicBezTo>
                  <a:lnTo>
                    <a:pt x="10526776" y="2203577"/>
                  </a:lnTo>
                  <a:cubicBezTo>
                    <a:pt x="10611358" y="2203577"/>
                    <a:pt x="10679938" y="2135251"/>
                    <a:pt x="10679938" y="2051177"/>
                  </a:cubicBezTo>
                  <a:lnTo>
                    <a:pt x="10679938" y="165100"/>
                  </a:lnTo>
                  <a:cubicBezTo>
                    <a:pt x="10679938" y="80899"/>
                    <a:pt x="10611358" y="12700"/>
                    <a:pt x="10526776" y="12700"/>
                  </a:cubicBezTo>
                  <a:lnTo>
                    <a:pt x="165862" y="12700"/>
                  </a:lnTo>
                  <a:lnTo>
                    <a:pt x="165862" y="6350"/>
                  </a:lnTo>
                  <a:lnTo>
                    <a:pt x="165862" y="12700"/>
                  </a:lnTo>
                  <a:cubicBezTo>
                    <a:pt x="81280" y="12700"/>
                    <a:pt x="12700" y="81026"/>
                    <a:pt x="12700" y="165100"/>
                  </a:cubicBezTo>
                  <a:close/>
                </a:path>
              </a:pathLst>
            </a:custGeom>
            <a:solidFill>
              <a:srgbClr val="C7D8BF"/>
            </a:solidFill>
          </p:spPr>
        </p:sp>
      </p:grpSp>
      <p:sp>
        <p:nvSpPr>
          <p:cNvPr id="26" name="TextBox 26"/>
          <p:cNvSpPr txBox="1"/>
          <p:nvPr/>
        </p:nvSpPr>
        <p:spPr>
          <a:xfrm>
            <a:off x="1285280" y="6926907"/>
            <a:ext cx="3544044" cy="490537"/>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Business Leaders</a:t>
            </a:r>
          </a:p>
        </p:txBody>
      </p:sp>
      <p:sp>
        <p:nvSpPr>
          <p:cNvPr id="27" name="TextBox 27"/>
          <p:cNvSpPr txBox="1"/>
          <p:nvPr/>
        </p:nvSpPr>
        <p:spPr>
          <a:xfrm>
            <a:off x="1285280" y="7473255"/>
            <a:ext cx="7423845" cy="567929"/>
          </a:xfrm>
          <a:prstGeom prst="rect">
            <a:avLst/>
          </a:prstGeom>
        </p:spPr>
        <p:txBody>
          <a:bodyPr lIns="0" tIns="0" rIns="0" bIns="0" rtlCol="0" anchor="t">
            <a:spAutoFit/>
          </a:bodyPr>
          <a:lstStyle/>
          <a:p>
            <a:pPr algn="l">
              <a:lnSpc>
                <a:spcPts val="3562"/>
              </a:lnSpc>
            </a:pPr>
            <a:r>
              <a:rPr lang="en-US" sz="2187">
                <a:solidFill>
                  <a:srgbClr val="1F4E79"/>
                </a:solidFill>
                <a:latin typeface="Poppins"/>
                <a:ea typeface="Poppins"/>
                <a:cs typeface="Poppins"/>
                <a:sym typeface="Poppins"/>
              </a:rPr>
              <a:t>to take strategic decisions based on app insights</a:t>
            </a:r>
          </a:p>
        </p:txBody>
      </p:sp>
      <p:grpSp>
        <p:nvGrpSpPr>
          <p:cNvPr id="28" name="Group 28"/>
          <p:cNvGrpSpPr/>
          <p:nvPr/>
        </p:nvGrpSpPr>
        <p:grpSpPr>
          <a:xfrm>
            <a:off x="9280922" y="6676727"/>
            <a:ext cx="8019455" cy="1662261"/>
            <a:chOff x="0" y="0"/>
            <a:chExt cx="10692607" cy="2216348"/>
          </a:xfrm>
        </p:grpSpPr>
        <p:sp>
          <p:nvSpPr>
            <p:cNvPr id="29" name="Freeform 29"/>
            <p:cNvSpPr/>
            <p:nvPr/>
          </p:nvSpPr>
          <p:spPr>
            <a:xfrm>
              <a:off x="6350" y="6350"/>
              <a:ext cx="10679938" cy="2203577"/>
            </a:xfrm>
            <a:custGeom>
              <a:avLst/>
              <a:gdLst/>
              <a:ahLst/>
              <a:cxnLst/>
              <a:rect l="l" t="t" r="r" b="b"/>
              <a:pathLst>
                <a:path w="10679938" h="2203577">
                  <a:moveTo>
                    <a:pt x="0" y="158750"/>
                  </a:moveTo>
                  <a:cubicBezTo>
                    <a:pt x="0" y="71120"/>
                    <a:pt x="71374" y="0"/>
                    <a:pt x="159512" y="0"/>
                  </a:cubicBezTo>
                  <a:lnTo>
                    <a:pt x="10520426" y="0"/>
                  </a:lnTo>
                  <a:cubicBezTo>
                    <a:pt x="10608564" y="0"/>
                    <a:pt x="10679938" y="71120"/>
                    <a:pt x="10679938" y="158750"/>
                  </a:cubicBezTo>
                  <a:lnTo>
                    <a:pt x="10679938" y="2044827"/>
                  </a:lnTo>
                  <a:cubicBezTo>
                    <a:pt x="10679938" y="2132457"/>
                    <a:pt x="10608564" y="2203577"/>
                    <a:pt x="10520426" y="2203577"/>
                  </a:cubicBezTo>
                  <a:lnTo>
                    <a:pt x="159512" y="2203577"/>
                  </a:lnTo>
                  <a:cubicBezTo>
                    <a:pt x="71374" y="2203577"/>
                    <a:pt x="0" y="2132457"/>
                    <a:pt x="0" y="2044827"/>
                  </a:cubicBezTo>
                  <a:close/>
                </a:path>
              </a:pathLst>
            </a:custGeom>
            <a:solidFill>
              <a:srgbClr val="E1F2D9"/>
            </a:solidFill>
          </p:spPr>
        </p:sp>
        <p:sp>
          <p:nvSpPr>
            <p:cNvPr id="30" name="Freeform 30"/>
            <p:cNvSpPr/>
            <p:nvPr/>
          </p:nvSpPr>
          <p:spPr>
            <a:xfrm>
              <a:off x="0" y="0"/>
              <a:ext cx="10692638" cy="2216277"/>
            </a:xfrm>
            <a:custGeom>
              <a:avLst/>
              <a:gdLst/>
              <a:ahLst/>
              <a:cxnLst/>
              <a:rect l="l" t="t" r="r" b="b"/>
              <a:pathLst>
                <a:path w="10692638" h="2216277">
                  <a:moveTo>
                    <a:pt x="0" y="165100"/>
                  </a:moveTo>
                  <a:cubicBezTo>
                    <a:pt x="0" y="73914"/>
                    <a:pt x="74295" y="0"/>
                    <a:pt x="165862" y="0"/>
                  </a:cubicBezTo>
                  <a:lnTo>
                    <a:pt x="10526776" y="0"/>
                  </a:lnTo>
                  <a:lnTo>
                    <a:pt x="10526776" y="6350"/>
                  </a:lnTo>
                  <a:lnTo>
                    <a:pt x="10526776" y="0"/>
                  </a:lnTo>
                  <a:cubicBezTo>
                    <a:pt x="10618343" y="0"/>
                    <a:pt x="10692638" y="73914"/>
                    <a:pt x="10692638" y="165100"/>
                  </a:cubicBezTo>
                  <a:lnTo>
                    <a:pt x="10686288" y="165100"/>
                  </a:lnTo>
                  <a:lnTo>
                    <a:pt x="10692638" y="165100"/>
                  </a:lnTo>
                  <a:lnTo>
                    <a:pt x="10692638" y="2051177"/>
                  </a:lnTo>
                  <a:lnTo>
                    <a:pt x="10686288" y="2051177"/>
                  </a:lnTo>
                  <a:lnTo>
                    <a:pt x="10692638" y="2051177"/>
                  </a:lnTo>
                  <a:cubicBezTo>
                    <a:pt x="10692638" y="2142363"/>
                    <a:pt x="10618343" y="2216277"/>
                    <a:pt x="10526776" y="2216277"/>
                  </a:cubicBezTo>
                  <a:lnTo>
                    <a:pt x="10526776" y="2209927"/>
                  </a:lnTo>
                  <a:lnTo>
                    <a:pt x="10526776" y="2216277"/>
                  </a:lnTo>
                  <a:lnTo>
                    <a:pt x="165862" y="2216277"/>
                  </a:lnTo>
                  <a:lnTo>
                    <a:pt x="165862" y="2209927"/>
                  </a:lnTo>
                  <a:lnTo>
                    <a:pt x="165862" y="2216277"/>
                  </a:lnTo>
                  <a:cubicBezTo>
                    <a:pt x="74295" y="2216277"/>
                    <a:pt x="0" y="2142363"/>
                    <a:pt x="0" y="2051177"/>
                  </a:cubicBezTo>
                  <a:lnTo>
                    <a:pt x="0" y="165100"/>
                  </a:lnTo>
                  <a:lnTo>
                    <a:pt x="6350" y="165100"/>
                  </a:lnTo>
                  <a:lnTo>
                    <a:pt x="0" y="165100"/>
                  </a:lnTo>
                  <a:moveTo>
                    <a:pt x="12700" y="165100"/>
                  </a:moveTo>
                  <a:lnTo>
                    <a:pt x="12700" y="2051177"/>
                  </a:lnTo>
                  <a:lnTo>
                    <a:pt x="6350" y="2051177"/>
                  </a:lnTo>
                  <a:lnTo>
                    <a:pt x="12700" y="2051177"/>
                  </a:lnTo>
                  <a:cubicBezTo>
                    <a:pt x="12700" y="2135378"/>
                    <a:pt x="81280" y="2203577"/>
                    <a:pt x="165862" y="2203577"/>
                  </a:cubicBezTo>
                  <a:lnTo>
                    <a:pt x="10526776" y="2203577"/>
                  </a:lnTo>
                  <a:cubicBezTo>
                    <a:pt x="10611358" y="2203577"/>
                    <a:pt x="10679938" y="2135251"/>
                    <a:pt x="10679938" y="2051177"/>
                  </a:cubicBezTo>
                  <a:lnTo>
                    <a:pt x="10679938" y="165100"/>
                  </a:lnTo>
                  <a:cubicBezTo>
                    <a:pt x="10679938" y="80899"/>
                    <a:pt x="10611358" y="12700"/>
                    <a:pt x="10526776" y="12700"/>
                  </a:cubicBezTo>
                  <a:lnTo>
                    <a:pt x="165862" y="12700"/>
                  </a:lnTo>
                  <a:lnTo>
                    <a:pt x="165862" y="6350"/>
                  </a:lnTo>
                  <a:lnTo>
                    <a:pt x="165862" y="12700"/>
                  </a:lnTo>
                  <a:cubicBezTo>
                    <a:pt x="81280" y="12700"/>
                    <a:pt x="12700" y="81026"/>
                    <a:pt x="12700" y="165100"/>
                  </a:cubicBezTo>
                  <a:close/>
                </a:path>
              </a:pathLst>
            </a:custGeom>
            <a:solidFill>
              <a:srgbClr val="C7D8BF"/>
            </a:solidFill>
          </p:spPr>
        </p:sp>
      </p:grpSp>
      <p:sp>
        <p:nvSpPr>
          <p:cNvPr id="31" name="TextBox 31"/>
          <p:cNvSpPr txBox="1"/>
          <p:nvPr/>
        </p:nvSpPr>
        <p:spPr>
          <a:xfrm>
            <a:off x="9578728" y="6926907"/>
            <a:ext cx="3544044" cy="490537"/>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Startups</a:t>
            </a:r>
          </a:p>
        </p:txBody>
      </p:sp>
      <p:sp>
        <p:nvSpPr>
          <p:cNvPr id="32" name="TextBox 32"/>
          <p:cNvSpPr txBox="1"/>
          <p:nvPr/>
        </p:nvSpPr>
        <p:spPr>
          <a:xfrm>
            <a:off x="9578728" y="7473255"/>
            <a:ext cx="7423845" cy="567929"/>
          </a:xfrm>
          <a:prstGeom prst="rect">
            <a:avLst/>
          </a:prstGeom>
        </p:spPr>
        <p:txBody>
          <a:bodyPr lIns="0" tIns="0" rIns="0" bIns="0" rtlCol="0" anchor="t">
            <a:spAutoFit/>
          </a:bodyPr>
          <a:lstStyle/>
          <a:p>
            <a:pPr algn="l">
              <a:lnSpc>
                <a:spcPts val="3562"/>
              </a:lnSpc>
            </a:pPr>
            <a:r>
              <a:rPr lang="en-US" sz="2187">
                <a:solidFill>
                  <a:srgbClr val="1F4E79"/>
                </a:solidFill>
                <a:latin typeface="Poppins"/>
                <a:ea typeface="Poppins"/>
                <a:cs typeface="Poppins"/>
                <a:sym typeface="Poppins"/>
              </a:rPr>
              <a:t>to decide which category has high market potential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sp>
        <p:nvSpPr>
          <p:cNvPr id="6" name="TextBox 6"/>
          <p:cNvSpPr txBox="1"/>
          <p:nvPr/>
        </p:nvSpPr>
        <p:spPr>
          <a:xfrm>
            <a:off x="992238" y="882997"/>
            <a:ext cx="7088237" cy="962174"/>
          </a:xfrm>
          <a:prstGeom prst="rect">
            <a:avLst/>
          </a:prstGeom>
        </p:spPr>
        <p:txBody>
          <a:bodyPr lIns="0" tIns="0" rIns="0" bIns="0" rtlCol="0" anchor="t">
            <a:spAutoFit/>
          </a:bodyPr>
          <a:lstStyle/>
          <a:p>
            <a:pPr algn="l">
              <a:lnSpc>
                <a:spcPts val="6937"/>
              </a:lnSpc>
            </a:pPr>
            <a:r>
              <a:rPr lang="en-US" sz="5562" b="1">
                <a:solidFill>
                  <a:srgbClr val="000000"/>
                </a:solidFill>
                <a:latin typeface="Poppins Bold"/>
                <a:ea typeface="Poppins Bold"/>
                <a:cs typeface="Poppins Bold"/>
                <a:sym typeface="Poppins Bold"/>
              </a:rPr>
              <a:t>Key Features</a:t>
            </a:r>
          </a:p>
        </p:txBody>
      </p:sp>
      <p:grpSp>
        <p:nvGrpSpPr>
          <p:cNvPr id="7" name="Group 7"/>
          <p:cNvGrpSpPr/>
          <p:nvPr/>
        </p:nvGrpSpPr>
        <p:grpSpPr>
          <a:xfrm>
            <a:off x="973188" y="2393156"/>
            <a:ext cx="8048030" cy="5429845"/>
            <a:chOff x="0" y="0"/>
            <a:chExt cx="10730707" cy="7239793"/>
          </a:xfrm>
        </p:grpSpPr>
        <p:sp>
          <p:nvSpPr>
            <p:cNvPr id="8" name="Freeform 8"/>
            <p:cNvSpPr/>
            <p:nvPr/>
          </p:nvSpPr>
          <p:spPr>
            <a:xfrm>
              <a:off x="25400" y="25400"/>
              <a:ext cx="10679812" cy="7188962"/>
            </a:xfrm>
            <a:custGeom>
              <a:avLst/>
              <a:gdLst/>
              <a:ahLst/>
              <a:cxnLst/>
              <a:rect l="l" t="t" r="r" b="b"/>
              <a:pathLst>
                <a:path w="10679812" h="7188962">
                  <a:moveTo>
                    <a:pt x="0" y="158750"/>
                  </a:moveTo>
                  <a:cubicBezTo>
                    <a:pt x="0" y="71120"/>
                    <a:pt x="71247" y="0"/>
                    <a:pt x="159131" y="0"/>
                  </a:cubicBezTo>
                  <a:lnTo>
                    <a:pt x="10520680" y="0"/>
                  </a:lnTo>
                  <a:cubicBezTo>
                    <a:pt x="10608564" y="0"/>
                    <a:pt x="10679812" y="71120"/>
                    <a:pt x="10679812" y="158750"/>
                  </a:cubicBezTo>
                  <a:lnTo>
                    <a:pt x="10679812" y="7030212"/>
                  </a:lnTo>
                  <a:cubicBezTo>
                    <a:pt x="10679812" y="7117969"/>
                    <a:pt x="10608564" y="7188962"/>
                    <a:pt x="10520680" y="7188962"/>
                  </a:cubicBezTo>
                  <a:lnTo>
                    <a:pt x="159131" y="7188962"/>
                  </a:lnTo>
                  <a:cubicBezTo>
                    <a:pt x="71247" y="7188962"/>
                    <a:pt x="0" y="7117842"/>
                    <a:pt x="0" y="7030212"/>
                  </a:cubicBezTo>
                  <a:close/>
                </a:path>
              </a:pathLst>
            </a:custGeom>
            <a:solidFill>
              <a:srgbClr val="DED2A6"/>
            </a:solidFill>
          </p:spPr>
        </p:sp>
        <p:sp>
          <p:nvSpPr>
            <p:cNvPr id="9" name="Freeform 9"/>
            <p:cNvSpPr/>
            <p:nvPr/>
          </p:nvSpPr>
          <p:spPr>
            <a:xfrm>
              <a:off x="0" y="0"/>
              <a:ext cx="10730612" cy="7239762"/>
            </a:xfrm>
            <a:custGeom>
              <a:avLst/>
              <a:gdLst/>
              <a:ahLst/>
              <a:cxnLst/>
              <a:rect l="l" t="t" r="r" b="b"/>
              <a:pathLst>
                <a:path w="10730612" h="7239762">
                  <a:moveTo>
                    <a:pt x="0" y="184150"/>
                  </a:moveTo>
                  <a:cubicBezTo>
                    <a:pt x="0" y="82423"/>
                    <a:pt x="82677" y="0"/>
                    <a:pt x="184531" y="0"/>
                  </a:cubicBezTo>
                  <a:lnTo>
                    <a:pt x="10546080" y="0"/>
                  </a:lnTo>
                  <a:lnTo>
                    <a:pt x="10546080" y="25400"/>
                  </a:lnTo>
                  <a:lnTo>
                    <a:pt x="10546080" y="0"/>
                  </a:lnTo>
                  <a:cubicBezTo>
                    <a:pt x="10647935" y="0"/>
                    <a:pt x="10730612" y="82423"/>
                    <a:pt x="10730612" y="184150"/>
                  </a:cubicBezTo>
                  <a:lnTo>
                    <a:pt x="10705212" y="184150"/>
                  </a:lnTo>
                  <a:lnTo>
                    <a:pt x="10730612" y="184150"/>
                  </a:lnTo>
                  <a:lnTo>
                    <a:pt x="10730612" y="7055612"/>
                  </a:lnTo>
                  <a:lnTo>
                    <a:pt x="10705212" y="7055612"/>
                  </a:lnTo>
                  <a:lnTo>
                    <a:pt x="10730612" y="7055612"/>
                  </a:lnTo>
                  <a:cubicBezTo>
                    <a:pt x="10730612" y="7157339"/>
                    <a:pt x="10647935" y="7239762"/>
                    <a:pt x="10546080" y="7239762"/>
                  </a:cubicBezTo>
                  <a:lnTo>
                    <a:pt x="10546080" y="7214362"/>
                  </a:lnTo>
                  <a:lnTo>
                    <a:pt x="10546080" y="7239762"/>
                  </a:lnTo>
                  <a:lnTo>
                    <a:pt x="184531" y="7239762"/>
                  </a:lnTo>
                  <a:lnTo>
                    <a:pt x="184531" y="7214362"/>
                  </a:lnTo>
                  <a:lnTo>
                    <a:pt x="184531" y="7239762"/>
                  </a:lnTo>
                  <a:cubicBezTo>
                    <a:pt x="82677" y="7239762"/>
                    <a:pt x="0" y="7157339"/>
                    <a:pt x="0" y="7055612"/>
                  </a:cubicBezTo>
                  <a:lnTo>
                    <a:pt x="0" y="184150"/>
                  </a:lnTo>
                  <a:lnTo>
                    <a:pt x="25400" y="184150"/>
                  </a:lnTo>
                  <a:lnTo>
                    <a:pt x="0" y="184150"/>
                  </a:lnTo>
                  <a:moveTo>
                    <a:pt x="50800" y="184150"/>
                  </a:moveTo>
                  <a:lnTo>
                    <a:pt x="50800" y="7055612"/>
                  </a:lnTo>
                  <a:lnTo>
                    <a:pt x="25400" y="7055612"/>
                  </a:lnTo>
                  <a:lnTo>
                    <a:pt x="50800" y="7055612"/>
                  </a:lnTo>
                  <a:cubicBezTo>
                    <a:pt x="50800" y="7129272"/>
                    <a:pt x="110617" y="7188962"/>
                    <a:pt x="184531" y="7188962"/>
                  </a:cubicBezTo>
                  <a:lnTo>
                    <a:pt x="10546080" y="7188962"/>
                  </a:lnTo>
                  <a:cubicBezTo>
                    <a:pt x="10619994" y="7188962"/>
                    <a:pt x="10679812" y="7129145"/>
                    <a:pt x="10679812" y="7055612"/>
                  </a:cubicBezTo>
                  <a:lnTo>
                    <a:pt x="10679812" y="184150"/>
                  </a:lnTo>
                  <a:cubicBezTo>
                    <a:pt x="10679812" y="110490"/>
                    <a:pt x="10619994" y="50800"/>
                    <a:pt x="10546080" y="50800"/>
                  </a:cubicBezTo>
                  <a:lnTo>
                    <a:pt x="184531" y="50800"/>
                  </a:lnTo>
                  <a:lnTo>
                    <a:pt x="184531" y="25400"/>
                  </a:lnTo>
                  <a:lnTo>
                    <a:pt x="184531" y="50800"/>
                  </a:lnTo>
                  <a:cubicBezTo>
                    <a:pt x="110617" y="50800"/>
                    <a:pt x="50800" y="110617"/>
                    <a:pt x="50800" y="184150"/>
                  </a:cubicBezTo>
                  <a:close/>
                </a:path>
              </a:pathLst>
            </a:custGeom>
            <a:solidFill>
              <a:srgbClr val="C7D8BF"/>
            </a:solidFill>
          </p:spPr>
        </p:sp>
      </p:grpSp>
      <p:grpSp>
        <p:nvGrpSpPr>
          <p:cNvPr id="10" name="Group 10"/>
          <p:cNvGrpSpPr/>
          <p:nvPr/>
        </p:nvGrpSpPr>
        <p:grpSpPr>
          <a:xfrm>
            <a:off x="1030338" y="2450306"/>
            <a:ext cx="7933730" cy="850552"/>
            <a:chOff x="0" y="0"/>
            <a:chExt cx="10578307" cy="1134070"/>
          </a:xfrm>
        </p:grpSpPr>
        <p:sp>
          <p:nvSpPr>
            <p:cNvPr id="11" name="Freeform 11"/>
            <p:cNvSpPr/>
            <p:nvPr/>
          </p:nvSpPr>
          <p:spPr>
            <a:xfrm>
              <a:off x="0" y="0"/>
              <a:ext cx="10578211" cy="1133983"/>
            </a:xfrm>
            <a:custGeom>
              <a:avLst/>
              <a:gdLst/>
              <a:ahLst/>
              <a:cxnLst/>
              <a:rect l="l" t="t" r="r" b="b"/>
              <a:pathLst>
                <a:path w="10578211" h="1133983">
                  <a:moveTo>
                    <a:pt x="0" y="97790"/>
                  </a:moveTo>
                  <a:cubicBezTo>
                    <a:pt x="0" y="43815"/>
                    <a:pt x="43815" y="0"/>
                    <a:pt x="97790" y="0"/>
                  </a:cubicBezTo>
                  <a:lnTo>
                    <a:pt x="10480421" y="0"/>
                  </a:lnTo>
                  <a:cubicBezTo>
                    <a:pt x="10534396" y="0"/>
                    <a:pt x="10578211" y="43815"/>
                    <a:pt x="10578211" y="97790"/>
                  </a:cubicBezTo>
                  <a:lnTo>
                    <a:pt x="10578211" y="1036193"/>
                  </a:lnTo>
                  <a:cubicBezTo>
                    <a:pt x="10578211" y="1090168"/>
                    <a:pt x="10534396" y="1133983"/>
                    <a:pt x="10480421" y="1133983"/>
                  </a:cubicBezTo>
                  <a:lnTo>
                    <a:pt x="97790" y="1133983"/>
                  </a:lnTo>
                  <a:cubicBezTo>
                    <a:pt x="43815" y="1133983"/>
                    <a:pt x="0" y="1090168"/>
                    <a:pt x="0" y="1036193"/>
                  </a:cubicBezTo>
                  <a:close/>
                </a:path>
              </a:pathLst>
            </a:custGeom>
            <a:solidFill>
              <a:srgbClr val="E1F2D9"/>
            </a:solidFill>
          </p:spPr>
        </p:sp>
      </p:grpSp>
      <p:sp>
        <p:nvSpPr>
          <p:cNvPr id="12" name="TextBox 12"/>
          <p:cNvSpPr txBox="1"/>
          <p:nvPr/>
        </p:nvSpPr>
        <p:spPr>
          <a:xfrm>
            <a:off x="4784526" y="2633514"/>
            <a:ext cx="425202" cy="503039"/>
          </a:xfrm>
          <a:prstGeom prst="rect">
            <a:avLst/>
          </a:prstGeom>
        </p:spPr>
        <p:txBody>
          <a:bodyPr lIns="0" tIns="0" rIns="0" bIns="0" rtlCol="0" anchor="t">
            <a:spAutoFit/>
          </a:bodyPr>
          <a:lstStyle/>
          <a:p>
            <a:pPr algn="l">
              <a:lnSpc>
                <a:spcPts val="3312"/>
              </a:lnSpc>
            </a:pPr>
            <a:r>
              <a:rPr lang="en-US" sz="3312" b="1">
                <a:solidFill>
                  <a:srgbClr val="1F4E79"/>
                </a:solidFill>
                <a:latin typeface="Poppins Bold"/>
                <a:ea typeface="Poppins Bold"/>
                <a:cs typeface="Poppins Bold"/>
                <a:sym typeface="Poppins Bold"/>
              </a:rPr>
              <a:t>1</a:t>
            </a:r>
          </a:p>
        </p:txBody>
      </p:sp>
      <p:sp>
        <p:nvSpPr>
          <p:cNvPr id="13" name="TextBox 13"/>
          <p:cNvSpPr txBox="1"/>
          <p:nvPr/>
        </p:nvSpPr>
        <p:spPr>
          <a:xfrm>
            <a:off x="1313855" y="3536751"/>
            <a:ext cx="7187654" cy="579239"/>
          </a:xfrm>
          <a:prstGeom prst="rect">
            <a:avLst/>
          </a:prstGeom>
        </p:spPr>
        <p:txBody>
          <a:bodyPr lIns="0" tIns="0" rIns="0" bIns="0" rtlCol="0" anchor="t">
            <a:spAutoFit/>
          </a:bodyPr>
          <a:lstStyle/>
          <a:p>
            <a:pPr algn="l">
              <a:lnSpc>
                <a:spcPts val="4125"/>
              </a:lnSpc>
            </a:pPr>
            <a:r>
              <a:rPr lang="en-US" sz="3312" b="1">
                <a:solidFill>
                  <a:srgbClr val="1F4E79"/>
                </a:solidFill>
                <a:latin typeface="Poppins Bold"/>
                <a:ea typeface="Poppins Bold"/>
                <a:cs typeface="Poppins Bold"/>
                <a:sym typeface="Poppins Bold"/>
              </a:rPr>
              <a:t>Dashboard 1: App Store Overview</a:t>
            </a:r>
          </a:p>
        </p:txBody>
      </p:sp>
      <p:sp>
        <p:nvSpPr>
          <p:cNvPr id="14" name="TextBox 14"/>
          <p:cNvSpPr txBox="1"/>
          <p:nvPr/>
        </p:nvSpPr>
        <p:spPr>
          <a:xfrm>
            <a:off x="1313855" y="4171801"/>
            <a:ext cx="7366695"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Total Apps Summary</a:t>
            </a:r>
          </a:p>
        </p:txBody>
      </p:sp>
      <p:sp>
        <p:nvSpPr>
          <p:cNvPr id="15" name="TextBox 15"/>
          <p:cNvSpPr txBox="1"/>
          <p:nvPr/>
        </p:nvSpPr>
        <p:spPr>
          <a:xfrm>
            <a:off x="1313855" y="4724549"/>
            <a:ext cx="7366695"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Category Distribution</a:t>
            </a:r>
          </a:p>
        </p:txBody>
      </p:sp>
      <p:sp>
        <p:nvSpPr>
          <p:cNvPr id="16" name="TextBox 16"/>
          <p:cNvSpPr txBox="1"/>
          <p:nvPr/>
        </p:nvSpPr>
        <p:spPr>
          <a:xfrm>
            <a:off x="1313855" y="5277296"/>
            <a:ext cx="7366695"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Top 10 Apps by Installs</a:t>
            </a:r>
          </a:p>
        </p:txBody>
      </p:sp>
      <p:sp>
        <p:nvSpPr>
          <p:cNvPr id="17" name="TextBox 17"/>
          <p:cNvSpPr txBox="1"/>
          <p:nvPr/>
        </p:nvSpPr>
        <p:spPr>
          <a:xfrm>
            <a:off x="1313855" y="5830044"/>
            <a:ext cx="7366695"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Rating Analysis</a:t>
            </a:r>
          </a:p>
        </p:txBody>
      </p:sp>
      <p:sp>
        <p:nvSpPr>
          <p:cNvPr id="18" name="TextBox 18"/>
          <p:cNvSpPr txBox="1"/>
          <p:nvPr/>
        </p:nvSpPr>
        <p:spPr>
          <a:xfrm>
            <a:off x="1313855" y="6382791"/>
            <a:ext cx="7366695"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Free vs Paid Apps Breakdown</a:t>
            </a:r>
          </a:p>
        </p:txBody>
      </p:sp>
      <p:grpSp>
        <p:nvGrpSpPr>
          <p:cNvPr id="19" name="Group 19"/>
          <p:cNvGrpSpPr/>
          <p:nvPr/>
        </p:nvGrpSpPr>
        <p:grpSpPr>
          <a:xfrm>
            <a:off x="9266635" y="2393156"/>
            <a:ext cx="8048179" cy="5429845"/>
            <a:chOff x="0" y="0"/>
            <a:chExt cx="10730905" cy="7239793"/>
          </a:xfrm>
        </p:grpSpPr>
        <p:sp>
          <p:nvSpPr>
            <p:cNvPr id="20" name="Freeform 20"/>
            <p:cNvSpPr/>
            <p:nvPr/>
          </p:nvSpPr>
          <p:spPr>
            <a:xfrm>
              <a:off x="25400" y="25400"/>
              <a:ext cx="10680065" cy="7188962"/>
            </a:xfrm>
            <a:custGeom>
              <a:avLst/>
              <a:gdLst/>
              <a:ahLst/>
              <a:cxnLst/>
              <a:rect l="l" t="t" r="r" b="b"/>
              <a:pathLst>
                <a:path w="10680065" h="7188962">
                  <a:moveTo>
                    <a:pt x="0" y="158750"/>
                  </a:moveTo>
                  <a:cubicBezTo>
                    <a:pt x="0" y="71120"/>
                    <a:pt x="71247" y="0"/>
                    <a:pt x="159131" y="0"/>
                  </a:cubicBezTo>
                  <a:lnTo>
                    <a:pt x="10520934" y="0"/>
                  </a:lnTo>
                  <a:cubicBezTo>
                    <a:pt x="10608818" y="0"/>
                    <a:pt x="10680065" y="71120"/>
                    <a:pt x="10680065" y="158750"/>
                  </a:cubicBezTo>
                  <a:lnTo>
                    <a:pt x="10680065" y="7030212"/>
                  </a:lnTo>
                  <a:cubicBezTo>
                    <a:pt x="10680065" y="7117969"/>
                    <a:pt x="10608818" y="7188962"/>
                    <a:pt x="10520934" y="7188962"/>
                  </a:cubicBezTo>
                  <a:lnTo>
                    <a:pt x="159131" y="7188962"/>
                  </a:lnTo>
                  <a:cubicBezTo>
                    <a:pt x="71247" y="7188962"/>
                    <a:pt x="0" y="7117842"/>
                    <a:pt x="0" y="7030212"/>
                  </a:cubicBezTo>
                  <a:close/>
                </a:path>
              </a:pathLst>
            </a:custGeom>
            <a:solidFill>
              <a:srgbClr val="DED2A6"/>
            </a:solidFill>
          </p:spPr>
        </p:sp>
        <p:sp>
          <p:nvSpPr>
            <p:cNvPr id="21" name="Freeform 21"/>
            <p:cNvSpPr/>
            <p:nvPr/>
          </p:nvSpPr>
          <p:spPr>
            <a:xfrm>
              <a:off x="0" y="0"/>
              <a:ext cx="10730865" cy="7239762"/>
            </a:xfrm>
            <a:custGeom>
              <a:avLst/>
              <a:gdLst/>
              <a:ahLst/>
              <a:cxnLst/>
              <a:rect l="l" t="t" r="r" b="b"/>
              <a:pathLst>
                <a:path w="10730865" h="7239762">
                  <a:moveTo>
                    <a:pt x="0" y="184150"/>
                  </a:moveTo>
                  <a:cubicBezTo>
                    <a:pt x="0" y="82423"/>
                    <a:pt x="82677" y="0"/>
                    <a:pt x="184531" y="0"/>
                  </a:cubicBezTo>
                  <a:lnTo>
                    <a:pt x="10546334" y="0"/>
                  </a:lnTo>
                  <a:lnTo>
                    <a:pt x="10546334" y="25400"/>
                  </a:lnTo>
                  <a:lnTo>
                    <a:pt x="10546334" y="0"/>
                  </a:lnTo>
                  <a:cubicBezTo>
                    <a:pt x="10648188" y="0"/>
                    <a:pt x="10730865" y="82423"/>
                    <a:pt x="10730865" y="184150"/>
                  </a:cubicBezTo>
                  <a:lnTo>
                    <a:pt x="10705465" y="184150"/>
                  </a:lnTo>
                  <a:lnTo>
                    <a:pt x="10730865" y="184150"/>
                  </a:lnTo>
                  <a:lnTo>
                    <a:pt x="10730865" y="7055612"/>
                  </a:lnTo>
                  <a:lnTo>
                    <a:pt x="10705465" y="7055612"/>
                  </a:lnTo>
                  <a:lnTo>
                    <a:pt x="10730865" y="7055612"/>
                  </a:lnTo>
                  <a:cubicBezTo>
                    <a:pt x="10730865" y="7157339"/>
                    <a:pt x="10648188" y="7239762"/>
                    <a:pt x="10546334" y="7239762"/>
                  </a:cubicBezTo>
                  <a:lnTo>
                    <a:pt x="10546334" y="7214362"/>
                  </a:lnTo>
                  <a:lnTo>
                    <a:pt x="10546334" y="7239762"/>
                  </a:lnTo>
                  <a:lnTo>
                    <a:pt x="184531" y="7239762"/>
                  </a:lnTo>
                  <a:lnTo>
                    <a:pt x="184531" y="7214362"/>
                  </a:lnTo>
                  <a:lnTo>
                    <a:pt x="184531" y="7239762"/>
                  </a:lnTo>
                  <a:cubicBezTo>
                    <a:pt x="82677" y="7239762"/>
                    <a:pt x="0" y="7157339"/>
                    <a:pt x="0" y="7055612"/>
                  </a:cubicBezTo>
                  <a:lnTo>
                    <a:pt x="0" y="184150"/>
                  </a:lnTo>
                  <a:lnTo>
                    <a:pt x="25400" y="184150"/>
                  </a:lnTo>
                  <a:lnTo>
                    <a:pt x="0" y="184150"/>
                  </a:lnTo>
                  <a:moveTo>
                    <a:pt x="50800" y="184150"/>
                  </a:moveTo>
                  <a:lnTo>
                    <a:pt x="50800" y="7055612"/>
                  </a:lnTo>
                  <a:lnTo>
                    <a:pt x="25400" y="7055612"/>
                  </a:lnTo>
                  <a:lnTo>
                    <a:pt x="50800" y="7055612"/>
                  </a:lnTo>
                  <a:cubicBezTo>
                    <a:pt x="50800" y="7129272"/>
                    <a:pt x="110617" y="7188962"/>
                    <a:pt x="184531" y="7188962"/>
                  </a:cubicBezTo>
                  <a:lnTo>
                    <a:pt x="10546334" y="7188962"/>
                  </a:lnTo>
                  <a:cubicBezTo>
                    <a:pt x="10620248" y="7188962"/>
                    <a:pt x="10680065" y="7129145"/>
                    <a:pt x="10680065" y="7055612"/>
                  </a:cubicBezTo>
                  <a:lnTo>
                    <a:pt x="10680065" y="184150"/>
                  </a:lnTo>
                  <a:cubicBezTo>
                    <a:pt x="10680065" y="110490"/>
                    <a:pt x="10620248" y="50800"/>
                    <a:pt x="10546334" y="50800"/>
                  </a:cubicBezTo>
                  <a:lnTo>
                    <a:pt x="184531" y="50800"/>
                  </a:lnTo>
                  <a:lnTo>
                    <a:pt x="184531" y="25400"/>
                  </a:lnTo>
                  <a:lnTo>
                    <a:pt x="184531" y="50800"/>
                  </a:lnTo>
                  <a:cubicBezTo>
                    <a:pt x="110617" y="50800"/>
                    <a:pt x="50800" y="110617"/>
                    <a:pt x="50800" y="184150"/>
                  </a:cubicBezTo>
                  <a:close/>
                </a:path>
              </a:pathLst>
            </a:custGeom>
            <a:solidFill>
              <a:srgbClr val="C7D8BF"/>
            </a:solidFill>
          </p:spPr>
        </p:sp>
      </p:grpSp>
      <p:grpSp>
        <p:nvGrpSpPr>
          <p:cNvPr id="22" name="Group 22"/>
          <p:cNvGrpSpPr/>
          <p:nvPr/>
        </p:nvGrpSpPr>
        <p:grpSpPr>
          <a:xfrm>
            <a:off x="9323784" y="2450306"/>
            <a:ext cx="7933879" cy="850552"/>
            <a:chOff x="0" y="0"/>
            <a:chExt cx="10578505" cy="1134070"/>
          </a:xfrm>
        </p:grpSpPr>
        <p:sp>
          <p:nvSpPr>
            <p:cNvPr id="23" name="Freeform 23"/>
            <p:cNvSpPr/>
            <p:nvPr/>
          </p:nvSpPr>
          <p:spPr>
            <a:xfrm>
              <a:off x="0" y="0"/>
              <a:ext cx="10578465" cy="1133983"/>
            </a:xfrm>
            <a:custGeom>
              <a:avLst/>
              <a:gdLst/>
              <a:ahLst/>
              <a:cxnLst/>
              <a:rect l="l" t="t" r="r" b="b"/>
              <a:pathLst>
                <a:path w="10578465" h="1133983">
                  <a:moveTo>
                    <a:pt x="0" y="97790"/>
                  </a:moveTo>
                  <a:cubicBezTo>
                    <a:pt x="0" y="43815"/>
                    <a:pt x="43815" y="0"/>
                    <a:pt x="97790" y="0"/>
                  </a:cubicBezTo>
                  <a:lnTo>
                    <a:pt x="10480675" y="0"/>
                  </a:lnTo>
                  <a:cubicBezTo>
                    <a:pt x="10534650" y="0"/>
                    <a:pt x="10578465" y="43815"/>
                    <a:pt x="10578465" y="97790"/>
                  </a:cubicBezTo>
                  <a:lnTo>
                    <a:pt x="10578465" y="1036193"/>
                  </a:lnTo>
                  <a:cubicBezTo>
                    <a:pt x="10578465" y="1090168"/>
                    <a:pt x="10534650" y="1133983"/>
                    <a:pt x="10480675" y="1133983"/>
                  </a:cubicBezTo>
                  <a:lnTo>
                    <a:pt x="97790" y="1133983"/>
                  </a:lnTo>
                  <a:cubicBezTo>
                    <a:pt x="43815" y="1133983"/>
                    <a:pt x="0" y="1090168"/>
                    <a:pt x="0" y="1036193"/>
                  </a:cubicBezTo>
                  <a:close/>
                </a:path>
              </a:pathLst>
            </a:custGeom>
            <a:solidFill>
              <a:srgbClr val="E1F2D9"/>
            </a:solidFill>
          </p:spPr>
        </p:sp>
      </p:grpSp>
      <p:sp>
        <p:nvSpPr>
          <p:cNvPr id="24" name="TextBox 24"/>
          <p:cNvSpPr txBox="1"/>
          <p:nvPr/>
        </p:nvSpPr>
        <p:spPr>
          <a:xfrm>
            <a:off x="13078122" y="2633514"/>
            <a:ext cx="425203" cy="503039"/>
          </a:xfrm>
          <a:prstGeom prst="rect">
            <a:avLst/>
          </a:prstGeom>
        </p:spPr>
        <p:txBody>
          <a:bodyPr lIns="0" tIns="0" rIns="0" bIns="0" rtlCol="0" anchor="t">
            <a:spAutoFit/>
          </a:bodyPr>
          <a:lstStyle/>
          <a:p>
            <a:pPr algn="l">
              <a:lnSpc>
                <a:spcPts val="3312"/>
              </a:lnSpc>
            </a:pPr>
            <a:r>
              <a:rPr lang="en-US" sz="3312" b="1">
                <a:solidFill>
                  <a:srgbClr val="1F4E79"/>
                </a:solidFill>
                <a:latin typeface="Poppins Bold"/>
                <a:ea typeface="Poppins Bold"/>
                <a:cs typeface="Poppins Bold"/>
                <a:sym typeface="Poppins Bold"/>
              </a:rPr>
              <a:t>2</a:t>
            </a:r>
          </a:p>
        </p:txBody>
      </p:sp>
      <p:sp>
        <p:nvSpPr>
          <p:cNvPr id="25" name="TextBox 25"/>
          <p:cNvSpPr txBox="1"/>
          <p:nvPr/>
        </p:nvSpPr>
        <p:spPr>
          <a:xfrm>
            <a:off x="9607302" y="3536751"/>
            <a:ext cx="7366844" cy="1110854"/>
          </a:xfrm>
          <a:prstGeom prst="rect">
            <a:avLst/>
          </a:prstGeom>
        </p:spPr>
        <p:txBody>
          <a:bodyPr lIns="0" tIns="0" rIns="0" bIns="0" rtlCol="0" anchor="t">
            <a:spAutoFit/>
          </a:bodyPr>
          <a:lstStyle/>
          <a:p>
            <a:pPr algn="l">
              <a:lnSpc>
                <a:spcPts val="4125"/>
              </a:lnSpc>
            </a:pPr>
            <a:r>
              <a:rPr lang="en-US" sz="3312" b="1">
                <a:solidFill>
                  <a:srgbClr val="1F4E79"/>
                </a:solidFill>
                <a:latin typeface="Poppins Bold"/>
                <a:ea typeface="Poppins Bold"/>
                <a:cs typeface="Poppins Bold"/>
                <a:sym typeface="Poppins Bold"/>
              </a:rPr>
              <a:t>Dashboard 2: App Insights &amp; Performance Analysis</a:t>
            </a:r>
          </a:p>
        </p:txBody>
      </p:sp>
      <p:sp>
        <p:nvSpPr>
          <p:cNvPr id="26" name="TextBox 26"/>
          <p:cNvSpPr txBox="1"/>
          <p:nvPr/>
        </p:nvSpPr>
        <p:spPr>
          <a:xfrm>
            <a:off x="9607302" y="4703415"/>
            <a:ext cx="7366844"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Category Trends</a:t>
            </a:r>
          </a:p>
        </p:txBody>
      </p:sp>
      <p:sp>
        <p:nvSpPr>
          <p:cNvPr id="27" name="TextBox 27"/>
          <p:cNvSpPr txBox="1"/>
          <p:nvPr/>
        </p:nvSpPr>
        <p:spPr>
          <a:xfrm>
            <a:off x="9607302" y="5256162"/>
            <a:ext cx="7366844"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Pricing Insights</a:t>
            </a:r>
          </a:p>
        </p:txBody>
      </p:sp>
      <p:sp>
        <p:nvSpPr>
          <p:cNvPr id="28" name="TextBox 28"/>
          <p:cNvSpPr txBox="1"/>
          <p:nvPr/>
        </p:nvSpPr>
        <p:spPr>
          <a:xfrm>
            <a:off x="9607302" y="5808910"/>
            <a:ext cx="7366844"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Installs vs Ratings Relation</a:t>
            </a:r>
          </a:p>
        </p:txBody>
      </p:sp>
      <p:sp>
        <p:nvSpPr>
          <p:cNvPr id="29" name="TextBox 29"/>
          <p:cNvSpPr txBox="1"/>
          <p:nvPr/>
        </p:nvSpPr>
        <p:spPr>
          <a:xfrm>
            <a:off x="9607302" y="6361659"/>
            <a:ext cx="7366844"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Content Rating Analysis</a:t>
            </a:r>
          </a:p>
        </p:txBody>
      </p:sp>
      <p:sp>
        <p:nvSpPr>
          <p:cNvPr id="30" name="TextBox 30"/>
          <p:cNvSpPr txBox="1"/>
          <p:nvPr/>
        </p:nvSpPr>
        <p:spPr>
          <a:xfrm>
            <a:off x="9607302" y="6914406"/>
            <a:ext cx="7366844"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Top-Performing App Categories</a:t>
            </a:r>
          </a:p>
        </p:txBody>
      </p:sp>
      <p:grpSp>
        <p:nvGrpSpPr>
          <p:cNvPr id="31" name="Group 31"/>
          <p:cNvGrpSpPr/>
          <p:nvPr/>
        </p:nvGrpSpPr>
        <p:grpSpPr>
          <a:xfrm>
            <a:off x="992238" y="8122890"/>
            <a:ext cx="16303526" cy="1204764"/>
            <a:chOff x="0" y="0"/>
            <a:chExt cx="21738035" cy="1606352"/>
          </a:xfrm>
        </p:grpSpPr>
        <p:sp>
          <p:nvSpPr>
            <p:cNvPr id="32" name="Freeform 32"/>
            <p:cNvSpPr/>
            <p:nvPr/>
          </p:nvSpPr>
          <p:spPr>
            <a:xfrm>
              <a:off x="0" y="0"/>
              <a:ext cx="21737955" cy="1606296"/>
            </a:xfrm>
            <a:custGeom>
              <a:avLst/>
              <a:gdLst/>
              <a:ahLst/>
              <a:cxnLst/>
              <a:rect l="l" t="t" r="r" b="b"/>
              <a:pathLst>
                <a:path w="21737955" h="1606296">
                  <a:moveTo>
                    <a:pt x="0" y="158750"/>
                  </a:moveTo>
                  <a:cubicBezTo>
                    <a:pt x="0" y="71120"/>
                    <a:pt x="71120" y="0"/>
                    <a:pt x="158750" y="0"/>
                  </a:cubicBezTo>
                  <a:lnTo>
                    <a:pt x="21579205" y="0"/>
                  </a:lnTo>
                  <a:cubicBezTo>
                    <a:pt x="21666836" y="0"/>
                    <a:pt x="21737955" y="71120"/>
                    <a:pt x="21737955" y="158750"/>
                  </a:cubicBezTo>
                  <a:lnTo>
                    <a:pt x="21737955" y="1447546"/>
                  </a:lnTo>
                  <a:cubicBezTo>
                    <a:pt x="21737955" y="1535176"/>
                    <a:pt x="21666836" y="1606296"/>
                    <a:pt x="21579205" y="1606296"/>
                  </a:cubicBezTo>
                  <a:lnTo>
                    <a:pt x="158750" y="1606296"/>
                  </a:lnTo>
                  <a:cubicBezTo>
                    <a:pt x="71120" y="1606296"/>
                    <a:pt x="0" y="1535176"/>
                    <a:pt x="0" y="1447546"/>
                  </a:cubicBezTo>
                  <a:close/>
                </a:path>
              </a:pathLst>
            </a:custGeom>
            <a:solidFill>
              <a:srgbClr val="D1EBC7"/>
            </a:solidFill>
          </p:spPr>
        </p:sp>
      </p:grpSp>
      <p:grpSp>
        <p:nvGrpSpPr>
          <p:cNvPr id="33" name="Group 33"/>
          <p:cNvGrpSpPr>
            <a:grpSpLocks noChangeAspect="1"/>
          </p:cNvGrpSpPr>
          <p:nvPr/>
        </p:nvGrpSpPr>
        <p:grpSpPr>
          <a:xfrm>
            <a:off x="1275755" y="8553004"/>
            <a:ext cx="354360" cy="283518"/>
            <a:chOff x="0" y="0"/>
            <a:chExt cx="472480" cy="378023"/>
          </a:xfrm>
        </p:grpSpPr>
        <p:sp>
          <p:nvSpPr>
            <p:cNvPr id="34" name="Freeform 34" descr="preencoded.png"/>
            <p:cNvSpPr/>
            <p:nvPr/>
          </p:nvSpPr>
          <p:spPr>
            <a:xfrm>
              <a:off x="0" y="0"/>
              <a:ext cx="472440" cy="378079"/>
            </a:xfrm>
            <a:custGeom>
              <a:avLst/>
              <a:gdLst/>
              <a:ahLst/>
              <a:cxnLst/>
              <a:rect l="l" t="t" r="r" b="b"/>
              <a:pathLst>
                <a:path w="472440" h="378079">
                  <a:moveTo>
                    <a:pt x="0" y="0"/>
                  </a:moveTo>
                  <a:lnTo>
                    <a:pt x="472440" y="0"/>
                  </a:lnTo>
                  <a:lnTo>
                    <a:pt x="472440" y="378079"/>
                  </a:lnTo>
                  <a:lnTo>
                    <a:pt x="0" y="378079"/>
                  </a:lnTo>
                  <a:lnTo>
                    <a:pt x="0" y="0"/>
                  </a:lnTo>
                  <a:close/>
                </a:path>
              </a:pathLst>
            </a:custGeom>
            <a:blipFill>
              <a:blip r:embed="rId3"/>
              <a:stretch>
                <a:fillRect t="-670" r="-8" b="-655"/>
              </a:stretch>
            </a:blipFill>
          </p:spPr>
        </p:sp>
      </p:grpSp>
      <p:sp>
        <p:nvSpPr>
          <p:cNvPr id="35" name="TextBox 35"/>
          <p:cNvSpPr txBox="1"/>
          <p:nvPr/>
        </p:nvSpPr>
        <p:spPr>
          <a:xfrm>
            <a:off x="1913632" y="8362950"/>
            <a:ext cx="15098614" cy="567929"/>
          </a:xfrm>
          <a:prstGeom prst="rect">
            <a:avLst/>
          </a:prstGeom>
        </p:spPr>
        <p:txBody>
          <a:bodyPr lIns="0" tIns="0" rIns="0" bIns="0" rtlCol="0" anchor="t">
            <a:spAutoFit/>
          </a:bodyPr>
          <a:lstStyle/>
          <a:p>
            <a:pPr algn="l">
              <a:lnSpc>
                <a:spcPts val="3562"/>
              </a:lnSpc>
            </a:pPr>
            <a:r>
              <a:rPr lang="en-US" sz="2187" b="1">
                <a:solidFill>
                  <a:srgbClr val="000000"/>
                </a:solidFill>
                <a:latin typeface="Poppins Bold"/>
                <a:ea typeface="Poppins Bold"/>
                <a:cs typeface="Poppins Bold"/>
                <a:sym typeface="Poppins Bold"/>
              </a:rPr>
              <a:t>Interactive Slicers:</a:t>
            </a:r>
            <a:r>
              <a:rPr lang="en-US" sz="2187">
                <a:solidFill>
                  <a:srgbClr val="000000"/>
                </a:solidFill>
                <a:latin typeface="Poppins"/>
                <a:ea typeface="Poppins"/>
                <a:cs typeface="Poppins"/>
                <a:sym typeface="Poppins"/>
              </a:rPr>
              <a:t> Category, Type, Content Rating, Price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228600" y="85725"/>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a:grpSpLocks noChangeAspect="1"/>
          </p:cNvGrpSpPr>
          <p:nvPr/>
        </p:nvGrpSpPr>
        <p:grpSpPr>
          <a:xfrm>
            <a:off x="8229600" y="0"/>
            <a:ext cx="10058400" cy="10287000"/>
            <a:chOff x="0" y="0"/>
            <a:chExt cx="13411200" cy="13716000"/>
          </a:xfrm>
        </p:grpSpPr>
        <p:sp>
          <p:nvSpPr>
            <p:cNvPr id="9" name="Freeform 9" descr="preencoded.png"/>
            <p:cNvSpPr/>
            <p:nvPr/>
          </p:nvSpPr>
          <p:spPr>
            <a:xfrm>
              <a:off x="0" y="0"/>
              <a:ext cx="13411200" cy="13716000"/>
            </a:xfrm>
            <a:custGeom>
              <a:avLst/>
              <a:gdLst/>
              <a:ahLst/>
              <a:cxnLst/>
              <a:rect l="l" t="t" r="r" b="b"/>
              <a:pathLst>
                <a:path w="13411200" h="13716000">
                  <a:moveTo>
                    <a:pt x="0" y="0"/>
                  </a:moveTo>
                  <a:lnTo>
                    <a:pt x="13411200" y="0"/>
                  </a:lnTo>
                  <a:lnTo>
                    <a:pt x="13411200" y="13716000"/>
                  </a:lnTo>
                  <a:lnTo>
                    <a:pt x="0" y="13716000"/>
                  </a:lnTo>
                  <a:lnTo>
                    <a:pt x="0" y="0"/>
                  </a:lnTo>
                  <a:close/>
                </a:path>
              </a:pathLst>
            </a:custGeom>
            <a:blipFill>
              <a:blip r:embed="rId5"/>
              <a:stretch>
                <a:fillRect/>
              </a:stretch>
            </a:blipFill>
          </p:spPr>
        </p:sp>
      </p:grpSp>
      <p:sp>
        <p:nvSpPr>
          <p:cNvPr id="10" name="TextBox 10"/>
          <p:cNvSpPr txBox="1"/>
          <p:nvPr/>
        </p:nvSpPr>
        <p:spPr>
          <a:xfrm>
            <a:off x="826145" y="1150888"/>
            <a:ext cx="6577310" cy="1532632"/>
          </a:xfrm>
          <a:prstGeom prst="rect">
            <a:avLst/>
          </a:prstGeom>
        </p:spPr>
        <p:txBody>
          <a:bodyPr lIns="0" tIns="0" rIns="0" bIns="0" rtlCol="0" anchor="t">
            <a:spAutoFit/>
          </a:bodyPr>
          <a:lstStyle/>
          <a:p>
            <a:pPr algn="l">
              <a:lnSpc>
                <a:spcPts val="5750"/>
              </a:lnSpc>
            </a:pPr>
            <a:r>
              <a:rPr lang="en-US" sz="4625" b="1">
                <a:solidFill>
                  <a:srgbClr val="000000"/>
                </a:solidFill>
                <a:latin typeface="Poppins Bold"/>
                <a:ea typeface="Poppins Bold"/>
                <a:cs typeface="Poppins Bold"/>
                <a:sym typeface="Poppins Bold"/>
              </a:rPr>
              <a:t>Tools &amp; Techniques Used</a:t>
            </a:r>
          </a:p>
        </p:txBody>
      </p:sp>
      <p:sp>
        <p:nvSpPr>
          <p:cNvPr id="11" name="TextBox 11"/>
          <p:cNvSpPr txBox="1"/>
          <p:nvPr/>
        </p:nvSpPr>
        <p:spPr>
          <a:xfrm>
            <a:off x="826145" y="2730252"/>
            <a:ext cx="3541216" cy="490091"/>
          </a:xfrm>
          <a:prstGeom prst="rect">
            <a:avLst/>
          </a:prstGeom>
        </p:spPr>
        <p:txBody>
          <a:bodyPr lIns="0" tIns="0" rIns="0" bIns="0" rtlCol="0" anchor="t">
            <a:spAutoFit/>
          </a:bodyPr>
          <a:lstStyle/>
          <a:p>
            <a:pPr algn="l">
              <a:lnSpc>
                <a:spcPts val="3437"/>
              </a:lnSpc>
            </a:pPr>
            <a:r>
              <a:rPr lang="en-US" sz="2750" b="1">
                <a:solidFill>
                  <a:srgbClr val="1D1F22"/>
                </a:solidFill>
                <a:latin typeface="Poppins Bold"/>
                <a:ea typeface="Poppins Bold"/>
                <a:cs typeface="Poppins Bold"/>
                <a:sym typeface="Poppins Bold"/>
              </a:rPr>
              <a:t>Tools:</a:t>
            </a:r>
          </a:p>
        </p:txBody>
      </p:sp>
      <p:sp>
        <p:nvSpPr>
          <p:cNvPr id="12" name="TextBox 12"/>
          <p:cNvSpPr txBox="1"/>
          <p:nvPr/>
        </p:nvSpPr>
        <p:spPr>
          <a:xfrm>
            <a:off x="826145" y="3488680"/>
            <a:ext cx="6577310" cy="463303"/>
          </a:xfrm>
          <a:prstGeom prst="rect">
            <a:avLst/>
          </a:prstGeom>
        </p:spPr>
        <p:txBody>
          <a:bodyPr lIns="0" tIns="0" rIns="0" bIns="0" rtlCol="0" anchor="t">
            <a:spAutoFit/>
          </a:bodyPr>
          <a:lstStyle/>
          <a:p>
            <a:pPr marL="273348" lvl="1" indent="-136674" algn="l">
              <a:lnSpc>
                <a:spcPts val="2937"/>
              </a:lnSpc>
              <a:buFont typeface="Arial"/>
              <a:buChar char="•"/>
            </a:pPr>
            <a:r>
              <a:rPr lang="en-US" sz="1812">
                <a:solidFill>
                  <a:srgbClr val="1F4E79"/>
                </a:solidFill>
                <a:latin typeface="Poppins"/>
                <a:ea typeface="Poppins"/>
                <a:cs typeface="Poppins"/>
                <a:sym typeface="Poppins"/>
              </a:rPr>
              <a:t>Microsoft Excel (Data cleaning)</a:t>
            </a:r>
          </a:p>
        </p:txBody>
      </p:sp>
      <p:sp>
        <p:nvSpPr>
          <p:cNvPr id="14" name="TextBox 14"/>
          <p:cNvSpPr txBox="1"/>
          <p:nvPr/>
        </p:nvSpPr>
        <p:spPr>
          <a:xfrm>
            <a:off x="826145" y="4040829"/>
            <a:ext cx="6577310" cy="463303"/>
          </a:xfrm>
          <a:prstGeom prst="rect">
            <a:avLst/>
          </a:prstGeom>
        </p:spPr>
        <p:txBody>
          <a:bodyPr lIns="0" tIns="0" rIns="0" bIns="0" rtlCol="0" anchor="t">
            <a:spAutoFit/>
          </a:bodyPr>
          <a:lstStyle/>
          <a:p>
            <a:pPr marL="273348" lvl="1" indent="-136674" algn="l">
              <a:lnSpc>
                <a:spcPts val="2937"/>
              </a:lnSpc>
              <a:buFont typeface="Arial"/>
              <a:buChar char="•"/>
            </a:pPr>
            <a:r>
              <a:rPr lang="en-US" sz="1812" dirty="0">
                <a:solidFill>
                  <a:srgbClr val="1F4E79"/>
                </a:solidFill>
                <a:latin typeface="Poppins"/>
                <a:ea typeface="Poppins"/>
                <a:cs typeface="Poppins"/>
                <a:sym typeface="Poppins"/>
              </a:rPr>
              <a:t>Power BI Desktop (Modeling &amp; Visualization)</a:t>
            </a:r>
          </a:p>
        </p:txBody>
      </p:sp>
      <p:sp>
        <p:nvSpPr>
          <p:cNvPr id="15" name="TextBox 15"/>
          <p:cNvSpPr txBox="1"/>
          <p:nvPr/>
        </p:nvSpPr>
        <p:spPr>
          <a:xfrm>
            <a:off x="826145" y="5178772"/>
            <a:ext cx="3541216" cy="490091"/>
          </a:xfrm>
          <a:prstGeom prst="rect">
            <a:avLst/>
          </a:prstGeom>
        </p:spPr>
        <p:txBody>
          <a:bodyPr lIns="0" tIns="0" rIns="0" bIns="0" rtlCol="0" anchor="t">
            <a:spAutoFit/>
          </a:bodyPr>
          <a:lstStyle/>
          <a:p>
            <a:pPr algn="l">
              <a:lnSpc>
                <a:spcPts val="3437"/>
              </a:lnSpc>
            </a:pPr>
            <a:r>
              <a:rPr lang="en-US" sz="2750" b="1">
                <a:solidFill>
                  <a:srgbClr val="1D1F22"/>
                </a:solidFill>
                <a:latin typeface="Poppins Bold"/>
                <a:ea typeface="Poppins Bold"/>
                <a:cs typeface="Poppins Bold"/>
                <a:sym typeface="Poppins Bold"/>
              </a:rPr>
              <a:t>Techniques:</a:t>
            </a:r>
          </a:p>
        </p:txBody>
      </p:sp>
      <p:sp>
        <p:nvSpPr>
          <p:cNvPr id="16" name="TextBox 16"/>
          <p:cNvSpPr txBox="1"/>
          <p:nvPr/>
        </p:nvSpPr>
        <p:spPr>
          <a:xfrm>
            <a:off x="826145" y="5937200"/>
            <a:ext cx="6577310" cy="463303"/>
          </a:xfrm>
          <a:prstGeom prst="rect">
            <a:avLst/>
          </a:prstGeom>
        </p:spPr>
        <p:txBody>
          <a:bodyPr lIns="0" tIns="0" rIns="0" bIns="0" rtlCol="0" anchor="t">
            <a:spAutoFit/>
          </a:bodyPr>
          <a:lstStyle/>
          <a:p>
            <a:pPr marL="273348" lvl="1" indent="-136674" algn="l">
              <a:lnSpc>
                <a:spcPts val="2937"/>
              </a:lnSpc>
              <a:buFont typeface="Arial"/>
              <a:buChar char="•"/>
            </a:pPr>
            <a:r>
              <a:rPr lang="en-US" sz="1812">
                <a:solidFill>
                  <a:srgbClr val="1F4E79"/>
                </a:solidFill>
                <a:latin typeface="Poppins"/>
                <a:ea typeface="Poppins"/>
                <a:cs typeface="Poppins"/>
                <a:sym typeface="Poppins"/>
              </a:rPr>
              <a:t>Data Cleaning &amp; Transformation in Power Query</a:t>
            </a:r>
          </a:p>
        </p:txBody>
      </p:sp>
      <p:sp>
        <p:nvSpPr>
          <p:cNvPr id="17" name="TextBox 17"/>
          <p:cNvSpPr txBox="1"/>
          <p:nvPr/>
        </p:nvSpPr>
        <p:spPr>
          <a:xfrm>
            <a:off x="826145" y="6397377"/>
            <a:ext cx="6577310" cy="463303"/>
          </a:xfrm>
          <a:prstGeom prst="rect">
            <a:avLst/>
          </a:prstGeom>
        </p:spPr>
        <p:txBody>
          <a:bodyPr lIns="0" tIns="0" rIns="0" bIns="0" rtlCol="0" anchor="t">
            <a:spAutoFit/>
          </a:bodyPr>
          <a:lstStyle/>
          <a:p>
            <a:pPr marL="273348" lvl="1" indent="-136674" algn="l">
              <a:lnSpc>
                <a:spcPts val="2937"/>
              </a:lnSpc>
              <a:buFont typeface="Arial"/>
              <a:buChar char="•"/>
            </a:pPr>
            <a:r>
              <a:rPr lang="en-US" sz="1812">
                <a:solidFill>
                  <a:srgbClr val="1F4E79"/>
                </a:solidFill>
                <a:latin typeface="Poppins"/>
                <a:ea typeface="Poppins"/>
                <a:cs typeface="Poppins"/>
                <a:sym typeface="Poppins"/>
              </a:rPr>
              <a:t>Data Modeling (Fact &amp; Dimension Tables)</a:t>
            </a:r>
          </a:p>
        </p:txBody>
      </p:sp>
      <p:sp>
        <p:nvSpPr>
          <p:cNvPr id="18" name="TextBox 18"/>
          <p:cNvSpPr txBox="1"/>
          <p:nvPr/>
        </p:nvSpPr>
        <p:spPr>
          <a:xfrm>
            <a:off x="826145" y="6857554"/>
            <a:ext cx="6577310" cy="840879"/>
          </a:xfrm>
          <a:prstGeom prst="rect">
            <a:avLst/>
          </a:prstGeom>
        </p:spPr>
        <p:txBody>
          <a:bodyPr lIns="0" tIns="0" rIns="0" bIns="0" rtlCol="0" anchor="t">
            <a:spAutoFit/>
          </a:bodyPr>
          <a:lstStyle/>
          <a:p>
            <a:pPr marL="273348" lvl="1" indent="-136674" algn="l">
              <a:lnSpc>
                <a:spcPts val="2937"/>
              </a:lnSpc>
              <a:buFont typeface="Arial"/>
              <a:buChar char="•"/>
            </a:pPr>
            <a:r>
              <a:rPr lang="en-US" sz="1812">
                <a:solidFill>
                  <a:srgbClr val="1F4E79"/>
                </a:solidFill>
                <a:latin typeface="Poppins"/>
                <a:ea typeface="Poppins"/>
                <a:cs typeface="Poppins"/>
                <a:sym typeface="Poppins"/>
              </a:rPr>
              <a:t>DAX Measures (Total Installs, Average Rating, Count of Apps, Top N Logic)</a:t>
            </a:r>
          </a:p>
        </p:txBody>
      </p:sp>
      <p:sp>
        <p:nvSpPr>
          <p:cNvPr id="19" name="TextBox 19"/>
          <p:cNvSpPr txBox="1"/>
          <p:nvPr/>
        </p:nvSpPr>
        <p:spPr>
          <a:xfrm>
            <a:off x="826145" y="7695307"/>
            <a:ext cx="6577310" cy="463303"/>
          </a:xfrm>
          <a:prstGeom prst="rect">
            <a:avLst/>
          </a:prstGeom>
        </p:spPr>
        <p:txBody>
          <a:bodyPr lIns="0" tIns="0" rIns="0" bIns="0" rtlCol="0" anchor="t">
            <a:spAutoFit/>
          </a:bodyPr>
          <a:lstStyle/>
          <a:p>
            <a:pPr marL="273348" lvl="1" indent="-136674" algn="l">
              <a:lnSpc>
                <a:spcPts val="2937"/>
              </a:lnSpc>
              <a:buFont typeface="Arial"/>
              <a:buChar char="•"/>
            </a:pPr>
            <a:r>
              <a:rPr lang="en-US" sz="1812">
                <a:solidFill>
                  <a:srgbClr val="1F4E79"/>
                </a:solidFill>
                <a:latin typeface="Poppins"/>
                <a:ea typeface="Poppins"/>
                <a:cs typeface="Poppins"/>
                <a:sym typeface="Poppins"/>
              </a:rPr>
              <a:t>Star Schema Design</a:t>
            </a:r>
          </a:p>
        </p:txBody>
      </p:sp>
      <p:sp>
        <p:nvSpPr>
          <p:cNvPr id="20" name="TextBox 20"/>
          <p:cNvSpPr txBox="1"/>
          <p:nvPr/>
        </p:nvSpPr>
        <p:spPr>
          <a:xfrm>
            <a:off x="826145" y="8155484"/>
            <a:ext cx="6577310" cy="463303"/>
          </a:xfrm>
          <a:prstGeom prst="rect">
            <a:avLst/>
          </a:prstGeom>
        </p:spPr>
        <p:txBody>
          <a:bodyPr lIns="0" tIns="0" rIns="0" bIns="0" rtlCol="0" anchor="t">
            <a:spAutoFit/>
          </a:bodyPr>
          <a:lstStyle/>
          <a:p>
            <a:pPr marL="273348" lvl="1" indent="-136674" algn="l">
              <a:lnSpc>
                <a:spcPts val="2937"/>
              </a:lnSpc>
              <a:buFont typeface="Arial"/>
              <a:buChar char="•"/>
            </a:pPr>
            <a:r>
              <a:rPr lang="en-US" sz="1812">
                <a:solidFill>
                  <a:srgbClr val="1F4E79"/>
                </a:solidFill>
                <a:latin typeface="Poppins"/>
                <a:ea typeface="Poppins"/>
                <a:cs typeface="Poppins"/>
                <a:sym typeface="Poppins"/>
              </a:rPr>
              <a:t>Visual-level, Page-level &amp; Report-level Filters</a:t>
            </a:r>
          </a:p>
        </p:txBody>
      </p:sp>
      <p:sp>
        <p:nvSpPr>
          <p:cNvPr id="21" name="TextBox 21"/>
          <p:cNvSpPr txBox="1"/>
          <p:nvPr/>
        </p:nvSpPr>
        <p:spPr>
          <a:xfrm>
            <a:off x="826145" y="8615660"/>
            <a:ext cx="6577310" cy="463303"/>
          </a:xfrm>
          <a:prstGeom prst="rect">
            <a:avLst/>
          </a:prstGeom>
        </p:spPr>
        <p:txBody>
          <a:bodyPr lIns="0" tIns="0" rIns="0" bIns="0" rtlCol="0" anchor="t">
            <a:spAutoFit/>
          </a:bodyPr>
          <a:lstStyle/>
          <a:p>
            <a:pPr marL="273348" lvl="1" indent="-136674" algn="l">
              <a:lnSpc>
                <a:spcPts val="2937"/>
              </a:lnSpc>
              <a:buFont typeface="Arial"/>
              <a:buChar char="•"/>
            </a:pPr>
            <a:r>
              <a:rPr lang="en-US" sz="1812">
                <a:solidFill>
                  <a:srgbClr val="1F4E79"/>
                </a:solidFill>
                <a:latin typeface="Poppins"/>
                <a:ea typeface="Poppins"/>
                <a:cs typeface="Poppins"/>
                <a:sym typeface="Poppins"/>
              </a:rPr>
              <a:t>Dashboard Formatting &amp; Theme Optimization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sp>
        <p:nvSpPr>
          <p:cNvPr id="6" name="TextBox 6"/>
          <p:cNvSpPr txBox="1"/>
          <p:nvPr/>
        </p:nvSpPr>
        <p:spPr>
          <a:xfrm>
            <a:off x="992238" y="2076450"/>
            <a:ext cx="7197179" cy="962174"/>
          </a:xfrm>
          <a:prstGeom prst="rect">
            <a:avLst/>
          </a:prstGeom>
        </p:spPr>
        <p:txBody>
          <a:bodyPr lIns="0" tIns="0" rIns="0" bIns="0" rtlCol="0" anchor="t">
            <a:spAutoFit/>
          </a:bodyPr>
          <a:lstStyle/>
          <a:p>
            <a:pPr algn="l">
              <a:lnSpc>
                <a:spcPts val="6937"/>
              </a:lnSpc>
            </a:pPr>
            <a:r>
              <a:rPr lang="en-US" sz="5562" b="1">
                <a:solidFill>
                  <a:srgbClr val="000000"/>
                </a:solidFill>
                <a:latin typeface="Poppins Bold"/>
                <a:ea typeface="Poppins Bold"/>
                <a:cs typeface="Poppins Bold"/>
                <a:sym typeface="Poppins Bold"/>
              </a:rPr>
              <a:t>Scope &amp; Limitations</a:t>
            </a:r>
          </a:p>
        </p:txBody>
      </p:sp>
      <p:sp>
        <p:nvSpPr>
          <p:cNvPr id="7" name="TextBox 7"/>
          <p:cNvSpPr txBox="1"/>
          <p:nvPr/>
        </p:nvSpPr>
        <p:spPr>
          <a:xfrm>
            <a:off x="992238" y="3699719"/>
            <a:ext cx="4252912" cy="579239"/>
          </a:xfrm>
          <a:prstGeom prst="rect">
            <a:avLst/>
          </a:prstGeom>
        </p:spPr>
        <p:txBody>
          <a:bodyPr lIns="0" tIns="0" rIns="0" bIns="0" rtlCol="0" anchor="t">
            <a:spAutoFit/>
          </a:bodyPr>
          <a:lstStyle/>
          <a:p>
            <a:pPr algn="l">
              <a:lnSpc>
                <a:spcPts val="4125"/>
              </a:lnSpc>
            </a:pPr>
            <a:r>
              <a:rPr lang="en-US" sz="3312" b="1">
                <a:solidFill>
                  <a:srgbClr val="1D1F22"/>
                </a:solidFill>
                <a:latin typeface="Poppins Bold"/>
                <a:ea typeface="Poppins Bold"/>
                <a:cs typeface="Poppins Bold"/>
                <a:sym typeface="Poppins Bold"/>
              </a:rPr>
              <a:t>Scope:</a:t>
            </a:r>
          </a:p>
        </p:txBody>
      </p:sp>
      <p:sp>
        <p:nvSpPr>
          <p:cNvPr id="8" name="TextBox 8"/>
          <p:cNvSpPr txBox="1"/>
          <p:nvPr/>
        </p:nvSpPr>
        <p:spPr>
          <a:xfrm>
            <a:off x="992238" y="4448175"/>
            <a:ext cx="7805886" cy="1021556"/>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Provides insights on app installs, ratings, genres, and pricing</a:t>
            </a:r>
          </a:p>
        </p:txBody>
      </p:sp>
      <p:sp>
        <p:nvSpPr>
          <p:cNvPr id="9" name="TextBox 9"/>
          <p:cNvSpPr txBox="1"/>
          <p:nvPr/>
        </p:nvSpPr>
        <p:spPr>
          <a:xfrm>
            <a:off x="992238" y="5454551"/>
            <a:ext cx="7805886"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Helps compare performance between categories</a:t>
            </a:r>
          </a:p>
        </p:txBody>
      </p:sp>
      <p:sp>
        <p:nvSpPr>
          <p:cNvPr id="10" name="TextBox 10"/>
          <p:cNvSpPr txBox="1"/>
          <p:nvPr/>
        </p:nvSpPr>
        <p:spPr>
          <a:xfrm>
            <a:off x="992238" y="6007299"/>
            <a:ext cx="7805886" cy="1021556"/>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Offers quick decision-making visuals for stakeholders</a:t>
            </a:r>
          </a:p>
        </p:txBody>
      </p:sp>
      <p:sp>
        <p:nvSpPr>
          <p:cNvPr id="11" name="TextBox 11"/>
          <p:cNvSpPr txBox="1"/>
          <p:nvPr/>
        </p:nvSpPr>
        <p:spPr>
          <a:xfrm>
            <a:off x="992238" y="7013674"/>
            <a:ext cx="7805886"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Covers both free and paid apps analysis</a:t>
            </a:r>
          </a:p>
        </p:txBody>
      </p:sp>
      <p:sp>
        <p:nvSpPr>
          <p:cNvPr id="12" name="TextBox 12"/>
          <p:cNvSpPr txBox="1"/>
          <p:nvPr/>
        </p:nvSpPr>
        <p:spPr>
          <a:xfrm>
            <a:off x="9499401" y="3699719"/>
            <a:ext cx="4252912" cy="579239"/>
          </a:xfrm>
          <a:prstGeom prst="rect">
            <a:avLst/>
          </a:prstGeom>
        </p:spPr>
        <p:txBody>
          <a:bodyPr lIns="0" tIns="0" rIns="0" bIns="0" rtlCol="0" anchor="t">
            <a:spAutoFit/>
          </a:bodyPr>
          <a:lstStyle/>
          <a:p>
            <a:pPr algn="l">
              <a:lnSpc>
                <a:spcPts val="4125"/>
              </a:lnSpc>
            </a:pPr>
            <a:r>
              <a:rPr lang="en-US" sz="3312" b="1">
                <a:solidFill>
                  <a:srgbClr val="1D1F22"/>
                </a:solidFill>
                <a:latin typeface="Poppins Bold"/>
                <a:ea typeface="Poppins Bold"/>
                <a:cs typeface="Poppins Bold"/>
                <a:sym typeface="Poppins Bold"/>
              </a:rPr>
              <a:t>Limitations:</a:t>
            </a:r>
          </a:p>
        </p:txBody>
      </p:sp>
      <p:sp>
        <p:nvSpPr>
          <p:cNvPr id="13" name="TextBox 13"/>
          <p:cNvSpPr txBox="1"/>
          <p:nvPr/>
        </p:nvSpPr>
        <p:spPr>
          <a:xfrm>
            <a:off x="9499401" y="4448175"/>
            <a:ext cx="7805886"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Dataset is not 100% real-time</a:t>
            </a:r>
          </a:p>
        </p:txBody>
      </p:sp>
      <p:sp>
        <p:nvSpPr>
          <p:cNvPr id="14" name="TextBox 14"/>
          <p:cNvSpPr txBox="1"/>
          <p:nvPr/>
        </p:nvSpPr>
        <p:spPr>
          <a:xfrm>
            <a:off x="9499401" y="5000922"/>
            <a:ext cx="7805886" cy="1021556"/>
          </a:xfrm>
          <a:prstGeom prst="rect">
            <a:avLst/>
          </a:prstGeom>
        </p:spPr>
        <p:txBody>
          <a:bodyPr lIns="0" tIns="0" rIns="0" bIns="0" rtlCol="0" anchor="t">
            <a:spAutoFit/>
          </a:bodyPr>
          <a:lstStyle/>
          <a:p>
            <a:pPr marL="329902" lvl="1" indent="-164951" algn="l">
              <a:lnSpc>
                <a:spcPts val="3562"/>
              </a:lnSpc>
              <a:buFont typeface="Arial"/>
              <a:buChar char="•"/>
            </a:pPr>
            <a:r>
              <a:rPr lang="en-US" sz="2187" dirty="0">
                <a:solidFill>
                  <a:srgbClr val="1F4E79"/>
                </a:solidFill>
                <a:latin typeface="Poppins"/>
                <a:ea typeface="Poppins"/>
                <a:cs typeface="Poppins"/>
                <a:sym typeface="Poppins"/>
              </a:rPr>
              <a:t>Some data fields may be inaccurate (user-entered app data)</a:t>
            </a:r>
          </a:p>
        </p:txBody>
      </p:sp>
      <p:sp>
        <p:nvSpPr>
          <p:cNvPr id="15" name="TextBox 15"/>
          <p:cNvSpPr txBox="1"/>
          <p:nvPr/>
        </p:nvSpPr>
        <p:spPr>
          <a:xfrm>
            <a:off x="9499401" y="6007299"/>
            <a:ext cx="7805886" cy="1021556"/>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Limited to Google Playstore, not combined with App Store</a:t>
            </a:r>
          </a:p>
        </p:txBody>
      </p:sp>
      <p:sp>
        <p:nvSpPr>
          <p:cNvPr id="16" name="TextBox 16"/>
          <p:cNvSpPr txBox="1"/>
          <p:nvPr/>
        </p:nvSpPr>
        <p:spPr>
          <a:xfrm>
            <a:off x="9499401" y="7013674"/>
            <a:ext cx="7805886" cy="1021556"/>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Rating and install numbers are approximate, not exact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sp>
        <p:nvSpPr>
          <p:cNvPr id="6" name="TextBox 6"/>
          <p:cNvSpPr txBox="1"/>
          <p:nvPr/>
        </p:nvSpPr>
        <p:spPr>
          <a:xfrm>
            <a:off x="992238" y="885676"/>
            <a:ext cx="7088237" cy="962174"/>
          </a:xfrm>
          <a:prstGeom prst="rect">
            <a:avLst/>
          </a:prstGeom>
        </p:spPr>
        <p:txBody>
          <a:bodyPr lIns="0" tIns="0" rIns="0" bIns="0" rtlCol="0" anchor="t">
            <a:spAutoFit/>
          </a:bodyPr>
          <a:lstStyle/>
          <a:p>
            <a:pPr algn="l">
              <a:lnSpc>
                <a:spcPts val="6937"/>
              </a:lnSpc>
            </a:pPr>
            <a:r>
              <a:rPr lang="en-US" sz="5562" b="1">
                <a:solidFill>
                  <a:srgbClr val="000000"/>
                </a:solidFill>
                <a:latin typeface="Poppins Bold"/>
                <a:ea typeface="Poppins Bold"/>
                <a:cs typeface="Poppins Bold"/>
                <a:sym typeface="Poppins Bold"/>
              </a:rPr>
              <a:t>Outcome</a:t>
            </a:r>
          </a:p>
        </p:txBody>
      </p:sp>
      <p:grpSp>
        <p:nvGrpSpPr>
          <p:cNvPr id="7" name="Group 7"/>
          <p:cNvGrpSpPr/>
          <p:nvPr/>
        </p:nvGrpSpPr>
        <p:grpSpPr>
          <a:xfrm>
            <a:off x="987475" y="2410122"/>
            <a:ext cx="647402" cy="647403"/>
            <a:chOff x="0" y="0"/>
            <a:chExt cx="863203" cy="863203"/>
          </a:xfrm>
        </p:grpSpPr>
        <p:sp>
          <p:nvSpPr>
            <p:cNvPr id="8" name="Freeform 8"/>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1F2D9"/>
            </a:solidFill>
          </p:spPr>
        </p:sp>
        <p:sp>
          <p:nvSpPr>
            <p:cNvPr id="9" name="Freeform 9"/>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7D8BF"/>
            </a:solidFill>
          </p:spPr>
        </p:sp>
      </p:grpSp>
      <p:sp>
        <p:nvSpPr>
          <p:cNvPr id="10" name="TextBox 10"/>
          <p:cNvSpPr txBox="1"/>
          <p:nvPr/>
        </p:nvSpPr>
        <p:spPr>
          <a:xfrm>
            <a:off x="1913632" y="2420391"/>
            <a:ext cx="9305628" cy="579239"/>
          </a:xfrm>
          <a:prstGeom prst="rect">
            <a:avLst/>
          </a:prstGeom>
        </p:spPr>
        <p:txBody>
          <a:bodyPr lIns="0" tIns="0" rIns="0" bIns="0" rtlCol="0" anchor="t">
            <a:spAutoFit/>
          </a:bodyPr>
          <a:lstStyle/>
          <a:p>
            <a:pPr algn="l">
              <a:lnSpc>
                <a:spcPts val="4125"/>
              </a:lnSpc>
            </a:pPr>
            <a:r>
              <a:rPr lang="en-US" sz="3312" b="1">
                <a:solidFill>
                  <a:srgbClr val="1F4E79"/>
                </a:solidFill>
                <a:latin typeface="Poppins Bold"/>
                <a:ea typeface="Poppins Bold"/>
                <a:cs typeface="Poppins Bold"/>
                <a:sym typeface="Poppins Bold"/>
              </a:rPr>
              <a:t>Helped identify top-performing categories</a:t>
            </a:r>
          </a:p>
        </p:txBody>
      </p:sp>
      <p:grpSp>
        <p:nvGrpSpPr>
          <p:cNvPr id="11" name="Group 11"/>
          <p:cNvGrpSpPr/>
          <p:nvPr/>
        </p:nvGrpSpPr>
        <p:grpSpPr>
          <a:xfrm>
            <a:off x="987475" y="3615035"/>
            <a:ext cx="647402" cy="647402"/>
            <a:chOff x="0" y="0"/>
            <a:chExt cx="863203" cy="863203"/>
          </a:xfrm>
        </p:grpSpPr>
        <p:sp>
          <p:nvSpPr>
            <p:cNvPr id="12" name="Freeform 12"/>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1F2D9"/>
            </a:solidFill>
          </p:spPr>
        </p:sp>
        <p:sp>
          <p:nvSpPr>
            <p:cNvPr id="13" name="Freeform 13"/>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7D8BF"/>
            </a:solidFill>
          </p:spPr>
        </p:sp>
      </p:grpSp>
      <p:sp>
        <p:nvSpPr>
          <p:cNvPr id="14" name="TextBox 14"/>
          <p:cNvSpPr txBox="1"/>
          <p:nvPr/>
        </p:nvSpPr>
        <p:spPr>
          <a:xfrm>
            <a:off x="1913632" y="3625304"/>
            <a:ext cx="12223402" cy="579239"/>
          </a:xfrm>
          <a:prstGeom prst="rect">
            <a:avLst/>
          </a:prstGeom>
        </p:spPr>
        <p:txBody>
          <a:bodyPr lIns="0" tIns="0" rIns="0" bIns="0" rtlCol="0" anchor="t">
            <a:spAutoFit/>
          </a:bodyPr>
          <a:lstStyle/>
          <a:p>
            <a:pPr algn="l">
              <a:lnSpc>
                <a:spcPts val="4125"/>
              </a:lnSpc>
            </a:pPr>
            <a:r>
              <a:rPr lang="en-US" sz="3312" b="1">
                <a:solidFill>
                  <a:srgbClr val="1F4E79"/>
                </a:solidFill>
                <a:latin typeface="Poppins Bold"/>
                <a:ea typeface="Poppins Bold"/>
                <a:cs typeface="Poppins Bold"/>
                <a:sym typeface="Poppins Bold"/>
              </a:rPr>
              <a:t>Showed which apps gain high installs with fewer ratings</a:t>
            </a:r>
          </a:p>
        </p:txBody>
      </p:sp>
      <p:grpSp>
        <p:nvGrpSpPr>
          <p:cNvPr id="15" name="Group 15"/>
          <p:cNvGrpSpPr/>
          <p:nvPr/>
        </p:nvGrpSpPr>
        <p:grpSpPr>
          <a:xfrm>
            <a:off x="987475" y="4819947"/>
            <a:ext cx="647402" cy="647403"/>
            <a:chOff x="0" y="0"/>
            <a:chExt cx="863203" cy="863203"/>
          </a:xfrm>
        </p:grpSpPr>
        <p:sp>
          <p:nvSpPr>
            <p:cNvPr id="16" name="Freeform 16"/>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1F2D9"/>
            </a:solidFill>
          </p:spPr>
        </p:sp>
        <p:sp>
          <p:nvSpPr>
            <p:cNvPr id="17" name="Freeform 17"/>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7D8BF"/>
            </a:solidFill>
          </p:spPr>
        </p:sp>
      </p:grpSp>
      <p:sp>
        <p:nvSpPr>
          <p:cNvPr id="18" name="TextBox 18"/>
          <p:cNvSpPr txBox="1"/>
          <p:nvPr/>
        </p:nvSpPr>
        <p:spPr>
          <a:xfrm>
            <a:off x="1913632" y="4830216"/>
            <a:ext cx="11739860" cy="579239"/>
          </a:xfrm>
          <a:prstGeom prst="rect">
            <a:avLst/>
          </a:prstGeom>
        </p:spPr>
        <p:txBody>
          <a:bodyPr lIns="0" tIns="0" rIns="0" bIns="0" rtlCol="0" anchor="t">
            <a:spAutoFit/>
          </a:bodyPr>
          <a:lstStyle/>
          <a:p>
            <a:pPr algn="l">
              <a:lnSpc>
                <a:spcPts val="4125"/>
              </a:lnSpc>
            </a:pPr>
            <a:r>
              <a:rPr lang="en-US" sz="3312" b="1">
                <a:solidFill>
                  <a:srgbClr val="1F4E79"/>
                </a:solidFill>
                <a:latin typeface="Poppins Bold"/>
                <a:ea typeface="Poppins Bold"/>
                <a:cs typeface="Poppins Bold"/>
                <a:sym typeface="Poppins Bold"/>
              </a:rPr>
              <a:t>Revealed market share distribution across categories</a:t>
            </a:r>
          </a:p>
        </p:txBody>
      </p:sp>
      <p:grpSp>
        <p:nvGrpSpPr>
          <p:cNvPr id="19" name="Group 19"/>
          <p:cNvGrpSpPr/>
          <p:nvPr/>
        </p:nvGrpSpPr>
        <p:grpSpPr>
          <a:xfrm>
            <a:off x="987475" y="6024860"/>
            <a:ext cx="647402" cy="647403"/>
            <a:chOff x="0" y="0"/>
            <a:chExt cx="863203" cy="863203"/>
          </a:xfrm>
        </p:grpSpPr>
        <p:sp>
          <p:nvSpPr>
            <p:cNvPr id="20" name="Freeform 20"/>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1F2D9"/>
            </a:solidFill>
          </p:spPr>
        </p:sp>
        <p:sp>
          <p:nvSpPr>
            <p:cNvPr id="21" name="Freeform 21"/>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7D8BF"/>
            </a:solidFill>
          </p:spPr>
        </p:sp>
      </p:grpSp>
      <p:sp>
        <p:nvSpPr>
          <p:cNvPr id="22" name="TextBox 22"/>
          <p:cNvSpPr txBox="1"/>
          <p:nvPr/>
        </p:nvSpPr>
        <p:spPr>
          <a:xfrm>
            <a:off x="1913632" y="6035129"/>
            <a:ext cx="14296579" cy="579239"/>
          </a:xfrm>
          <a:prstGeom prst="rect">
            <a:avLst/>
          </a:prstGeom>
        </p:spPr>
        <p:txBody>
          <a:bodyPr lIns="0" tIns="0" rIns="0" bIns="0" rtlCol="0" anchor="t">
            <a:spAutoFit/>
          </a:bodyPr>
          <a:lstStyle/>
          <a:p>
            <a:pPr algn="l">
              <a:lnSpc>
                <a:spcPts val="4125"/>
              </a:lnSpc>
            </a:pPr>
            <a:r>
              <a:rPr lang="en-US" sz="3312" b="1">
                <a:solidFill>
                  <a:srgbClr val="1F4E79"/>
                </a:solidFill>
                <a:latin typeface="Poppins Bold"/>
                <a:ea typeface="Poppins Bold"/>
                <a:cs typeface="Poppins Bold"/>
                <a:sym typeface="Poppins Bold"/>
              </a:rPr>
              <a:t>Highlighted the difference between Free vs Paid app performance</a:t>
            </a:r>
          </a:p>
        </p:txBody>
      </p:sp>
      <p:grpSp>
        <p:nvGrpSpPr>
          <p:cNvPr id="23" name="Group 23"/>
          <p:cNvGrpSpPr/>
          <p:nvPr/>
        </p:nvGrpSpPr>
        <p:grpSpPr>
          <a:xfrm>
            <a:off x="987475" y="7229772"/>
            <a:ext cx="647402" cy="647403"/>
            <a:chOff x="0" y="0"/>
            <a:chExt cx="863203" cy="863203"/>
          </a:xfrm>
        </p:grpSpPr>
        <p:sp>
          <p:nvSpPr>
            <p:cNvPr id="24" name="Freeform 24"/>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1F2D9"/>
            </a:solidFill>
          </p:spPr>
        </p:sp>
        <p:sp>
          <p:nvSpPr>
            <p:cNvPr id="25" name="Freeform 25"/>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7D8BF"/>
            </a:solidFill>
          </p:spPr>
        </p:sp>
      </p:grpSp>
      <p:sp>
        <p:nvSpPr>
          <p:cNvPr id="26" name="TextBox 26"/>
          <p:cNvSpPr txBox="1"/>
          <p:nvPr/>
        </p:nvSpPr>
        <p:spPr>
          <a:xfrm>
            <a:off x="1913632" y="7240041"/>
            <a:ext cx="14843820" cy="579239"/>
          </a:xfrm>
          <a:prstGeom prst="rect">
            <a:avLst/>
          </a:prstGeom>
        </p:spPr>
        <p:txBody>
          <a:bodyPr lIns="0" tIns="0" rIns="0" bIns="0" rtlCol="0" anchor="t">
            <a:spAutoFit/>
          </a:bodyPr>
          <a:lstStyle/>
          <a:p>
            <a:pPr algn="l">
              <a:lnSpc>
                <a:spcPts val="4125"/>
              </a:lnSpc>
            </a:pPr>
            <a:r>
              <a:rPr lang="en-US" sz="3312" b="1">
                <a:solidFill>
                  <a:srgbClr val="1F4E79"/>
                </a:solidFill>
                <a:latin typeface="Poppins Bold"/>
                <a:ea typeface="Poppins Bold"/>
                <a:cs typeface="Poppins Bold"/>
                <a:sym typeface="Poppins Bold"/>
              </a:rPr>
              <a:t>Provided a clear understanding of user engagement and app trends</a:t>
            </a:r>
          </a:p>
        </p:txBody>
      </p:sp>
      <p:sp>
        <p:nvSpPr>
          <p:cNvPr id="27" name="TextBox 27"/>
          <p:cNvSpPr txBox="1"/>
          <p:nvPr/>
        </p:nvSpPr>
        <p:spPr>
          <a:xfrm>
            <a:off x="992238" y="8048476"/>
            <a:ext cx="16303526" cy="1276647"/>
          </a:xfrm>
          <a:prstGeom prst="rect">
            <a:avLst/>
          </a:prstGeom>
        </p:spPr>
        <p:txBody>
          <a:bodyPr lIns="0" tIns="0" rIns="0" bIns="0" rtlCol="0" anchor="t">
            <a:spAutoFit/>
          </a:bodyPr>
          <a:lstStyle/>
          <a:p>
            <a:pPr algn="l">
              <a:lnSpc>
                <a:spcPts val="4437"/>
              </a:lnSpc>
            </a:pPr>
            <a:r>
              <a:rPr lang="en-US" sz="2750">
                <a:solidFill>
                  <a:srgbClr val="1F4E79"/>
                </a:solidFill>
                <a:latin typeface="Poppins"/>
                <a:ea typeface="Poppins"/>
                <a:cs typeface="Poppins"/>
                <a:sym typeface="Poppins"/>
              </a:rPr>
              <a:t>This dashboard can be presented in interviews as a complete end-to-end project explaining your understanding of data cleaning, modeling, and visualization.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txBody>
            <a:bodyPr/>
            <a:lstStyle/>
            <a:p>
              <a:endParaRPr lang="en-IN" dirty="0"/>
            </a:p>
          </p:txBody>
        </p:sp>
      </p:grpSp>
      <p:sp>
        <p:nvSpPr>
          <p:cNvPr id="6" name="TextBox 6"/>
          <p:cNvSpPr txBox="1"/>
          <p:nvPr/>
        </p:nvSpPr>
        <p:spPr>
          <a:xfrm>
            <a:off x="992238" y="1638597"/>
            <a:ext cx="8031956" cy="962174"/>
          </a:xfrm>
          <a:prstGeom prst="rect">
            <a:avLst/>
          </a:prstGeom>
        </p:spPr>
        <p:txBody>
          <a:bodyPr lIns="0" tIns="0" rIns="0" bIns="0" rtlCol="0" anchor="t">
            <a:spAutoFit/>
          </a:bodyPr>
          <a:lstStyle/>
          <a:p>
            <a:pPr algn="l">
              <a:lnSpc>
                <a:spcPts val="6937"/>
              </a:lnSpc>
            </a:pPr>
            <a:r>
              <a:rPr lang="en-US" sz="5562" b="1">
                <a:solidFill>
                  <a:srgbClr val="000000"/>
                </a:solidFill>
                <a:latin typeface="Poppins Bold"/>
                <a:ea typeface="Poppins Bold"/>
                <a:cs typeface="Poppins Bold"/>
                <a:sym typeface="Poppins Bold"/>
              </a:rPr>
              <a:t>Future Enhancements</a:t>
            </a:r>
          </a:p>
        </p:txBody>
      </p:sp>
      <p:sp>
        <p:nvSpPr>
          <p:cNvPr id="7" name="TextBox 7"/>
          <p:cNvSpPr txBox="1"/>
          <p:nvPr/>
        </p:nvSpPr>
        <p:spPr>
          <a:xfrm>
            <a:off x="992238" y="3053506"/>
            <a:ext cx="283518" cy="468660"/>
          </a:xfrm>
          <a:prstGeom prst="rect">
            <a:avLst/>
          </a:prstGeom>
        </p:spPr>
        <p:txBody>
          <a:bodyPr lIns="0" tIns="0" rIns="0" bIns="0" rtlCol="0" anchor="t">
            <a:spAutoFit/>
          </a:bodyPr>
          <a:lstStyle/>
          <a:p>
            <a:pPr algn="l">
              <a:lnSpc>
                <a:spcPts val="3562"/>
              </a:lnSpc>
            </a:pPr>
            <a:r>
              <a:rPr lang="en-US" sz="2187">
                <a:solidFill>
                  <a:srgbClr val="1F4E79"/>
                </a:solidFill>
                <a:latin typeface="Poppins Light"/>
                <a:ea typeface="Poppins Light"/>
                <a:cs typeface="Poppins Light"/>
                <a:sym typeface="Poppins Light"/>
              </a:rPr>
              <a:t>01</a:t>
            </a:r>
          </a:p>
        </p:txBody>
      </p:sp>
      <p:grpSp>
        <p:nvGrpSpPr>
          <p:cNvPr id="8" name="Group 8"/>
          <p:cNvGrpSpPr/>
          <p:nvPr/>
        </p:nvGrpSpPr>
        <p:grpSpPr>
          <a:xfrm>
            <a:off x="992238" y="3611612"/>
            <a:ext cx="8009930" cy="38100"/>
            <a:chOff x="0" y="0"/>
            <a:chExt cx="10679907" cy="50800"/>
          </a:xfrm>
        </p:grpSpPr>
        <p:sp>
          <p:nvSpPr>
            <p:cNvPr id="9" name="Freeform 9"/>
            <p:cNvSpPr/>
            <p:nvPr/>
          </p:nvSpPr>
          <p:spPr>
            <a:xfrm>
              <a:off x="0" y="0"/>
              <a:ext cx="10679938" cy="50800"/>
            </a:xfrm>
            <a:custGeom>
              <a:avLst/>
              <a:gdLst/>
              <a:ahLst/>
              <a:cxnLst/>
              <a:rect l="l" t="t" r="r" b="b"/>
              <a:pathLst>
                <a:path w="10679938" h="50800">
                  <a:moveTo>
                    <a:pt x="0" y="0"/>
                  </a:moveTo>
                  <a:lnTo>
                    <a:pt x="10679938" y="0"/>
                  </a:lnTo>
                  <a:lnTo>
                    <a:pt x="10679938" y="50800"/>
                  </a:lnTo>
                  <a:lnTo>
                    <a:pt x="0" y="50800"/>
                  </a:lnTo>
                  <a:close/>
                </a:path>
              </a:pathLst>
            </a:custGeom>
            <a:solidFill>
              <a:srgbClr val="5AA43B"/>
            </a:solidFill>
          </p:spPr>
        </p:sp>
      </p:grpSp>
      <p:sp>
        <p:nvSpPr>
          <p:cNvPr id="10" name="TextBox 10"/>
          <p:cNvSpPr txBox="1"/>
          <p:nvPr/>
        </p:nvSpPr>
        <p:spPr>
          <a:xfrm>
            <a:off x="992238" y="3781871"/>
            <a:ext cx="8009930" cy="933450"/>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Add time-series analysis using Last Updated</a:t>
            </a:r>
          </a:p>
        </p:txBody>
      </p:sp>
      <p:sp>
        <p:nvSpPr>
          <p:cNvPr id="11" name="TextBox 11"/>
          <p:cNvSpPr txBox="1"/>
          <p:nvPr/>
        </p:nvSpPr>
        <p:spPr>
          <a:xfrm>
            <a:off x="9285684" y="3053507"/>
            <a:ext cx="467915" cy="425946"/>
          </a:xfrm>
          <a:prstGeom prst="rect">
            <a:avLst/>
          </a:prstGeom>
        </p:spPr>
        <p:txBody>
          <a:bodyPr wrap="square" lIns="0" tIns="0" rIns="0" bIns="0" rtlCol="0" anchor="t">
            <a:spAutoFit/>
          </a:bodyPr>
          <a:lstStyle/>
          <a:p>
            <a:pPr algn="l">
              <a:lnSpc>
                <a:spcPts val="3562"/>
              </a:lnSpc>
            </a:pPr>
            <a:r>
              <a:rPr lang="en-US" sz="2187" dirty="0">
                <a:solidFill>
                  <a:srgbClr val="1F4E79"/>
                </a:solidFill>
                <a:latin typeface="Poppins Light"/>
                <a:ea typeface="Poppins Light"/>
                <a:cs typeface="Poppins Light"/>
                <a:sym typeface="Poppins Light"/>
              </a:rPr>
              <a:t>02</a:t>
            </a:r>
          </a:p>
        </p:txBody>
      </p:sp>
      <p:grpSp>
        <p:nvGrpSpPr>
          <p:cNvPr id="12" name="Group 12"/>
          <p:cNvGrpSpPr/>
          <p:nvPr/>
        </p:nvGrpSpPr>
        <p:grpSpPr>
          <a:xfrm>
            <a:off x="9285685" y="3611612"/>
            <a:ext cx="8010079" cy="38100"/>
            <a:chOff x="0" y="0"/>
            <a:chExt cx="10680105" cy="50800"/>
          </a:xfrm>
        </p:grpSpPr>
        <p:sp>
          <p:nvSpPr>
            <p:cNvPr id="13" name="Freeform 13"/>
            <p:cNvSpPr/>
            <p:nvPr/>
          </p:nvSpPr>
          <p:spPr>
            <a:xfrm>
              <a:off x="0" y="0"/>
              <a:ext cx="10680065" cy="50800"/>
            </a:xfrm>
            <a:custGeom>
              <a:avLst/>
              <a:gdLst/>
              <a:ahLst/>
              <a:cxnLst/>
              <a:rect l="l" t="t" r="r" b="b"/>
              <a:pathLst>
                <a:path w="10680065" h="50800">
                  <a:moveTo>
                    <a:pt x="0" y="0"/>
                  </a:moveTo>
                  <a:lnTo>
                    <a:pt x="10680065" y="0"/>
                  </a:lnTo>
                  <a:lnTo>
                    <a:pt x="10680065" y="50800"/>
                  </a:lnTo>
                  <a:lnTo>
                    <a:pt x="0" y="50800"/>
                  </a:lnTo>
                  <a:close/>
                </a:path>
              </a:pathLst>
            </a:custGeom>
            <a:solidFill>
              <a:srgbClr val="5AA43B"/>
            </a:solidFill>
          </p:spPr>
        </p:sp>
      </p:grpSp>
      <p:sp>
        <p:nvSpPr>
          <p:cNvPr id="14" name="TextBox 14"/>
          <p:cNvSpPr txBox="1"/>
          <p:nvPr/>
        </p:nvSpPr>
        <p:spPr>
          <a:xfrm>
            <a:off x="9285685" y="3781871"/>
            <a:ext cx="8010079" cy="861774"/>
          </a:xfrm>
          <a:prstGeom prst="rect">
            <a:avLst/>
          </a:prstGeom>
        </p:spPr>
        <p:txBody>
          <a:bodyPr lIns="0" tIns="0" rIns="0" bIns="0" rtlCol="0" anchor="t">
            <a:spAutoFit/>
          </a:bodyPr>
          <a:lstStyle/>
          <a:p>
            <a:pPr algn="l">
              <a:lnSpc>
                <a:spcPts val="3437"/>
              </a:lnSpc>
            </a:pPr>
            <a:r>
              <a:rPr lang="en-US" sz="2750" b="1" dirty="0">
                <a:solidFill>
                  <a:srgbClr val="1F4E79"/>
                </a:solidFill>
                <a:latin typeface="Poppins Bold"/>
                <a:ea typeface="Poppins Bold"/>
                <a:cs typeface="Poppins Bold"/>
                <a:sym typeface="Poppins Bold"/>
              </a:rPr>
              <a:t>Combine Google Play store &amp; Apple Store datasets for cross-market insights</a:t>
            </a:r>
          </a:p>
        </p:txBody>
      </p:sp>
      <p:sp>
        <p:nvSpPr>
          <p:cNvPr id="15" name="TextBox 15"/>
          <p:cNvSpPr txBox="1"/>
          <p:nvPr/>
        </p:nvSpPr>
        <p:spPr>
          <a:xfrm>
            <a:off x="992238" y="5097066"/>
            <a:ext cx="379362" cy="424796"/>
          </a:xfrm>
          <a:prstGeom prst="rect">
            <a:avLst/>
          </a:prstGeom>
        </p:spPr>
        <p:txBody>
          <a:bodyPr wrap="square" lIns="0" tIns="0" rIns="0" bIns="0" rtlCol="0" anchor="t">
            <a:spAutoFit/>
          </a:bodyPr>
          <a:lstStyle/>
          <a:p>
            <a:pPr algn="l">
              <a:lnSpc>
                <a:spcPts val="3562"/>
              </a:lnSpc>
            </a:pPr>
            <a:r>
              <a:rPr lang="en-US" sz="2187" dirty="0">
                <a:solidFill>
                  <a:srgbClr val="1F4E79"/>
                </a:solidFill>
                <a:latin typeface="Poppins Light"/>
                <a:ea typeface="Poppins Light"/>
                <a:cs typeface="Poppins Light"/>
                <a:sym typeface="Poppins Light"/>
              </a:rPr>
              <a:t>03</a:t>
            </a:r>
          </a:p>
        </p:txBody>
      </p:sp>
      <p:grpSp>
        <p:nvGrpSpPr>
          <p:cNvPr id="16" name="Group 16"/>
          <p:cNvGrpSpPr/>
          <p:nvPr/>
        </p:nvGrpSpPr>
        <p:grpSpPr>
          <a:xfrm>
            <a:off x="992238" y="5655171"/>
            <a:ext cx="8009930" cy="38100"/>
            <a:chOff x="0" y="0"/>
            <a:chExt cx="10679907" cy="50800"/>
          </a:xfrm>
        </p:grpSpPr>
        <p:sp>
          <p:nvSpPr>
            <p:cNvPr id="17" name="Freeform 17"/>
            <p:cNvSpPr/>
            <p:nvPr/>
          </p:nvSpPr>
          <p:spPr>
            <a:xfrm>
              <a:off x="0" y="0"/>
              <a:ext cx="10679938" cy="50800"/>
            </a:xfrm>
            <a:custGeom>
              <a:avLst/>
              <a:gdLst/>
              <a:ahLst/>
              <a:cxnLst/>
              <a:rect l="l" t="t" r="r" b="b"/>
              <a:pathLst>
                <a:path w="10679938" h="50800">
                  <a:moveTo>
                    <a:pt x="0" y="0"/>
                  </a:moveTo>
                  <a:lnTo>
                    <a:pt x="10679938" y="0"/>
                  </a:lnTo>
                  <a:lnTo>
                    <a:pt x="10679938" y="50800"/>
                  </a:lnTo>
                  <a:lnTo>
                    <a:pt x="0" y="50800"/>
                  </a:lnTo>
                  <a:close/>
                </a:path>
              </a:pathLst>
            </a:custGeom>
            <a:solidFill>
              <a:srgbClr val="5AA43B"/>
            </a:solidFill>
          </p:spPr>
        </p:sp>
      </p:grpSp>
      <p:sp>
        <p:nvSpPr>
          <p:cNvPr id="18" name="TextBox 18"/>
          <p:cNvSpPr txBox="1"/>
          <p:nvPr/>
        </p:nvSpPr>
        <p:spPr>
          <a:xfrm>
            <a:off x="992238" y="5825430"/>
            <a:ext cx="6858297" cy="490537"/>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Include sentiment analysis of reviews</a:t>
            </a:r>
          </a:p>
        </p:txBody>
      </p:sp>
      <p:sp>
        <p:nvSpPr>
          <p:cNvPr id="19" name="TextBox 19"/>
          <p:cNvSpPr txBox="1"/>
          <p:nvPr/>
        </p:nvSpPr>
        <p:spPr>
          <a:xfrm>
            <a:off x="9285685" y="5097066"/>
            <a:ext cx="467914" cy="424796"/>
          </a:xfrm>
          <a:prstGeom prst="rect">
            <a:avLst/>
          </a:prstGeom>
        </p:spPr>
        <p:txBody>
          <a:bodyPr wrap="square" lIns="0" tIns="0" rIns="0" bIns="0" rtlCol="0" anchor="t">
            <a:spAutoFit/>
          </a:bodyPr>
          <a:lstStyle/>
          <a:p>
            <a:pPr algn="l">
              <a:lnSpc>
                <a:spcPts val="3562"/>
              </a:lnSpc>
            </a:pPr>
            <a:r>
              <a:rPr lang="en-US" sz="2187" dirty="0">
                <a:solidFill>
                  <a:srgbClr val="1F4E79"/>
                </a:solidFill>
                <a:latin typeface="Poppins Light"/>
                <a:ea typeface="Poppins Light"/>
                <a:cs typeface="Poppins Light"/>
                <a:sym typeface="Poppins Light"/>
              </a:rPr>
              <a:t>04</a:t>
            </a:r>
          </a:p>
        </p:txBody>
      </p:sp>
      <p:grpSp>
        <p:nvGrpSpPr>
          <p:cNvPr id="20" name="Group 20"/>
          <p:cNvGrpSpPr/>
          <p:nvPr/>
        </p:nvGrpSpPr>
        <p:grpSpPr>
          <a:xfrm>
            <a:off x="9285685" y="5655171"/>
            <a:ext cx="8010079" cy="38100"/>
            <a:chOff x="0" y="0"/>
            <a:chExt cx="10680105" cy="50800"/>
          </a:xfrm>
        </p:grpSpPr>
        <p:sp>
          <p:nvSpPr>
            <p:cNvPr id="21" name="Freeform 21"/>
            <p:cNvSpPr/>
            <p:nvPr/>
          </p:nvSpPr>
          <p:spPr>
            <a:xfrm>
              <a:off x="0" y="0"/>
              <a:ext cx="10680065" cy="50800"/>
            </a:xfrm>
            <a:custGeom>
              <a:avLst/>
              <a:gdLst/>
              <a:ahLst/>
              <a:cxnLst/>
              <a:rect l="l" t="t" r="r" b="b"/>
              <a:pathLst>
                <a:path w="10680065" h="50800">
                  <a:moveTo>
                    <a:pt x="0" y="0"/>
                  </a:moveTo>
                  <a:lnTo>
                    <a:pt x="10680065" y="0"/>
                  </a:lnTo>
                  <a:lnTo>
                    <a:pt x="10680065" y="50800"/>
                  </a:lnTo>
                  <a:lnTo>
                    <a:pt x="0" y="50800"/>
                  </a:lnTo>
                  <a:close/>
                </a:path>
              </a:pathLst>
            </a:custGeom>
            <a:solidFill>
              <a:srgbClr val="5AA43B"/>
            </a:solidFill>
          </p:spPr>
        </p:sp>
      </p:grpSp>
      <p:sp>
        <p:nvSpPr>
          <p:cNvPr id="22" name="TextBox 22"/>
          <p:cNvSpPr txBox="1"/>
          <p:nvPr/>
        </p:nvSpPr>
        <p:spPr>
          <a:xfrm>
            <a:off x="9285685" y="5825430"/>
            <a:ext cx="6240959" cy="490537"/>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Add a prediction model for installs</a:t>
            </a:r>
          </a:p>
        </p:txBody>
      </p:sp>
      <p:sp>
        <p:nvSpPr>
          <p:cNvPr id="23" name="TextBox 23"/>
          <p:cNvSpPr txBox="1"/>
          <p:nvPr/>
        </p:nvSpPr>
        <p:spPr>
          <a:xfrm>
            <a:off x="992238" y="6697712"/>
            <a:ext cx="379362" cy="424796"/>
          </a:xfrm>
          <a:prstGeom prst="rect">
            <a:avLst/>
          </a:prstGeom>
        </p:spPr>
        <p:txBody>
          <a:bodyPr wrap="square" lIns="0" tIns="0" rIns="0" bIns="0" rtlCol="0" anchor="t">
            <a:spAutoFit/>
          </a:bodyPr>
          <a:lstStyle/>
          <a:p>
            <a:pPr algn="l">
              <a:lnSpc>
                <a:spcPts val="3562"/>
              </a:lnSpc>
            </a:pPr>
            <a:r>
              <a:rPr lang="en-US" sz="2187" dirty="0">
                <a:solidFill>
                  <a:srgbClr val="1F4E79"/>
                </a:solidFill>
                <a:latin typeface="Poppins Light"/>
                <a:ea typeface="Poppins Light"/>
                <a:cs typeface="Poppins Light"/>
                <a:sym typeface="Poppins Light"/>
              </a:rPr>
              <a:t>05</a:t>
            </a:r>
          </a:p>
        </p:txBody>
      </p:sp>
      <p:grpSp>
        <p:nvGrpSpPr>
          <p:cNvPr id="24" name="Group 24"/>
          <p:cNvGrpSpPr/>
          <p:nvPr/>
        </p:nvGrpSpPr>
        <p:grpSpPr>
          <a:xfrm>
            <a:off x="992238" y="7255817"/>
            <a:ext cx="8009930" cy="38100"/>
            <a:chOff x="0" y="0"/>
            <a:chExt cx="10679907" cy="50800"/>
          </a:xfrm>
        </p:grpSpPr>
        <p:sp>
          <p:nvSpPr>
            <p:cNvPr id="25" name="Freeform 25"/>
            <p:cNvSpPr/>
            <p:nvPr/>
          </p:nvSpPr>
          <p:spPr>
            <a:xfrm>
              <a:off x="0" y="0"/>
              <a:ext cx="10679938" cy="50800"/>
            </a:xfrm>
            <a:custGeom>
              <a:avLst/>
              <a:gdLst/>
              <a:ahLst/>
              <a:cxnLst/>
              <a:rect l="l" t="t" r="r" b="b"/>
              <a:pathLst>
                <a:path w="10679938" h="50800">
                  <a:moveTo>
                    <a:pt x="0" y="0"/>
                  </a:moveTo>
                  <a:lnTo>
                    <a:pt x="10679938" y="0"/>
                  </a:lnTo>
                  <a:lnTo>
                    <a:pt x="10679938" y="50800"/>
                  </a:lnTo>
                  <a:lnTo>
                    <a:pt x="0" y="50800"/>
                  </a:lnTo>
                  <a:close/>
                </a:path>
              </a:pathLst>
            </a:custGeom>
            <a:solidFill>
              <a:srgbClr val="5AA43B"/>
            </a:solidFill>
          </p:spPr>
        </p:sp>
      </p:grpSp>
      <p:sp>
        <p:nvSpPr>
          <p:cNvPr id="26" name="TextBox 26"/>
          <p:cNvSpPr txBox="1"/>
          <p:nvPr/>
        </p:nvSpPr>
        <p:spPr>
          <a:xfrm>
            <a:off x="992238" y="7426077"/>
            <a:ext cx="8009930" cy="933450"/>
          </a:xfrm>
          <a:prstGeom prst="rect">
            <a:avLst/>
          </a:prstGeom>
        </p:spPr>
        <p:txBody>
          <a:bodyPr lIns="0" tIns="0" rIns="0" bIns="0" rtlCol="0" anchor="t">
            <a:spAutoFit/>
          </a:bodyPr>
          <a:lstStyle/>
          <a:p>
            <a:pPr algn="l">
              <a:lnSpc>
                <a:spcPts val="3437"/>
              </a:lnSpc>
            </a:pPr>
            <a:r>
              <a:rPr lang="en-US" sz="2750" b="1" dirty="0">
                <a:solidFill>
                  <a:srgbClr val="1F4E79"/>
                </a:solidFill>
                <a:latin typeface="Poppins Bold"/>
                <a:ea typeface="Poppins Bold"/>
                <a:cs typeface="Poppins Bold"/>
                <a:sym typeface="Poppins Bold"/>
              </a:rPr>
              <a:t>Add bookmark navigation for professional storytelling</a:t>
            </a:r>
          </a:p>
        </p:txBody>
      </p:sp>
      <p:sp>
        <p:nvSpPr>
          <p:cNvPr id="27" name="TextBox 27"/>
          <p:cNvSpPr txBox="1"/>
          <p:nvPr/>
        </p:nvSpPr>
        <p:spPr>
          <a:xfrm>
            <a:off x="9285684" y="6697712"/>
            <a:ext cx="467913" cy="424796"/>
          </a:xfrm>
          <a:prstGeom prst="rect">
            <a:avLst/>
          </a:prstGeom>
        </p:spPr>
        <p:txBody>
          <a:bodyPr wrap="square" lIns="0" tIns="0" rIns="0" bIns="0" rtlCol="0" anchor="t">
            <a:spAutoFit/>
          </a:bodyPr>
          <a:lstStyle/>
          <a:p>
            <a:pPr algn="l">
              <a:lnSpc>
                <a:spcPts val="3562"/>
              </a:lnSpc>
            </a:pPr>
            <a:r>
              <a:rPr lang="en-US" sz="2187" dirty="0">
                <a:solidFill>
                  <a:srgbClr val="1F4E79"/>
                </a:solidFill>
                <a:latin typeface="Poppins Light"/>
                <a:ea typeface="Poppins Light"/>
                <a:cs typeface="Poppins Light"/>
                <a:sym typeface="Poppins Light"/>
              </a:rPr>
              <a:t>06</a:t>
            </a:r>
          </a:p>
        </p:txBody>
      </p:sp>
      <p:grpSp>
        <p:nvGrpSpPr>
          <p:cNvPr id="28" name="Group 28"/>
          <p:cNvGrpSpPr/>
          <p:nvPr/>
        </p:nvGrpSpPr>
        <p:grpSpPr>
          <a:xfrm>
            <a:off x="9285685" y="7255817"/>
            <a:ext cx="8010079" cy="38100"/>
            <a:chOff x="0" y="0"/>
            <a:chExt cx="10680105" cy="50800"/>
          </a:xfrm>
        </p:grpSpPr>
        <p:sp>
          <p:nvSpPr>
            <p:cNvPr id="29" name="Freeform 29"/>
            <p:cNvSpPr/>
            <p:nvPr/>
          </p:nvSpPr>
          <p:spPr>
            <a:xfrm>
              <a:off x="0" y="0"/>
              <a:ext cx="10680065" cy="50800"/>
            </a:xfrm>
            <a:custGeom>
              <a:avLst/>
              <a:gdLst/>
              <a:ahLst/>
              <a:cxnLst/>
              <a:rect l="l" t="t" r="r" b="b"/>
              <a:pathLst>
                <a:path w="10680065" h="50800">
                  <a:moveTo>
                    <a:pt x="0" y="0"/>
                  </a:moveTo>
                  <a:lnTo>
                    <a:pt x="10680065" y="0"/>
                  </a:lnTo>
                  <a:lnTo>
                    <a:pt x="10680065" y="50800"/>
                  </a:lnTo>
                  <a:lnTo>
                    <a:pt x="0" y="50800"/>
                  </a:lnTo>
                  <a:close/>
                </a:path>
              </a:pathLst>
            </a:custGeom>
            <a:solidFill>
              <a:srgbClr val="5AA43B"/>
            </a:solidFill>
          </p:spPr>
        </p:sp>
      </p:grpSp>
      <p:sp>
        <p:nvSpPr>
          <p:cNvPr id="30" name="TextBox 30"/>
          <p:cNvSpPr txBox="1"/>
          <p:nvPr/>
        </p:nvSpPr>
        <p:spPr>
          <a:xfrm>
            <a:off x="9285685" y="7426077"/>
            <a:ext cx="8010079" cy="933450"/>
          </a:xfrm>
          <a:prstGeom prst="rect">
            <a:avLst/>
          </a:prstGeom>
        </p:spPr>
        <p:txBody>
          <a:bodyPr lIns="0" tIns="0" rIns="0" bIns="0" rtlCol="0" anchor="t">
            <a:spAutoFit/>
          </a:bodyPr>
          <a:lstStyle/>
          <a:p>
            <a:pPr algn="l">
              <a:lnSpc>
                <a:spcPts val="3437"/>
              </a:lnSpc>
            </a:pPr>
            <a:r>
              <a:rPr lang="en-US" sz="2750" b="1" dirty="0">
                <a:solidFill>
                  <a:srgbClr val="1F4E79"/>
                </a:solidFill>
                <a:latin typeface="Poppins Bold"/>
                <a:ea typeface="Poppins Bold"/>
                <a:cs typeface="Poppins Bold"/>
                <a:sym typeface="Poppins Bold"/>
              </a:rPr>
              <a:t>Build a mobile-optimized version of the dashboard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sp>
        <p:nvSpPr>
          <p:cNvPr id="12" name="TextBox 12"/>
          <p:cNvSpPr txBox="1"/>
          <p:nvPr/>
        </p:nvSpPr>
        <p:spPr>
          <a:xfrm>
            <a:off x="992238" y="4128195"/>
            <a:ext cx="7088237" cy="962174"/>
          </a:xfrm>
          <a:prstGeom prst="rect">
            <a:avLst/>
          </a:prstGeom>
        </p:spPr>
        <p:txBody>
          <a:bodyPr lIns="0" tIns="0" rIns="0" bIns="0" rtlCol="0" anchor="t">
            <a:spAutoFit/>
          </a:bodyPr>
          <a:lstStyle/>
          <a:p>
            <a:pPr algn="l">
              <a:lnSpc>
                <a:spcPts val="6937"/>
              </a:lnSpc>
            </a:pPr>
            <a:r>
              <a:rPr lang="en-US" sz="5562" b="1">
                <a:solidFill>
                  <a:srgbClr val="000000"/>
                </a:solidFill>
                <a:latin typeface="Poppins Bold"/>
                <a:ea typeface="Poppins Bold"/>
                <a:cs typeface="Poppins Bold"/>
                <a:sym typeface="Poppins Bold"/>
              </a:rPr>
              <a:t>Thank You</a:t>
            </a:r>
          </a:p>
        </p:txBody>
      </p:sp>
      <p:sp>
        <p:nvSpPr>
          <p:cNvPr id="13" name="TextBox 13"/>
          <p:cNvSpPr txBox="1"/>
          <p:nvPr/>
        </p:nvSpPr>
        <p:spPr>
          <a:xfrm>
            <a:off x="992238" y="5372695"/>
            <a:ext cx="16303526" cy="709761"/>
          </a:xfrm>
          <a:prstGeom prst="rect">
            <a:avLst/>
          </a:prstGeom>
        </p:spPr>
        <p:txBody>
          <a:bodyPr lIns="0" tIns="0" rIns="0" bIns="0" rtlCol="0" anchor="t">
            <a:spAutoFit/>
          </a:bodyPr>
          <a:lstStyle/>
          <a:p>
            <a:pPr algn="l">
              <a:lnSpc>
                <a:spcPts val="4437"/>
              </a:lnSpc>
            </a:pPr>
            <a:r>
              <a:rPr lang="en-US" sz="2750">
                <a:solidFill>
                  <a:srgbClr val="1F4E79"/>
                </a:solidFill>
                <a:latin typeface="Poppins"/>
                <a:ea typeface="Poppins"/>
                <a:cs typeface="Poppins"/>
                <a:sym typeface="Poppins"/>
              </a:rPr>
              <a:t>We appreciate your time and attention. Feel free to reach out with 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TotalTime>
  <Words>538</Words>
  <Application>Microsoft Office PowerPoint</Application>
  <PresentationFormat>Custom</PresentationFormat>
  <Paragraphs>122</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Poppins Light</vt:lpstr>
      <vt:lpstr>Calibri</vt:lpstr>
      <vt:lpstr>Arial</vt:lpstr>
      <vt:lpstr>Poppins Bold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App-Store-Insights-Dashboard (1).pptx</dc:title>
  <dc:creator>Vinay Chary</dc:creator>
  <cp:lastModifiedBy>Vinay Chary</cp:lastModifiedBy>
  <cp:revision>9</cp:revision>
  <dcterms:created xsi:type="dcterms:W3CDTF">2006-08-16T00:00:00Z</dcterms:created>
  <dcterms:modified xsi:type="dcterms:W3CDTF">2025-11-15T16:05:29Z</dcterms:modified>
  <dc:identifier>DAG4qqjyWug</dc:identifier>
</cp:coreProperties>
</file>