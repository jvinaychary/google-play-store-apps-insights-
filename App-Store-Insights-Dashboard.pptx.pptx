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webextensions/webextension1.xml" ContentType="application/vnd.ms-office.webextension+xml"/>
  <Override PartName="/ppt/webextensions/webextension2.xml" ContentType="application/vnd.ms-office.webextension+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7" r:id="rId10"/>
    <p:sldId id="268" r:id="rId11"/>
    <p:sldId id="266" r:id="rId12"/>
  </p:sldIdLst>
  <p:sldSz cx="18288000" cy="10287000"/>
  <p:notesSz cx="6858000" cy="9144000"/>
  <p:embeddedFontLst>
    <p:embeddedFont>
      <p:font typeface="Poppins" panose="00000500000000000000" pitchFamily="2" charset="0"/>
      <p:regular r:id="rId14"/>
      <p:bold r:id="rId15"/>
    </p:embeddedFont>
    <p:embeddedFont>
      <p:font typeface="Poppins Bold" panose="020B0604020202020204" charset="0"/>
      <p:regular r:id="rId16"/>
    </p:embeddedFont>
    <p:embeddedFont>
      <p:font typeface="Poppins Light" panose="00000400000000000000" pitchFamily="2" charset="0"/>
      <p:regular r:id="rId17"/>
      <p:italic r:id="rId18"/>
    </p:embeddedFont>
    <p:embeddedFont>
      <p:font typeface="Segoe UI Light" panose="020B0502040204020203" pitchFamily="34" charset="0"/>
      <p:regular r:id="rId19"/>
      <p: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2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50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sp>
        <p:nvSpPr>
          <p:cNvPr id="10" name="TextBox 10"/>
          <p:cNvSpPr txBox="1"/>
          <p:nvPr/>
        </p:nvSpPr>
        <p:spPr>
          <a:xfrm>
            <a:off x="992238" y="1417736"/>
            <a:ext cx="7159526" cy="1848147"/>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App Store Insights Dashboard</a:t>
            </a:r>
          </a:p>
        </p:txBody>
      </p:sp>
      <p:sp>
        <p:nvSpPr>
          <p:cNvPr id="11" name="TextBox 11"/>
          <p:cNvSpPr txBox="1"/>
          <p:nvPr/>
        </p:nvSpPr>
        <p:spPr>
          <a:xfrm>
            <a:off x="992238" y="3548211"/>
            <a:ext cx="7159526" cy="5244852"/>
          </a:xfrm>
          <a:prstGeom prst="rect">
            <a:avLst/>
          </a:prstGeom>
        </p:spPr>
        <p:txBody>
          <a:bodyPr lIns="0" tIns="0" rIns="0" bIns="0" rtlCol="0" anchor="t">
            <a:spAutoFit/>
          </a:bodyPr>
          <a:lstStyle/>
          <a:p>
            <a:pPr algn="l">
              <a:lnSpc>
                <a:spcPts val="4437"/>
              </a:lnSpc>
            </a:pPr>
            <a:r>
              <a:rPr lang="en-US" sz="2750">
                <a:solidFill>
                  <a:srgbClr val="1F4E79"/>
                </a:solidFill>
                <a:latin typeface="Poppins"/>
                <a:ea typeface="Poppins"/>
                <a:cs typeface="Poppins"/>
                <a:sym typeface="Poppins"/>
              </a:rPr>
              <a:t>To analyze Google Play Store app data and extract insights on app performance, category-wise trends, user engagement, ratings, installs, pricing, and content distribution. This dashboard helps stakeholders quickly understand which apps perform well, what categories dominate the market, and how user ratings impact popularity.</a:t>
            </a:r>
          </a:p>
        </p:txBody>
      </p:sp>
      <p:pic>
        <p:nvPicPr>
          <p:cNvPr id="13" name="Picture 12">
            <a:extLst>
              <a:ext uri="{FF2B5EF4-FFF2-40B4-BE49-F238E27FC236}">
                <a16:creationId xmlns:a16="http://schemas.microsoft.com/office/drawing/2014/main" id="{0E414BC5-DA73-6408-CFB1-737788782D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99001" y="0"/>
            <a:ext cx="7788999"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6" name="TextBox 6"/>
          <p:cNvSpPr txBox="1"/>
          <p:nvPr/>
        </p:nvSpPr>
        <p:spPr>
          <a:xfrm>
            <a:off x="847725" y="589806"/>
            <a:ext cx="6055221" cy="833140"/>
          </a:xfrm>
          <a:prstGeom prst="rect">
            <a:avLst/>
          </a:prstGeom>
        </p:spPr>
        <p:txBody>
          <a:bodyPr lIns="0" tIns="0" rIns="0" bIns="0" rtlCol="0" anchor="t">
            <a:spAutoFit/>
          </a:bodyPr>
          <a:lstStyle/>
          <a:p>
            <a:pPr algn="l">
              <a:lnSpc>
                <a:spcPts val="5937"/>
              </a:lnSpc>
            </a:pPr>
            <a:r>
              <a:rPr lang="en-US" sz="4750" b="1">
                <a:solidFill>
                  <a:srgbClr val="000000"/>
                </a:solidFill>
                <a:latin typeface="Poppins Bold"/>
                <a:ea typeface="Poppins Bold"/>
                <a:cs typeface="Poppins Bold"/>
                <a:sym typeface="Poppins Bold"/>
              </a:rPr>
              <a:t>Data Description</a:t>
            </a:r>
          </a:p>
        </p:txBody>
      </p:sp>
      <p:sp>
        <p:nvSpPr>
          <p:cNvPr id="7" name="TextBox 7"/>
          <p:cNvSpPr txBox="1"/>
          <p:nvPr/>
        </p:nvSpPr>
        <p:spPr>
          <a:xfrm>
            <a:off x="847725" y="1980754"/>
            <a:ext cx="8000851" cy="955774"/>
          </a:xfrm>
          <a:prstGeom prst="rect">
            <a:avLst/>
          </a:prstGeom>
        </p:spPr>
        <p:txBody>
          <a:bodyPr lIns="0" tIns="0" rIns="0" bIns="0" rtlCol="0" anchor="t">
            <a:spAutoFit/>
          </a:bodyPr>
          <a:lstStyle/>
          <a:p>
            <a:pPr algn="l">
              <a:lnSpc>
                <a:spcPts val="3562"/>
              </a:lnSpc>
            </a:pPr>
            <a:r>
              <a:rPr lang="en-US" sz="2812" b="1">
                <a:solidFill>
                  <a:srgbClr val="000000"/>
                </a:solidFill>
                <a:latin typeface="Poppins Bold"/>
                <a:ea typeface="Poppins Bold"/>
                <a:cs typeface="Poppins Bold"/>
                <a:sym typeface="Poppins Bold"/>
              </a:rPr>
              <a:t>Dataset Source: </a:t>
            </a:r>
            <a:r>
              <a:rPr lang="en-US" sz="2812" b="1">
                <a:solidFill>
                  <a:srgbClr val="1D1F22"/>
                </a:solidFill>
                <a:latin typeface="Poppins Bold"/>
                <a:ea typeface="Poppins Bold"/>
                <a:cs typeface="Poppins Bold"/>
                <a:sym typeface="Poppins Bold"/>
              </a:rPr>
              <a:t>Google Playstore Apps – gauthamp10</a:t>
            </a:r>
          </a:p>
        </p:txBody>
      </p:sp>
      <p:sp>
        <p:nvSpPr>
          <p:cNvPr id="8" name="TextBox 8"/>
          <p:cNvSpPr txBox="1"/>
          <p:nvPr/>
        </p:nvSpPr>
        <p:spPr>
          <a:xfrm>
            <a:off x="847725" y="3083421"/>
            <a:ext cx="8000851" cy="482650"/>
          </a:xfrm>
          <a:prstGeom prst="rect">
            <a:avLst/>
          </a:prstGeom>
        </p:spPr>
        <p:txBody>
          <a:bodyPr lIns="0" tIns="0" rIns="0" bIns="0" rtlCol="0" anchor="t">
            <a:spAutoFit/>
          </a:bodyPr>
          <a:lstStyle/>
          <a:p>
            <a:pPr algn="l">
              <a:lnSpc>
                <a:spcPts val="3000"/>
              </a:lnSpc>
            </a:pPr>
            <a:r>
              <a:rPr lang="en-US" sz="1874" b="1">
                <a:solidFill>
                  <a:srgbClr val="1F4E79"/>
                </a:solidFill>
                <a:latin typeface="Poppins Bold"/>
                <a:ea typeface="Poppins Bold"/>
                <a:cs typeface="Poppins Bold"/>
                <a:sym typeface="Poppins Bold"/>
              </a:rPr>
              <a:t>Total Records:</a:t>
            </a:r>
            <a:r>
              <a:rPr lang="en-US" sz="1874">
                <a:solidFill>
                  <a:srgbClr val="1F4E79"/>
                </a:solidFill>
                <a:latin typeface="Poppins"/>
                <a:ea typeface="Poppins"/>
                <a:cs typeface="Poppins"/>
                <a:sym typeface="Poppins"/>
              </a:rPr>
              <a:t> ~10,842 apps</a:t>
            </a:r>
          </a:p>
        </p:txBody>
      </p:sp>
      <p:sp>
        <p:nvSpPr>
          <p:cNvPr id="9" name="TextBox 9"/>
          <p:cNvSpPr txBox="1"/>
          <p:nvPr/>
        </p:nvSpPr>
        <p:spPr>
          <a:xfrm>
            <a:off x="847725" y="3770114"/>
            <a:ext cx="3027610" cy="416421"/>
          </a:xfrm>
          <a:prstGeom prst="rect">
            <a:avLst/>
          </a:prstGeom>
        </p:spPr>
        <p:txBody>
          <a:bodyPr lIns="0" tIns="0" rIns="0" bIns="0" rtlCol="0" anchor="t">
            <a:spAutoFit/>
          </a:bodyPr>
          <a:lstStyle/>
          <a:p>
            <a:pPr algn="l">
              <a:lnSpc>
                <a:spcPts val="2937"/>
              </a:lnSpc>
            </a:pPr>
            <a:r>
              <a:rPr lang="en-US" sz="2375" b="1">
                <a:solidFill>
                  <a:srgbClr val="000000"/>
                </a:solidFill>
                <a:latin typeface="Poppins Bold"/>
                <a:ea typeface="Poppins Bold"/>
                <a:cs typeface="Poppins Bold"/>
                <a:sym typeface="Poppins Bold"/>
              </a:rPr>
              <a:t>Key Columns Used:</a:t>
            </a:r>
          </a:p>
        </p:txBody>
      </p:sp>
      <p:sp>
        <p:nvSpPr>
          <p:cNvPr id="10" name="TextBox 10"/>
          <p:cNvSpPr txBox="1"/>
          <p:nvPr/>
        </p:nvSpPr>
        <p:spPr>
          <a:xfrm>
            <a:off x="847725" y="4333429"/>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App</a:t>
            </a:r>
          </a:p>
        </p:txBody>
      </p:sp>
      <p:sp>
        <p:nvSpPr>
          <p:cNvPr id="11" name="TextBox 11"/>
          <p:cNvSpPr txBox="1"/>
          <p:nvPr/>
        </p:nvSpPr>
        <p:spPr>
          <a:xfrm>
            <a:off x="847725" y="4805511"/>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Category</a:t>
            </a:r>
          </a:p>
        </p:txBody>
      </p:sp>
      <p:sp>
        <p:nvSpPr>
          <p:cNvPr id="12" name="TextBox 12"/>
          <p:cNvSpPr txBox="1"/>
          <p:nvPr/>
        </p:nvSpPr>
        <p:spPr>
          <a:xfrm>
            <a:off x="847725" y="5277594"/>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Rating</a:t>
            </a:r>
          </a:p>
        </p:txBody>
      </p:sp>
      <p:sp>
        <p:nvSpPr>
          <p:cNvPr id="13" name="TextBox 13"/>
          <p:cNvSpPr txBox="1"/>
          <p:nvPr/>
        </p:nvSpPr>
        <p:spPr>
          <a:xfrm>
            <a:off x="847725" y="5749677"/>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Reviews</a:t>
            </a:r>
          </a:p>
        </p:txBody>
      </p:sp>
      <p:sp>
        <p:nvSpPr>
          <p:cNvPr id="14" name="TextBox 14"/>
          <p:cNvSpPr txBox="1"/>
          <p:nvPr/>
        </p:nvSpPr>
        <p:spPr>
          <a:xfrm>
            <a:off x="847725" y="6221760"/>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Size</a:t>
            </a:r>
          </a:p>
        </p:txBody>
      </p:sp>
      <p:sp>
        <p:nvSpPr>
          <p:cNvPr id="15" name="TextBox 15"/>
          <p:cNvSpPr txBox="1"/>
          <p:nvPr/>
        </p:nvSpPr>
        <p:spPr>
          <a:xfrm>
            <a:off x="847725" y="6693842"/>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Installs</a:t>
            </a:r>
          </a:p>
        </p:txBody>
      </p:sp>
      <p:sp>
        <p:nvSpPr>
          <p:cNvPr id="16" name="TextBox 16"/>
          <p:cNvSpPr txBox="1"/>
          <p:nvPr/>
        </p:nvSpPr>
        <p:spPr>
          <a:xfrm>
            <a:off x="847725" y="7165925"/>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Price</a:t>
            </a:r>
          </a:p>
        </p:txBody>
      </p:sp>
      <p:sp>
        <p:nvSpPr>
          <p:cNvPr id="17" name="TextBox 17"/>
          <p:cNvSpPr txBox="1"/>
          <p:nvPr/>
        </p:nvSpPr>
        <p:spPr>
          <a:xfrm>
            <a:off x="847725" y="7638009"/>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Type (Free/Paid)</a:t>
            </a:r>
          </a:p>
        </p:txBody>
      </p:sp>
      <p:sp>
        <p:nvSpPr>
          <p:cNvPr id="18" name="TextBox 18"/>
          <p:cNvSpPr txBox="1"/>
          <p:nvPr/>
        </p:nvSpPr>
        <p:spPr>
          <a:xfrm>
            <a:off x="847725" y="8110091"/>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Content Rating</a:t>
            </a:r>
          </a:p>
        </p:txBody>
      </p:sp>
      <p:sp>
        <p:nvSpPr>
          <p:cNvPr id="19" name="TextBox 19"/>
          <p:cNvSpPr txBox="1"/>
          <p:nvPr/>
        </p:nvSpPr>
        <p:spPr>
          <a:xfrm>
            <a:off x="847725" y="8582174"/>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Genres</a:t>
            </a:r>
          </a:p>
        </p:txBody>
      </p:sp>
      <p:sp>
        <p:nvSpPr>
          <p:cNvPr id="20" name="TextBox 20"/>
          <p:cNvSpPr txBox="1"/>
          <p:nvPr/>
        </p:nvSpPr>
        <p:spPr>
          <a:xfrm>
            <a:off x="847725" y="9054256"/>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Last Updated</a:t>
            </a:r>
          </a:p>
        </p:txBody>
      </p:sp>
      <p:sp>
        <p:nvSpPr>
          <p:cNvPr id="21" name="TextBox 21"/>
          <p:cNvSpPr txBox="1"/>
          <p:nvPr/>
        </p:nvSpPr>
        <p:spPr>
          <a:xfrm>
            <a:off x="9448949" y="1990279"/>
            <a:ext cx="4030266" cy="416421"/>
          </a:xfrm>
          <a:prstGeom prst="rect">
            <a:avLst/>
          </a:prstGeom>
        </p:spPr>
        <p:txBody>
          <a:bodyPr lIns="0" tIns="0" rIns="0" bIns="0" rtlCol="0" anchor="t">
            <a:spAutoFit/>
          </a:bodyPr>
          <a:lstStyle/>
          <a:p>
            <a:pPr algn="l">
              <a:lnSpc>
                <a:spcPts val="2937"/>
              </a:lnSpc>
            </a:pPr>
            <a:r>
              <a:rPr lang="en-US" sz="2375" b="1">
                <a:solidFill>
                  <a:srgbClr val="000000"/>
                </a:solidFill>
                <a:latin typeface="Poppins Bold"/>
                <a:ea typeface="Poppins Bold"/>
                <a:cs typeface="Poppins Bold"/>
                <a:sym typeface="Poppins Bold"/>
              </a:rPr>
              <a:t>Data Cleaning Performed:</a:t>
            </a:r>
          </a:p>
        </p:txBody>
      </p:sp>
      <p:sp>
        <p:nvSpPr>
          <p:cNvPr id="22" name="TextBox 22"/>
          <p:cNvSpPr txBox="1"/>
          <p:nvPr/>
        </p:nvSpPr>
        <p:spPr>
          <a:xfrm>
            <a:off x="9448949" y="2553593"/>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Removed duplicates based on App name</a:t>
            </a:r>
          </a:p>
        </p:txBody>
      </p:sp>
      <p:sp>
        <p:nvSpPr>
          <p:cNvPr id="23" name="TextBox 23"/>
          <p:cNvSpPr txBox="1"/>
          <p:nvPr/>
        </p:nvSpPr>
        <p:spPr>
          <a:xfrm>
            <a:off x="9448949" y="3025676"/>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Fixed formatting issues in Price and Installs</a:t>
            </a:r>
          </a:p>
        </p:txBody>
      </p:sp>
      <p:sp>
        <p:nvSpPr>
          <p:cNvPr id="24" name="TextBox 24"/>
          <p:cNvSpPr txBox="1"/>
          <p:nvPr/>
        </p:nvSpPr>
        <p:spPr>
          <a:xfrm>
            <a:off x="9448949" y="3497759"/>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Replaced "NaN" and blank values in Rating</a:t>
            </a:r>
          </a:p>
        </p:txBody>
      </p:sp>
      <p:sp>
        <p:nvSpPr>
          <p:cNvPr id="25" name="TextBox 25"/>
          <p:cNvSpPr txBox="1"/>
          <p:nvPr/>
        </p:nvSpPr>
        <p:spPr>
          <a:xfrm>
            <a:off x="9448949" y="3969841"/>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Transformed columns into proper data types</a:t>
            </a:r>
          </a:p>
        </p:txBody>
      </p:sp>
      <p:sp>
        <p:nvSpPr>
          <p:cNvPr id="26" name="TextBox 26"/>
          <p:cNvSpPr txBox="1"/>
          <p:nvPr/>
        </p:nvSpPr>
        <p:spPr>
          <a:xfrm>
            <a:off x="9448949" y="4441924"/>
            <a:ext cx="8000851" cy="482650"/>
          </a:xfrm>
          <a:prstGeom prst="rect">
            <a:avLst/>
          </a:prstGeom>
        </p:spPr>
        <p:txBody>
          <a:bodyPr lIns="0" tIns="0" rIns="0" bIns="0" rtlCol="0" anchor="t">
            <a:spAutoFit/>
          </a:bodyPr>
          <a:lstStyle/>
          <a:p>
            <a:pPr marL="282773" lvl="1" indent="-141387" algn="l">
              <a:lnSpc>
                <a:spcPts val="3000"/>
              </a:lnSpc>
              <a:buFont typeface="Arial"/>
              <a:buChar char="•"/>
            </a:pPr>
            <a:r>
              <a:rPr lang="en-US" sz="1874">
                <a:solidFill>
                  <a:srgbClr val="1F4E79"/>
                </a:solidFill>
                <a:latin typeface="Poppins"/>
                <a:ea typeface="Poppins"/>
                <a:cs typeface="Poppins"/>
                <a:sym typeface="Poppins"/>
              </a:rPr>
              <a:t>Removed errors in Power Query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6" name="TextBox 6"/>
          <p:cNvSpPr txBox="1"/>
          <p:nvPr/>
        </p:nvSpPr>
        <p:spPr>
          <a:xfrm>
            <a:off x="992238" y="1876574"/>
            <a:ext cx="7088237"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Target Audience</a:t>
            </a:r>
          </a:p>
        </p:txBody>
      </p:sp>
      <p:sp>
        <p:nvSpPr>
          <p:cNvPr id="7" name="TextBox 7"/>
          <p:cNvSpPr txBox="1"/>
          <p:nvPr/>
        </p:nvSpPr>
        <p:spPr>
          <a:xfrm>
            <a:off x="992238" y="3262907"/>
            <a:ext cx="16303526" cy="709761"/>
          </a:xfrm>
          <a:prstGeom prst="rect">
            <a:avLst/>
          </a:prstGeom>
        </p:spPr>
        <p:txBody>
          <a:bodyPr lIns="0" tIns="0" rIns="0" bIns="0" rtlCol="0" anchor="t">
            <a:spAutoFit/>
          </a:bodyPr>
          <a:lstStyle/>
          <a:p>
            <a:pPr algn="l">
              <a:lnSpc>
                <a:spcPts val="4437"/>
              </a:lnSpc>
            </a:pPr>
            <a:r>
              <a:rPr lang="en-US" sz="2750">
                <a:solidFill>
                  <a:srgbClr val="1F4E79"/>
                </a:solidFill>
                <a:latin typeface="Poppins"/>
                <a:ea typeface="Poppins"/>
                <a:cs typeface="Poppins"/>
                <a:sym typeface="Poppins"/>
              </a:rPr>
              <a:t>This dashboard is designed for:</a:t>
            </a:r>
          </a:p>
        </p:txBody>
      </p:sp>
      <p:grpSp>
        <p:nvGrpSpPr>
          <p:cNvPr id="8" name="Group 8"/>
          <p:cNvGrpSpPr/>
          <p:nvPr/>
        </p:nvGrpSpPr>
        <p:grpSpPr>
          <a:xfrm>
            <a:off x="987475" y="4286845"/>
            <a:ext cx="5254973" cy="2115890"/>
            <a:chOff x="0" y="0"/>
            <a:chExt cx="7006630" cy="2821187"/>
          </a:xfrm>
        </p:grpSpPr>
        <p:sp>
          <p:nvSpPr>
            <p:cNvPr id="9" name="Freeform 9"/>
            <p:cNvSpPr/>
            <p:nvPr/>
          </p:nvSpPr>
          <p:spPr>
            <a:xfrm>
              <a:off x="6350" y="6350"/>
              <a:ext cx="6993890" cy="2808478"/>
            </a:xfrm>
            <a:custGeom>
              <a:avLst/>
              <a:gdLst/>
              <a:ahLst/>
              <a:cxnLst/>
              <a:rect l="l" t="t" r="r" b="b"/>
              <a:pathLst>
                <a:path w="6993890" h="2808478">
                  <a:moveTo>
                    <a:pt x="0" y="158750"/>
                  </a:moveTo>
                  <a:cubicBezTo>
                    <a:pt x="0" y="71120"/>
                    <a:pt x="71247" y="0"/>
                    <a:pt x="159258" y="0"/>
                  </a:cubicBezTo>
                  <a:lnTo>
                    <a:pt x="6834759" y="0"/>
                  </a:lnTo>
                  <a:cubicBezTo>
                    <a:pt x="6922643" y="0"/>
                    <a:pt x="6993890" y="71120"/>
                    <a:pt x="6993890" y="158750"/>
                  </a:cubicBezTo>
                  <a:lnTo>
                    <a:pt x="6993890" y="2649728"/>
                  </a:lnTo>
                  <a:cubicBezTo>
                    <a:pt x="6993890" y="2737485"/>
                    <a:pt x="6922643" y="2808478"/>
                    <a:pt x="6834632" y="2808478"/>
                  </a:cubicBezTo>
                  <a:lnTo>
                    <a:pt x="159258" y="2808478"/>
                  </a:lnTo>
                  <a:cubicBezTo>
                    <a:pt x="71374" y="2808478"/>
                    <a:pt x="0" y="2737358"/>
                    <a:pt x="0" y="2649728"/>
                  </a:cubicBezTo>
                  <a:close/>
                </a:path>
              </a:pathLst>
            </a:custGeom>
            <a:solidFill>
              <a:srgbClr val="E1F2D9"/>
            </a:solidFill>
          </p:spPr>
        </p:sp>
        <p:sp>
          <p:nvSpPr>
            <p:cNvPr id="10" name="Freeform 10"/>
            <p:cNvSpPr/>
            <p:nvPr/>
          </p:nvSpPr>
          <p:spPr>
            <a:xfrm>
              <a:off x="0" y="0"/>
              <a:ext cx="7006717" cy="2821178"/>
            </a:xfrm>
            <a:custGeom>
              <a:avLst/>
              <a:gdLst/>
              <a:ahLst/>
              <a:cxnLst/>
              <a:rect l="l" t="t" r="r" b="b"/>
              <a:pathLst>
                <a:path w="7006717" h="2821178">
                  <a:moveTo>
                    <a:pt x="0" y="165100"/>
                  </a:moveTo>
                  <a:cubicBezTo>
                    <a:pt x="0" y="73914"/>
                    <a:pt x="74168" y="0"/>
                    <a:pt x="165608" y="0"/>
                  </a:cubicBezTo>
                  <a:lnTo>
                    <a:pt x="6841109" y="0"/>
                  </a:lnTo>
                  <a:lnTo>
                    <a:pt x="6841109" y="6350"/>
                  </a:lnTo>
                  <a:lnTo>
                    <a:pt x="6841109" y="0"/>
                  </a:lnTo>
                  <a:cubicBezTo>
                    <a:pt x="6932549" y="0"/>
                    <a:pt x="7006717" y="73914"/>
                    <a:pt x="7006717" y="165100"/>
                  </a:cubicBezTo>
                  <a:lnTo>
                    <a:pt x="7000367" y="165100"/>
                  </a:lnTo>
                  <a:lnTo>
                    <a:pt x="7006717" y="165100"/>
                  </a:lnTo>
                  <a:lnTo>
                    <a:pt x="7006717" y="2656078"/>
                  </a:lnTo>
                  <a:lnTo>
                    <a:pt x="7000367" y="2656078"/>
                  </a:lnTo>
                  <a:lnTo>
                    <a:pt x="7006717" y="2656078"/>
                  </a:lnTo>
                  <a:cubicBezTo>
                    <a:pt x="7006717" y="2747264"/>
                    <a:pt x="6932549" y="2821178"/>
                    <a:pt x="6841109" y="2821178"/>
                  </a:cubicBezTo>
                  <a:lnTo>
                    <a:pt x="6841109" y="2814828"/>
                  </a:lnTo>
                  <a:lnTo>
                    <a:pt x="6841109" y="2821178"/>
                  </a:lnTo>
                  <a:lnTo>
                    <a:pt x="165608" y="2821178"/>
                  </a:lnTo>
                  <a:lnTo>
                    <a:pt x="165608" y="2814828"/>
                  </a:lnTo>
                  <a:lnTo>
                    <a:pt x="165608" y="2821178"/>
                  </a:lnTo>
                  <a:cubicBezTo>
                    <a:pt x="74168"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608" y="2808478"/>
                  </a:cubicBezTo>
                  <a:lnTo>
                    <a:pt x="6841109" y="2808478"/>
                  </a:lnTo>
                  <a:cubicBezTo>
                    <a:pt x="6925564" y="2808478"/>
                    <a:pt x="6994017" y="2740152"/>
                    <a:pt x="6994017" y="2656078"/>
                  </a:cubicBezTo>
                  <a:lnTo>
                    <a:pt x="6994017" y="165100"/>
                  </a:lnTo>
                  <a:cubicBezTo>
                    <a:pt x="6994017" y="80899"/>
                    <a:pt x="6925564" y="12700"/>
                    <a:pt x="6841109" y="12700"/>
                  </a:cubicBezTo>
                  <a:lnTo>
                    <a:pt x="165608" y="12700"/>
                  </a:lnTo>
                  <a:lnTo>
                    <a:pt x="165608" y="6350"/>
                  </a:lnTo>
                  <a:lnTo>
                    <a:pt x="165608" y="12700"/>
                  </a:lnTo>
                  <a:cubicBezTo>
                    <a:pt x="81153" y="12700"/>
                    <a:pt x="12700" y="81026"/>
                    <a:pt x="12700" y="165100"/>
                  </a:cubicBezTo>
                  <a:close/>
                </a:path>
              </a:pathLst>
            </a:custGeom>
            <a:solidFill>
              <a:srgbClr val="C7D8BF"/>
            </a:solidFill>
          </p:spPr>
        </p:sp>
      </p:grpSp>
      <p:sp>
        <p:nvSpPr>
          <p:cNvPr id="11" name="TextBox 11"/>
          <p:cNvSpPr txBox="1"/>
          <p:nvPr/>
        </p:nvSpPr>
        <p:spPr>
          <a:xfrm>
            <a:off x="1285280" y="4537025"/>
            <a:ext cx="3544044"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Product Managers</a:t>
            </a:r>
          </a:p>
        </p:txBody>
      </p:sp>
      <p:sp>
        <p:nvSpPr>
          <p:cNvPr id="12" name="TextBox 12"/>
          <p:cNvSpPr txBox="1"/>
          <p:nvPr/>
        </p:nvSpPr>
        <p:spPr>
          <a:xfrm>
            <a:off x="1285280" y="5083374"/>
            <a:ext cx="4659362" cy="1021556"/>
          </a:xfrm>
          <a:prstGeom prst="rect">
            <a:avLst/>
          </a:prstGeom>
        </p:spPr>
        <p:txBody>
          <a:bodyPr lIns="0" tIns="0" rIns="0" bIns="0" rtlCol="0" anchor="t">
            <a:spAutoFit/>
          </a:bodyPr>
          <a:lstStyle/>
          <a:p>
            <a:pPr algn="l">
              <a:lnSpc>
                <a:spcPts val="3562"/>
              </a:lnSpc>
            </a:pPr>
            <a:r>
              <a:rPr lang="en-US" sz="2187">
                <a:solidFill>
                  <a:srgbClr val="1F4E79"/>
                </a:solidFill>
                <a:latin typeface="Poppins"/>
                <a:ea typeface="Poppins"/>
                <a:cs typeface="Poppins"/>
                <a:sym typeface="Poppins"/>
              </a:rPr>
              <a:t>to track competitor performance</a:t>
            </a:r>
          </a:p>
        </p:txBody>
      </p:sp>
      <p:grpSp>
        <p:nvGrpSpPr>
          <p:cNvPr id="13" name="Group 13"/>
          <p:cNvGrpSpPr/>
          <p:nvPr/>
        </p:nvGrpSpPr>
        <p:grpSpPr>
          <a:xfrm>
            <a:off x="6516440" y="4286845"/>
            <a:ext cx="5254973" cy="2115890"/>
            <a:chOff x="0" y="0"/>
            <a:chExt cx="7006630" cy="2821187"/>
          </a:xfrm>
        </p:grpSpPr>
        <p:sp>
          <p:nvSpPr>
            <p:cNvPr id="14" name="Freeform 14"/>
            <p:cNvSpPr/>
            <p:nvPr/>
          </p:nvSpPr>
          <p:spPr>
            <a:xfrm>
              <a:off x="6350" y="6350"/>
              <a:ext cx="6993890" cy="2808478"/>
            </a:xfrm>
            <a:custGeom>
              <a:avLst/>
              <a:gdLst/>
              <a:ahLst/>
              <a:cxnLst/>
              <a:rect l="l" t="t" r="r" b="b"/>
              <a:pathLst>
                <a:path w="6993890" h="2808478">
                  <a:moveTo>
                    <a:pt x="0" y="158750"/>
                  </a:moveTo>
                  <a:cubicBezTo>
                    <a:pt x="0" y="71120"/>
                    <a:pt x="71247" y="0"/>
                    <a:pt x="159258" y="0"/>
                  </a:cubicBezTo>
                  <a:lnTo>
                    <a:pt x="6834759" y="0"/>
                  </a:lnTo>
                  <a:cubicBezTo>
                    <a:pt x="6922643" y="0"/>
                    <a:pt x="6993890" y="71120"/>
                    <a:pt x="6993890" y="158750"/>
                  </a:cubicBezTo>
                  <a:lnTo>
                    <a:pt x="6993890" y="2649728"/>
                  </a:lnTo>
                  <a:cubicBezTo>
                    <a:pt x="6993890" y="2737485"/>
                    <a:pt x="6922643" y="2808478"/>
                    <a:pt x="6834632" y="2808478"/>
                  </a:cubicBezTo>
                  <a:lnTo>
                    <a:pt x="159258" y="2808478"/>
                  </a:lnTo>
                  <a:cubicBezTo>
                    <a:pt x="71374" y="2808478"/>
                    <a:pt x="0" y="2737358"/>
                    <a:pt x="0" y="2649728"/>
                  </a:cubicBezTo>
                  <a:close/>
                </a:path>
              </a:pathLst>
            </a:custGeom>
            <a:solidFill>
              <a:srgbClr val="E1F2D9"/>
            </a:solidFill>
          </p:spPr>
        </p:sp>
        <p:sp>
          <p:nvSpPr>
            <p:cNvPr id="15" name="Freeform 15"/>
            <p:cNvSpPr/>
            <p:nvPr/>
          </p:nvSpPr>
          <p:spPr>
            <a:xfrm>
              <a:off x="0" y="0"/>
              <a:ext cx="7006717" cy="2821178"/>
            </a:xfrm>
            <a:custGeom>
              <a:avLst/>
              <a:gdLst/>
              <a:ahLst/>
              <a:cxnLst/>
              <a:rect l="l" t="t" r="r" b="b"/>
              <a:pathLst>
                <a:path w="7006717" h="2821178">
                  <a:moveTo>
                    <a:pt x="0" y="165100"/>
                  </a:moveTo>
                  <a:cubicBezTo>
                    <a:pt x="0" y="73914"/>
                    <a:pt x="74168" y="0"/>
                    <a:pt x="165608" y="0"/>
                  </a:cubicBezTo>
                  <a:lnTo>
                    <a:pt x="6841109" y="0"/>
                  </a:lnTo>
                  <a:lnTo>
                    <a:pt x="6841109" y="6350"/>
                  </a:lnTo>
                  <a:lnTo>
                    <a:pt x="6841109" y="0"/>
                  </a:lnTo>
                  <a:cubicBezTo>
                    <a:pt x="6932549" y="0"/>
                    <a:pt x="7006717" y="73914"/>
                    <a:pt x="7006717" y="165100"/>
                  </a:cubicBezTo>
                  <a:lnTo>
                    <a:pt x="7000367" y="165100"/>
                  </a:lnTo>
                  <a:lnTo>
                    <a:pt x="7006717" y="165100"/>
                  </a:lnTo>
                  <a:lnTo>
                    <a:pt x="7006717" y="2656078"/>
                  </a:lnTo>
                  <a:lnTo>
                    <a:pt x="7000367" y="2656078"/>
                  </a:lnTo>
                  <a:lnTo>
                    <a:pt x="7006717" y="2656078"/>
                  </a:lnTo>
                  <a:cubicBezTo>
                    <a:pt x="7006717" y="2747264"/>
                    <a:pt x="6932549" y="2821178"/>
                    <a:pt x="6841109" y="2821178"/>
                  </a:cubicBezTo>
                  <a:lnTo>
                    <a:pt x="6841109" y="2814828"/>
                  </a:lnTo>
                  <a:lnTo>
                    <a:pt x="6841109" y="2821178"/>
                  </a:lnTo>
                  <a:lnTo>
                    <a:pt x="165608" y="2821178"/>
                  </a:lnTo>
                  <a:lnTo>
                    <a:pt x="165608" y="2814828"/>
                  </a:lnTo>
                  <a:lnTo>
                    <a:pt x="165608" y="2821178"/>
                  </a:lnTo>
                  <a:cubicBezTo>
                    <a:pt x="74168"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608" y="2808478"/>
                  </a:cubicBezTo>
                  <a:lnTo>
                    <a:pt x="6841109" y="2808478"/>
                  </a:lnTo>
                  <a:cubicBezTo>
                    <a:pt x="6925564" y="2808478"/>
                    <a:pt x="6994017" y="2740152"/>
                    <a:pt x="6994017" y="2656078"/>
                  </a:cubicBezTo>
                  <a:lnTo>
                    <a:pt x="6994017" y="165100"/>
                  </a:lnTo>
                  <a:cubicBezTo>
                    <a:pt x="6994017" y="80899"/>
                    <a:pt x="6925564" y="12700"/>
                    <a:pt x="6841109" y="12700"/>
                  </a:cubicBezTo>
                  <a:lnTo>
                    <a:pt x="165608" y="12700"/>
                  </a:lnTo>
                  <a:lnTo>
                    <a:pt x="165608" y="6350"/>
                  </a:lnTo>
                  <a:lnTo>
                    <a:pt x="165608" y="12700"/>
                  </a:lnTo>
                  <a:cubicBezTo>
                    <a:pt x="81153" y="12700"/>
                    <a:pt x="12700" y="81026"/>
                    <a:pt x="12700" y="165100"/>
                  </a:cubicBezTo>
                  <a:close/>
                </a:path>
              </a:pathLst>
            </a:custGeom>
            <a:solidFill>
              <a:srgbClr val="C7D8BF"/>
            </a:solidFill>
          </p:spPr>
        </p:sp>
      </p:grpSp>
      <p:sp>
        <p:nvSpPr>
          <p:cNvPr id="16" name="TextBox 16"/>
          <p:cNvSpPr txBox="1"/>
          <p:nvPr/>
        </p:nvSpPr>
        <p:spPr>
          <a:xfrm>
            <a:off x="6814245" y="4537025"/>
            <a:ext cx="3544044"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App Developers</a:t>
            </a:r>
          </a:p>
        </p:txBody>
      </p:sp>
      <p:sp>
        <p:nvSpPr>
          <p:cNvPr id="17" name="TextBox 17"/>
          <p:cNvSpPr txBox="1"/>
          <p:nvPr/>
        </p:nvSpPr>
        <p:spPr>
          <a:xfrm>
            <a:off x="6814245" y="5083374"/>
            <a:ext cx="4659362" cy="1021556"/>
          </a:xfrm>
          <a:prstGeom prst="rect">
            <a:avLst/>
          </a:prstGeom>
        </p:spPr>
        <p:txBody>
          <a:bodyPr lIns="0" tIns="0" rIns="0" bIns="0" rtlCol="0" anchor="t">
            <a:spAutoFit/>
          </a:bodyPr>
          <a:lstStyle/>
          <a:p>
            <a:pPr algn="l">
              <a:lnSpc>
                <a:spcPts val="3562"/>
              </a:lnSpc>
            </a:pPr>
            <a:r>
              <a:rPr lang="en-US" sz="2187">
                <a:solidFill>
                  <a:srgbClr val="1F4E79"/>
                </a:solidFill>
                <a:latin typeface="Poppins"/>
                <a:ea typeface="Poppins"/>
                <a:cs typeface="Poppins"/>
                <a:sym typeface="Poppins"/>
              </a:rPr>
              <a:t>to understand trends &amp; user expectations</a:t>
            </a:r>
          </a:p>
        </p:txBody>
      </p:sp>
      <p:grpSp>
        <p:nvGrpSpPr>
          <p:cNvPr id="18" name="Group 18"/>
          <p:cNvGrpSpPr/>
          <p:nvPr/>
        </p:nvGrpSpPr>
        <p:grpSpPr>
          <a:xfrm>
            <a:off x="12045404" y="4286845"/>
            <a:ext cx="5254973" cy="2115890"/>
            <a:chOff x="0" y="0"/>
            <a:chExt cx="7006630" cy="2821187"/>
          </a:xfrm>
        </p:grpSpPr>
        <p:sp>
          <p:nvSpPr>
            <p:cNvPr id="19" name="Freeform 19"/>
            <p:cNvSpPr/>
            <p:nvPr/>
          </p:nvSpPr>
          <p:spPr>
            <a:xfrm>
              <a:off x="6350" y="6350"/>
              <a:ext cx="6993890" cy="2808478"/>
            </a:xfrm>
            <a:custGeom>
              <a:avLst/>
              <a:gdLst/>
              <a:ahLst/>
              <a:cxnLst/>
              <a:rect l="l" t="t" r="r" b="b"/>
              <a:pathLst>
                <a:path w="6993890" h="2808478">
                  <a:moveTo>
                    <a:pt x="0" y="158750"/>
                  </a:moveTo>
                  <a:cubicBezTo>
                    <a:pt x="0" y="71120"/>
                    <a:pt x="71247" y="0"/>
                    <a:pt x="159258" y="0"/>
                  </a:cubicBezTo>
                  <a:lnTo>
                    <a:pt x="6834759" y="0"/>
                  </a:lnTo>
                  <a:cubicBezTo>
                    <a:pt x="6922643" y="0"/>
                    <a:pt x="6993890" y="71120"/>
                    <a:pt x="6993890" y="158750"/>
                  </a:cubicBezTo>
                  <a:lnTo>
                    <a:pt x="6993890" y="2649728"/>
                  </a:lnTo>
                  <a:cubicBezTo>
                    <a:pt x="6993890" y="2737485"/>
                    <a:pt x="6922643" y="2808478"/>
                    <a:pt x="6834632" y="2808478"/>
                  </a:cubicBezTo>
                  <a:lnTo>
                    <a:pt x="159258" y="2808478"/>
                  </a:lnTo>
                  <a:cubicBezTo>
                    <a:pt x="71374" y="2808478"/>
                    <a:pt x="0" y="2737358"/>
                    <a:pt x="0" y="2649728"/>
                  </a:cubicBezTo>
                  <a:close/>
                </a:path>
              </a:pathLst>
            </a:custGeom>
            <a:solidFill>
              <a:srgbClr val="E1F2D9"/>
            </a:solidFill>
          </p:spPr>
        </p:sp>
        <p:sp>
          <p:nvSpPr>
            <p:cNvPr id="20" name="Freeform 20"/>
            <p:cNvSpPr/>
            <p:nvPr/>
          </p:nvSpPr>
          <p:spPr>
            <a:xfrm>
              <a:off x="0" y="0"/>
              <a:ext cx="7006717" cy="2821178"/>
            </a:xfrm>
            <a:custGeom>
              <a:avLst/>
              <a:gdLst/>
              <a:ahLst/>
              <a:cxnLst/>
              <a:rect l="l" t="t" r="r" b="b"/>
              <a:pathLst>
                <a:path w="7006717" h="2821178">
                  <a:moveTo>
                    <a:pt x="0" y="165100"/>
                  </a:moveTo>
                  <a:cubicBezTo>
                    <a:pt x="0" y="73914"/>
                    <a:pt x="74168" y="0"/>
                    <a:pt x="165608" y="0"/>
                  </a:cubicBezTo>
                  <a:lnTo>
                    <a:pt x="6841109" y="0"/>
                  </a:lnTo>
                  <a:lnTo>
                    <a:pt x="6841109" y="6350"/>
                  </a:lnTo>
                  <a:lnTo>
                    <a:pt x="6841109" y="0"/>
                  </a:lnTo>
                  <a:cubicBezTo>
                    <a:pt x="6932549" y="0"/>
                    <a:pt x="7006717" y="73914"/>
                    <a:pt x="7006717" y="165100"/>
                  </a:cubicBezTo>
                  <a:lnTo>
                    <a:pt x="7000367" y="165100"/>
                  </a:lnTo>
                  <a:lnTo>
                    <a:pt x="7006717" y="165100"/>
                  </a:lnTo>
                  <a:lnTo>
                    <a:pt x="7006717" y="2656078"/>
                  </a:lnTo>
                  <a:lnTo>
                    <a:pt x="7000367" y="2656078"/>
                  </a:lnTo>
                  <a:lnTo>
                    <a:pt x="7006717" y="2656078"/>
                  </a:lnTo>
                  <a:cubicBezTo>
                    <a:pt x="7006717" y="2747264"/>
                    <a:pt x="6932549" y="2821178"/>
                    <a:pt x="6841109" y="2821178"/>
                  </a:cubicBezTo>
                  <a:lnTo>
                    <a:pt x="6841109" y="2814828"/>
                  </a:lnTo>
                  <a:lnTo>
                    <a:pt x="6841109" y="2821178"/>
                  </a:lnTo>
                  <a:lnTo>
                    <a:pt x="165608" y="2821178"/>
                  </a:lnTo>
                  <a:lnTo>
                    <a:pt x="165608" y="2814828"/>
                  </a:lnTo>
                  <a:lnTo>
                    <a:pt x="165608" y="2821178"/>
                  </a:lnTo>
                  <a:cubicBezTo>
                    <a:pt x="74168"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608" y="2808478"/>
                  </a:cubicBezTo>
                  <a:lnTo>
                    <a:pt x="6841109" y="2808478"/>
                  </a:lnTo>
                  <a:cubicBezTo>
                    <a:pt x="6925564" y="2808478"/>
                    <a:pt x="6994017" y="2740152"/>
                    <a:pt x="6994017" y="2656078"/>
                  </a:cubicBezTo>
                  <a:lnTo>
                    <a:pt x="6994017" y="165100"/>
                  </a:lnTo>
                  <a:cubicBezTo>
                    <a:pt x="6994017" y="80899"/>
                    <a:pt x="6925564" y="12700"/>
                    <a:pt x="6841109" y="12700"/>
                  </a:cubicBezTo>
                  <a:lnTo>
                    <a:pt x="165608" y="12700"/>
                  </a:lnTo>
                  <a:lnTo>
                    <a:pt x="165608" y="6350"/>
                  </a:lnTo>
                  <a:lnTo>
                    <a:pt x="165608" y="12700"/>
                  </a:lnTo>
                  <a:cubicBezTo>
                    <a:pt x="81153" y="12700"/>
                    <a:pt x="12700" y="81026"/>
                    <a:pt x="12700" y="165100"/>
                  </a:cubicBezTo>
                  <a:close/>
                </a:path>
              </a:pathLst>
            </a:custGeom>
            <a:solidFill>
              <a:srgbClr val="C7D8BF"/>
            </a:solidFill>
          </p:spPr>
        </p:sp>
      </p:grpSp>
      <p:sp>
        <p:nvSpPr>
          <p:cNvPr id="21" name="TextBox 21"/>
          <p:cNvSpPr txBox="1"/>
          <p:nvPr/>
        </p:nvSpPr>
        <p:spPr>
          <a:xfrm>
            <a:off x="12343210" y="4537025"/>
            <a:ext cx="3544044"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Marketing Teams</a:t>
            </a:r>
          </a:p>
        </p:txBody>
      </p:sp>
      <p:sp>
        <p:nvSpPr>
          <p:cNvPr id="22" name="TextBox 22"/>
          <p:cNvSpPr txBox="1"/>
          <p:nvPr/>
        </p:nvSpPr>
        <p:spPr>
          <a:xfrm>
            <a:off x="12343210" y="5083374"/>
            <a:ext cx="4659362" cy="1021556"/>
          </a:xfrm>
          <a:prstGeom prst="rect">
            <a:avLst/>
          </a:prstGeom>
        </p:spPr>
        <p:txBody>
          <a:bodyPr lIns="0" tIns="0" rIns="0" bIns="0" rtlCol="0" anchor="t">
            <a:spAutoFit/>
          </a:bodyPr>
          <a:lstStyle/>
          <a:p>
            <a:pPr algn="l">
              <a:lnSpc>
                <a:spcPts val="3562"/>
              </a:lnSpc>
            </a:pPr>
            <a:r>
              <a:rPr lang="en-US" sz="2187">
                <a:solidFill>
                  <a:srgbClr val="1F4E79"/>
                </a:solidFill>
                <a:latin typeface="Poppins"/>
                <a:ea typeface="Poppins"/>
                <a:cs typeface="Poppins"/>
                <a:sym typeface="Poppins"/>
              </a:rPr>
              <a:t>to identify high-install categories</a:t>
            </a:r>
          </a:p>
        </p:txBody>
      </p:sp>
      <p:grpSp>
        <p:nvGrpSpPr>
          <p:cNvPr id="23" name="Group 23"/>
          <p:cNvGrpSpPr/>
          <p:nvPr/>
        </p:nvGrpSpPr>
        <p:grpSpPr>
          <a:xfrm>
            <a:off x="987475" y="6676727"/>
            <a:ext cx="8019455" cy="1662261"/>
            <a:chOff x="0" y="0"/>
            <a:chExt cx="10692607" cy="2216348"/>
          </a:xfrm>
        </p:grpSpPr>
        <p:sp>
          <p:nvSpPr>
            <p:cNvPr id="24" name="Freeform 24"/>
            <p:cNvSpPr/>
            <p:nvPr/>
          </p:nvSpPr>
          <p:spPr>
            <a:xfrm>
              <a:off x="6350" y="6350"/>
              <a:ext cx="10679938" cy="2203577"/>
            </a:xfrm>
            <a:custGeom>
              <a:avLst/>
              <a:gdLst/>
              <a:ahLst/>
              <a:cxnLst/>
              <a:rect l="l" t="t" r="r" b="b"/>
              <a:pathLst>
                <a:path w="10679938" h="2203577">
                  <a:moveTo>
                    <a:pt x="0" y="158750"/>
                  </a:moveTo>
                  <a:cubicBezTo>
                    <a:pt x="0" y="71120"/>
                    <a:pt x="71374" y="0"/>
                    <a:pt x="159512" y="0"/>
                  </a:cubicBezTo>
                  <a:lnTo>
                    <a:pt x="10520426" y="0"/>
                  </a:lnTo>
                  <a:cubicBezTo>
                    <a:pt x="10608564" y="0"/>
                    <a:pt x="10679938" y="71120"/>
                    <a:pt x="10679938" y="158750"/>
                  </a:cubicBezTo>
                  <a:lnTo>
                    <a:pt x="10679938" y="2044827"/>
                  </a:lnTo>
                  <a:cubicBezTo>
                    <a:pt x="10679938" y="2132457"/>
                    <a:pt x="10608564" y="2203577"/>
                    <a:pt x="10520426" y="2203577"/>
                  </a:cubicBezTo>
                  <a:lnTo>
                    <a:pt x="159512" y="2203577"/>
                  </a:lnTo>
                  <a:cubicBezTo>
                    <a:pt x="71374" y="2203577"/>
                    <a:pt x="0" y="2132457"/>
                    <a:pt x="0" y="2044827"/>
                  </a:cubicBezTo>
                  <a:close/>
                </a:path>
              </a:pathLst>
            </a:custGeom>
            <a:solidFill>
              <a:srgbClr val="E1F2D9"/>
            </a:solidFill>
          </p:spPr>
        </p:sp>
        <p:sp>
          <p:nvSpPr>
            <p:cNvPr id="25" name="Freeform 25"/>
            <p:cNvSpPr/>
            <p:nvPr/>
          </p:nvSpPr>
          <p:spPr>
            <a:xfrm>
              <a:off x="0" y="0"/>
              <a:ext cx="10692638" cy="2216277"/>
            </a:xfrm>
            <a:custGeom>
              <a:avLst/>
              <a:gdLst/>
              <a:ahLst/>
              <a:cxnLst/>
              <a:rect l="l" t="t" r="r" b="b"/>
              <a:pathLst>
                <a:path w="10692638" h="2216277">
                  <a:moveTo>
                    <a:pt x="0" y="165100"/>
                  </a:moveTo>
                  <a:cubicBezTo>
                    <a:pt x="0" y="73914"/>
                    <a:pt x="74295" y="0"/>
                    <a:pt x="165862" y="0"/>
                  </a:cubicBezTo>
                  <a:lnTo>
                    <a:pt x="10526776" y="0"/>
                  </a:lnTo>
                  <a:lnTo>
                    <a:pt x="10526776" y="6350"/>
                  </a:lnTo>
                  <a:lnTo>
                    <a:pt x="10526776" y="0"/>
                  </a:lnTo>
                  <a:cubicBezTo>
                    <a:pt x="10618343" y="0"/>
                    <a:pt x="10692638" y="73914"/>
                    <a:pt x="10692638" y="165100"/>
                  </a:cubicBezTo>
                  <a:lnTo>
                    <a:pt x="10686288" y="165100"/>
                  </a:lnTo>
                  <a:lnTo>
                    <a:pt x="10692638" y="165100"/>
                  </a:lnTo>
                  <a:lnTo>
                    <a:pt x="10692638" y="2051177"/>
                  </a:lnTo>
                  <a:lnTo>
                    <a:pt x="10686288" y="2051177"/>
                  </a:lnTo>
                  <a:lnTo>
                    <a:pt x="10692638" y="2051177"/>
                  </a:lnTo>
                  <a:cubicBezTo>
                    <a:pt x="10692638" y="2142363"/>
                    <a:pt x="10618343" y="2216277"/>
                    <a:pt x="10526776" y="2216277"/>
                  </a:cubicBezTo>
                  <a:lnTo>
                    <a:pt x="10526776" y="2209927"/>
                  </a:lnTo>
                  <a:lnTo>
                    <a:pt x="10526776" y="2216277"/>
                  </a:lnTo>
                  <a:lnTo>
                    <a:pt x="165862" y="2216277"/>
                  </a:lnTo>
                  <a:lnTo>
                    <a:pt x="165862" y="2209927"/>
                  </a:lnTo>
                  <a:lnTo>
                    <a:pt x="165862" y="2216277"/>
                  </a:lnTo>
                  <a:cubicBezTo>
                    <a:pt x="74295" y="2216277"/>
                    <a:pt x="0" y="2142363"/>
                    <a:pt x="0" y="2051177"/>
                  </a:cubicBezTo>
                  <a:lnTo>
                    <a:pt x="0" y="165100"/>
                  </a:lnTo>
                  <a:lnTo>
                    <a:pt x="6350" y="165100"/>
                  </a:lnTo>
                  <a:lnTo>
                    <a:pt x="0" y="165100"/>
                  </a:lnTo>
                  <a:moveTo>
                    <a:pt x="12700" y="165100"/>
                  </a:moveTo>
                  <a:lnTo>
                    <a:pt x="12700" y="2051177"/>
                  </a:lnTo>
                  <a:lnTo>
                    <a:pt x="6350" y="2051177"/>
                  </a:lnTo>
                  <a:lnTo>
                    <a:pt x="12700" y="2051177"/>
                  </a:lnTo>
                  <a:cubicBezTo>
                    <a:pt x="12700" y="2135378"/>
                    <a:pt x="81280" y="2203577"/>
                    <a:pt x="165862" y="2203577"/>
                  </a:cubicBezTo>
                  <a:lnTo>
                    <a:pt x="10526776" y="2203577"/>
                  </a:lnTo>
                  <a:cubicBezTo>
                    <a:pt x="10611358" y="2203577"/>
                    <a:pt x="10679938" y="2135251"/>
                    <a:pt x="10679938" y="2051177"/>
                  </a:cubicBezTo>
                  <a:lnTo>
                    <a:pt x="10679938" y="165100"/>
                  </a:lnTo>
                  <a:cubicBezTo>
                    <a:pt x="10679938" y="80899"/>
                    <a:pt x="10611358" y="12700"/>
                    <a:pt x="10526776" y="12700"/>
                  </a:cubicBezTo>
                  <a:lnTo>
                    <a:pt x="165862" y="12700"/>
                  </a:lnTo>
                  <a:lnTo>
                    <a:pt x="165862" y="6350"/>
                  </a:lnTo>
                  <a:lnTo>
                    <a:pt x="165862" y="12700"/>
                  </a:lnTo>
                  <a:cubicBezTo>
                    <a:pt x="81280" y="12700"/>
                    <a:pt x="12700" y="81026"/>
                    <a:pt x="12700" y="165100"/>
                  </a:cubicBezTo>
                  <a:close/>
                </a:path>
              </a:pathLst>
            </a:custGeom>
            <a:solidFill>
              <a:srgbClr val="C7D8BF"/>
            </a:solidFill>
          </p:spPr>
        </p:sp>
      </p:grpSp>
      <p:sp>
        <p:nvSpPr>
          <p:cNvPr id="26" name="TextBox 26"/>
          <p:cNvSpPr txBox="1"/>
          <p:nvPr/>
        </p:nvSpPr>
        <p:spPr>
          <a:xfrm>
            <a:off x="1285280" y="6926907"/>
            <a:ext cx="3544044"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Business Leaders</a:t>
            </a:r>
          </a:p>
        </p:txBody>
      </p:sp>
      <p:sp>
        <p:nvSpPr>
          <p:cNvPr id="27" name="TextBox 27"/>
          <p:cNvSpPr txBox="1"/>
          <p:nvPr/>
        </p:nvSpPr>
        <p:spPr>
          <a:xfrm>
            <a:off x="1285280" y="7473255"/>
            <a:ext cx="7423845" cy="567929"/>
          </a:xfrm>
          <a:prstGeom prst="rect">
            <a:avLst/>
          </a:prstGeom>
        </p:spPr>
        <p:txBody>
          <a:bodyPr lIns="0" tIns="0" rIns="0" bIns="0" rtlCol="0" anchor="t">
            <a:spAutoFit/>
          </a:bodyPr>
          <a:lstStyle/>
          <a:p>
            <a:pPr algn="l">
              <a:lnSpc>
                <a:spcPts val="3562"/>
              </a:lnSpc>
            </a:pPr>
            <a:r>
              <a:rPr lang="en-US" sz="2187">
                <a:solidFill>
                  <a:srgbClr val="1F4E79"/>
                </a:solidFill>
                <a:latin typeface="Poppins"/>
                <a:ea typeface="Poppins"/>
                <a:cs typeface="Poppins"/>
                <a:sym typeface="Poppins"/>
              </a:rPr>
              <a:t>to take strategic decisions based on app insights</a:t>
            </a:r>
          </a:p>
        </p:txBody>
      </p:sp>
      <p:grpSp>
        <p:nvGrpSpPr>
          <p:cNvPr id="28" name="Group 28"/>
          <p:cNvGrpSpPr/>
          <p:nvPr/>
        </p:nvGrpSpPr>
        <p:grpSpPr>
          <a:xfrm>
            <a:off x="9280922" y="6676727"/>
            <a:ext cx="8019455" cy="1662261"/>
            <a:chOff x="0" y="0"/>
            <a:chExt cx="10692607" cy="2216348"/>
          </a:xfrm>
        </p:grpSpPr>
        <p:sp>
          <p:nvSpPr>
            <p:cNvPr id="29" name="Freeform 29"/>
            <p:cNvSpPr/>
            <p:nvPr/>
          </p:nvSpPr>
          <p:spPr>
            <a:xfrm>
              <a:off x="6350" y="6350"/>
              <a:ext cx="10679938" cy="2203577"/>
            </a:xfrm>
            <a:custGeom>
              <a:avLst/>
              <a:gdLst/>
              <a:ahLst/>
              <a:cxnLst/>
              <a:rect l="l" t="t" r="r" b="b"/>
              <a:pathLst>
                <a:path w="10679938" h="2203577">
                  <a:moveTo>
                    <a:pt x="0" y="158750"/>
                  </a:moveTo>
                  <a:cubicBezTo>
                    <a:pt x="0" y="71120"/>
                    <a:pt x="71374" y="0"/>
                    <a:pt x="159512" y="0"/>
                  </a:cubicBezTo>
                  <a:lnTo>
                    <a:pt x="10520426" y="0"/>
                  </a:lnTo>
                  <a:cubicBezTo>
                    <a:pt x="10608564" y="0"/>
                    <a:pt x="10679938" y="71120"/>
                    <a:pt x="10679938" y="158750"/>
                  </a:cubicBezTo>
                  <a:lnTo>
                    <a:pt x="10679938" y="2044827"/>
                  </a:lnTo>
                  <a:cubicBezTo>
                    <a:pt x="10679938" y="2132457"/>
                    <a:pt x="10608564" y="2203577"/>
                    <a:pt x="10520426" y="2203577"/>
                  </a:cubicBezTo>
                  <a:lnTo>
                    <a:pt x="159512" y="2203577"/>
                  </a:lnTo>
                  <a:cubicBezTo>
                    <a:pt x="71374" y="2203577"/>
                    <a:pt x="0" y="2132457"/>
                    <a:pt x="0" y="2044827"/>
                  </a:cubicBezTo>
                  <a:close/>
                </a:path>
              </a:pathLst>
            </a:custGeom>
            <a:solidFill>
              <a:srgbClr val="E1F2D9"/>
            </a:solidFill>
          </p:spPr>
        </p:sp>
        <p:sp>
          <p:nvSpPr>
            <p:cNvPr id="30" name="Freeform 30"/>
            <p:cNvSpPr/>
            <p:nvPr/>
          </p:nvSpPr>
          <p:spPr>
            <a:xfrm>
              <a:off x="0" y="0"/>
              <a:ext cx="10692638" cy="2216277"/>
            </a:xfrm>
            <a:custGeom>
              <a:avLst/>
              <a:gdLst/>
              <a:ahLst/>
              <a:cxnLst/>
              <a:rect l="l" t="t" r="r" b="b"/>
              <a:pathLst>
                <a:path w="10692638" h="2216277">
                  <a:moveTo>
                    <a:pt x="0" y="165100"/>
                  </a:moveTo>
                  <a:cubicBezTo>
                    <a:pt x="0" y="73914"/>
                    <a:pt x="74295" y="0"/>
                    <a:pt x="165862" y="0"/>
                  </a:cubicBezTo>
                  <a:lnTo>
                    <a:pt x="10526776" y="0"/>
                  </a:lnTo>
                  <a:lnTo>
                    <a:pt x="10526776" y="6350"/>
                  </a:lnTo>
                  <a:lnTo>
                    <a:pt x="10526776" y="0"/>
                  </a:lnTo>
                  <a:cubicBezTo>
                    <a:pt x="10618343" y="0"/>
                    <a:pt x="10692638" y="73914"/>
                    <a:pt x="10692638" y="165100"/>
                  </a:cubicBezTo>
                  <a:lnTo>
                    <a:pt x="10686288" y="165100"/>
                  </a:lnTo>
                  <a:lnTo>
                    <a:pt x="10692638" y="165100"/>
                  </a:lnTo>
                  <a:lnTo>
                    <a:pt x="10692638" y="2051177"/>
                  </a:lnTo>
                  <a:lnTo>
                    <a:pt x="10686288" y="2051177"/>
                  </a:lnTo>
                  <a:lnTo>
                    <a:pt x="10692638" y="2051177"/>
                  </a:lnTo>
                  <a:cubicBezTo>
                    <a:pt x="10692638" y="2142363"/>
                    <a:pt x="10618343" y="2216277"/>
                    <a:pt x="10526776" y="2216277"/>
                  </a:cubicBezTo>
                  <a:lnTo>
                    <a:pt x="10526776" y="2209927"/>
                  </a:lnTo>
                  <a:lnTo>
                    <a:pt x="10526776" y="2216277"/>
                  </a:lnTo>
                  <a:lnTo>
                    <a:pt x="165862" y="2216277"/>
                  </a:lnTo>
                  <a:lnTo>
                    <a:pt x="165862" y="2209927"/>
                  </a:lnTo>
                  <a:lnTo>
                    <a:pt x="165862" y="2216277"/>
                  </a:lnTo>
                  <a:cubicBezTo>
                    <a:pt x="74295" y="2216277"/>
                    <a:pt x="0" y="2142363"/>
                    <a:pt x="0" y="2051177"/>
                  </a:cubicBezTo>
                  <a:lnTo>
                    <a:pt x="0" y="165100"/>
                  </a:lnTo>
                  <a:lnTo>
                    <a:pt x="6350" y="165100"/>
                  </a:lnTo>
                  <a:lnTo>
                    <a:pt x="0" y="165100"/>
                  </a:lnTo>
                  <a:moveTo>
                    <a:pt x="12700" y="165100"/>
                  </a:moveTo>
                  <a:lnTo>
                    <a:pt x="12700" y="2051177"/>
                  </a:lnTo>
                  <a:lnTo>
                    <a:pt x="6350" y="2051177"/>
                  </a:lnTo>
                  <a:lnTo>
                    <a:pt x="12700" y="2051177"/>
                  </a:lnTo>
                  <a:cubicBezTo>
                    <a:pt x="12700" y="2135378"/>
                    <a:pt x="81280" y="2203577"/>
                    <a:pt x="165862" y="2203577"/>
                  </a:cubicBezTo>
                  <a:lnTo>
                    <a:pt x="10526776" y="2203577"/>
                  </a:lnTo>
                  <a:cubicBezTo>
                    <a:pt x="10611358" y="2203577"/>
                    <a:pt x="10679938" y="2135251"/>
                    <a:pt x="10679938" y="2051177"/>
                  </a:cubicBezTo>
                  <a:lnTo>
                    <a:pt x="10679938" y="165100"/>
                  </a:lnTo>
                  <a:cubicBezTo>
                    <a:pt x="10679938" y="80899"/>
                    <a:pt x="10611358" y="12700"/>
                    <a:pt x="10526776" y="12700"/>
                  </a:cubicBezTo>
                  <a:lnTo>
                    <a:pt x="165862" y="12700"/>
                  </a:lnTo>
                  <a:lnTo>
                    <a:pt x="165862" y="6350"/>
                  </a:lnTo>
                  <a:lnTo>
                    <a:pt x="165862" y="12700"/>
                  </a:lnTo>
                  <a:cubicBezTo>
                    <a:pt x="81280" y="12700"/>
                    <a:pt x="12700" y="81026"/>
                    <a:pt x="12700" y="165100"/>
                  </a:cubicBezTo>
                  <a:close/>
                </a:path>
              </a:pathLst>
            </a:custGeom>
            <a:solidFill>
              <a:srgbClr val="C7D8BF"/>
            </a:solidFill>
          </p:spPr>
        </p:sp>
      </p:grpSp>
      <p:sp>
        <p:nvSpPr>
          <p:cNvPr id="31" name="TextBox 31"/>
          <p:cNvSpPr txBox="1"/>
          <p:nvPr/>
        </p:nvSpPr>
        <p:spPr>
          <a:xfrm>
            <a:off x="9578728" y="6926907"/>
            <a:ext cx="3544044"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Startups</a:t>
            </a:r>
          </a:p>
        </p:txBody>
      </p:sp>
      <p:sp>
        <p:nvSpPr>
          <p:cNvPr id="32" name="TextBox 32"/>
          <p:cNvSpPr txBox="1"/>
          <p:nvPr/>
        </p:nvSpPr>
        <p:spPr>
          <a:xfrm>
            <a:off x="9578728" y="7473255"/>
            <a:ext cx="7423845" cy="567929"/>
          </a:xfrm>
          <a:prstGeom prst="rect">
            <a:avLst/>
          </a:prstGeom>
        </p:spPr>
        <p:txBody>
          <a:bodyPr lIns="0" tIns="0" rIns="0" bIns="0" rtlCol="0" anchor="t">
            <a:spAutoFit/>
          </a:bodyPr>
          <a:lstStyle/>
          <a:p>
            <a:pPr algn="l">
              <a:lnSpc>
                <a:spcPts val="3562"/>
              </a:lnSpc>
            </a:pPr>
            <a:r>
              <a:rPr lang="en-US" sz="2187">
                <a:solidFill>
                  <a:srgbClr val="1F4E79"/>
                </a:solidFill>
                <a:latin typeface="Poppins"/>
                <a:ea typeface="Poppins"/>
                <a:cs typeface="Poppins"/>
                <a:sym typeface="Poppins"/>
              </a:rPr>
              <a:t>to decide which category has high market potential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6" name="TextBox 6"/>
          <p:cNvSpPr txBox="1"/>
          <p:nvPr/>
        </p:nvSpPr>
        <p:spPr>
          <a:xfrm>
            <a:off x="992238" y="882997"/>
            <a:ext cx="7088237"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Key Features</a:t>
            </a:r>
          </a:p>
        </p:txBody>
      </p:sp>
      <p:grpSp>
        <p:nvGrpSpPr>
          <p:cNvPr id="7" name="Group 7"/>
          <p:cNvGrpSpPr/>
          <p:nvPr/>
        </p:nvGrpSpPr>
        <p:grpSpPr>
          <a:xfrm>
            <a:off x="973188" y="2393156"/>
            <a:ext cx="8048030" cy="5429845"/>
            <a:chOff x="0" y="0"/>
            <a:chExt cx="10730707" cy="7239793"/>
          </a:xfrm>
        </p:grpSpPr>
        <p:sp>
          <p:nvSpPr>
            <p:cNvPr id="8" name="Freeform 8"/>
            <p:cNvSpPr/>
            <p:nvPr/>
          </p:nvSpPr>
          <p:spPr>
            <a:xfrm>
              <a:off x="25400" y="25400"/>
              <a:ext cx="10679812" cy="7188962"/>
            </a:xfrm>
            <a:custGeom>
              <a:avLst/>
              <a:gdLst/>
              <a:ahLst/>
              <a:cxnLst/>
              <a:rect l="l" t="t" r="r" b="b"/>
              <a:pathLst>
                <a:path w="10679812" h="7188962">
                  <a:moveTo>
                    <a:pt x="0" y="158750"/>
                  </a:moveTo>
                  <a:cubicBezTo>
                    <a:pt x="0" y="71120"/>
                    <a:pt x="71247" y="0"/>
                    <a:pt x="159131" y="0"/>
                  </a:cubicBezTo>
                  <a:lnTo>
                    <a:pt x="10520680" y="0"/>
                  </a:lnTo>
                  <a:cubicBezTo>
                    <a:pt x="10608564" y="0"/>
                    <a:pt x="10679812" y="71120"/>
                    <a:pt x="10679812" y="158750"/>
                  </a:cubicBezTo>
                  <a:lnTo>
                    <a:pt x="10679812" y="7030212"/>
                  </a:lnTo>
                  <a:cubicBezTo>
                    <a:pt x="10679812" y="7117969"/>
                    <a:pt x="10608564" y="7188962"/>
                    <a:pt x="10520680" y="7188962"/>
                  </a:cubicBezTo>
                  <a:lnTo>
                    <a:pt x="159131" y="7188962"/>
                  </a:lnTo>
                  <a:cubicBezTo>
                    <a:pt x="71247" y="7188962"/>
                    <a:pt x="0" y="7117842"/>
                    <a:pt x="0" y="7030212"/>
                  </a:cubicBezTo>
                  <a:close/>
                </a:path>
              </a:pathLst>
            </a:custGeom>
            <a:solidFill>
              <a:srgbClr val="DED2A6"/>
            </a:solidFill>
          </p:spPr>
        </p:sp>
        <p:sp>
          <p:nvSpPr>
            <p:cNvPr id="9" name="Freeform 9"/>
            <p:cNvSpPr/>
            <p:nvPr/>
          </p:nvSpPr>
          <p:spPr>
            <a:xfrm>
              <a:off x="0" y="0"/>
              <a:ext cx="10730612" cy="7239762"/>
            </a:xfrm>
            <a:custGeom>
              <a:avLst/>
              <a:gdLst/>
              <a:ahLst/>
              <a:cxnLst/>
              <a:rect l="l" t="t" r="r" b="b"/>
              <a:pathLst>
                <a:path w="10730612" h="7239762">
                  <a:moveTo>
                    <a:pt x="0" y="184150"/>
                  </a:moveTo>
                  <a:cubicBezTo>
                    <a:pt x="0" y="82423"/>
                    <a:pt x="82677" y="0"/>
                    <a:pt x="184531" y="0"/>
                  </a:cubicBezTo>
                  <a:lnTo>
                    <a:pt x="10546080" y="0"/>
                  </a:lnTo>
                  <a:lnTo>
                    <a:pt x="10546080" y="25400"/>
                  </a:lnTo>
                  <a:lnTo>
                    <a:pt x="10546080" y="0"/>
                  </a:lnTo>
                  <a:cubicBezTo>
                    <a:pt x="10647935" y="0"/>
                    <a:pt x="10730612" y="82423"/>
                    <a:pt x="10730612" y="184150"/>
                  </a:cubicBezTo>
                  <a:lnTo>
                    <a:pt x="10705212" y="184150"/>
                  </a:lnTo>
                  <a:lnTo>
                    <a:pt x="10730612" y="184150"/>
                  </a:lnTo>
                  <a:lnTo>
                    <a:pt x="10730612" y="7055612"/>
                  </a:lnTo>
                  <a:lnTo>
                    <a:pt x="10705212" y="7055612"/>
                  </a:lnTo>
                  <a:lnTo>
                    <a:pt x="10730612" y="7055612"/>
                  </a:lnTo>
                  <a:cubicBezTo>
                    <a:pt x="10730612" y="7157339"/>
                    <a:pt x="10647935" y="7239762"/>
                    <a:pt x="10546080" y="7239762"/>
                  </a:cubicBezTo>
                  <a:lnTo>
                    <a:pt x="10546080" y="7214362"/>
                  </a:lnTo>
                  <a:lnTo>
                    <a:pt x="10546080" y="7239762"/>
                  </a:lnTo>
                  <a:lnTo>
                    <a:pt x="184531" y="7239762"/>
                  </a:lnTo>
                  <a:lnTo>
                    <a:pt x="184531" y="7214362"/>
                  </a:lnTo>
                  <a:lnTo>
                    <a:pt x="184531" y="7239762"/>
                  </a:lnTo>
                  <a:cubicBezTo>
                    <a:pt x="82677" y="7239762"/>
                    <a:pt x="0" y="7157339"/>
                    <a:pt x="0" y="7055612"/>
                  </a:cubicBezTo>
                  <a:lnTo>
                    <a:pt x="0" y="184150"/>
                  </a:lnTo>
                  <a:lnTo>
                    <a:pt x="25400" y="184150"/>
                  </a:lnTo>
                  <a:lnTo>
                    <a:pt x="0" y="184150"/>
                  </a:lnTo>
                  <a:moveTo>
                    <a:pt x="50800" y="184150"/>
                  </a:moveTo>
                  <a:lnTo>
                    <a:pt x="50800" y="7055612"/>
                  </a:lnTo>
                  <a:lnTo>
                    <a:pt x="25400" y="7055612"/>
                  </a:lnTo>
                  <a:lnTo>
                    <a:pt x="50800" y="7055612"/>
                  </a:lnTo>
                  <a:cubicBezTo>
                    <a:pt x="50800" y="7129272"/>
                    <a:pt x="110617" y="7188962"/>
                    <a:pt x="184531" y="7188962"/>
                  </a:cubicBezTo>
                  <a:lnTo>
                    <a:pt x="10546080" y="7188962"/>
                  </a:lnTo>
                  <a:cubicBezTo>
                    <a:pt x="10619994" y="7188962"/>
                    <a:pt x="10679812" y="7129145"/>
                    <a:pt x="10679812" y="7055612"/>
                  </a:cubicBezTo>
                  <a:lnTo>
                    <a:pt x="10679812" y="184150"/>
                  </a:lnTo>
                  <a:cubicBezTo>
                    <a:pt x="10679812" y="110490"/>
                    <a:pt x="10619994" y="50800"/>
                    <a:pt x="10546080" y="50800"/>
                  </a:cubicBezTo>
                  <a:lnTo>
                    <a:pt x="184531" y="50800"/>
                  </a:lnTo>
                  <a:lnTo>
                    <a:pt x="184531" y="25400"/>
                  </a:lnTo>
                  <a:lnTo>
                    <a:pt x="184531" y="50800"/>
                  </a:lnTo>
                  <a:cubicBezTo>
                    <a:pt x="110617" y="50800"/>
                    <a:pt x="50800" y="110617"/>
                    <a:pt x="50800" y="184150"/>
                  </a:cubicBezTo>
                  <a:close/>
                </a:path>
              </a:pathLst>
            </a:custGeom>
            <a:solidFill>
              <a:srgbClr val="C7D8BF"/>
            </a:solidFill>
          </p:spPr>
        </p:sp>
      </p:grpSp>
      <p:grpSp>
        <p:nvGrpSpPr>
          <p:cNvPr id="10" name="Group 10"/>
          <p:cNvGrpSpPr/>
          <p:nvPr/>
        </p:nvGrpSpPr>
        <p:grpSpPr>
          <a:xfrm>
            <a:off x="1030338" y="2450306"/>
            <a:ext cx="7933730" cy="850552"/>
            <a:chOff x="0" y="0"/>
            <a:chExt cx="10578307" cy="1134070"/>
          </a:xfrm>
        </p:grpSpPr>
        <p:sp>
          <p:nvSpPr>
            <p:cNvPr id="11" name="Freeform 11"/>
            <p:cNvSpPr/>
            <p:nvPr/>
          </p:nvSpPr>
          <p:spPr>
            <a:xfrm>
              <a:off x="0" y="0"/>
              <a:ext cx="10578211" cy="1133983"/>
            </a:xfrm>
            <a:custGeom>
              <a:avLst/>
              <a:gdLst/>
              <a:ahLst/>
              <a:cxnLst/>
              <a:rect l="l" t="t" r="r" b="b"/>
              <a:pathLst>
                <a:path w="10578211" h="1133983">
                  <a:moveTo>
                    <a:pt x="0" y="97790"/>
                  </a:moveTo>
                  <a:cubicBezTo>
                    <a:pt x="0" y="43815"/>
                    <a:pt x="43815" y="0"/>
                    <a:pt x="97790" y="0"/>
                  </a:cubicBezTo>
                  <a:lnTo>
                    <a:pt x="10480421" y="0"/>
                  </a:lnTo>
                  <a:cubicBezTo>
                    <a:pt x="10534396" y="0"/>
                    <a:pt x="10578211" y="43815"/>
                    <a:pt x="10578211" y="97790"/>
                  </a:cubicBezTo>
                  <a:lnTo>
                    <a:pt x="10578211" y="1036193"/>
                  </a:lnTo>
                  <a:cubicBezTo>
                    <a:pt x="10578211" y="1090168"/>
                    <a:pt x="10534396" y="1133983"/>
                    <a:pt x="10480421" y="1133983"/>
                  </a:cubicBezTo>
                  <a:lnTo>
                    <a:pt x="97790" y="1133983"/>
                  </a:lnTo>
                  <a:cubicBezTo>
                    <a:pt x="43815" y="1133983"/>
                    <a:pt x="0" y="1090168"/>
                    <a:pt x="0" y="1036193"/>
                  </a:cubicBezTo>
                  <a:close/>
                </a:path>
              </a:pathLst>
            </a:custGeom>
            <a:solidFill>
              <a:srgbClr val="E1F2D9"/>
            </a:solidFill>
          </p:spPr>
        </p:sp>
      </p:grpSp>
      <p:sp>
        <p:nvSpPr>
          <p:cNvPr id="12" name="TextBox 12"/>
          <p:cNvSpPr txBox="1"/>
          <p:nvPr/>
        </p:nvSpPr>
        <p:spPr>
          <a:xfrm>
            <a:off x="4784526" y="2633514"/>
            <a:ext cx="425202" cy="503039"/>
          </a:xfrm>
          <a:prstGeom prst="rect">
            <a:avLst/>
          </a:prstGeom>
        </p:spPr>
        <p:txBody>
          <a:bodyPr lIns="0" tIns="0" rIns="0" bIns="0" rtlCol="0" anchor="t">
            <a:spAutoFit/>
          </a:bodyPr>
          <a:lstStyle/>
          <a:p>
            <a:pPr algn="l">
              <a:lnSpc>
                <a:spcPts val="3312"/>
              </a:lnSpc>
            </a:pPr>
            <a:r>
              <a:rPr lang="en-US" sz="3312" b="1">
                <a:solidFill>
                  <a:srgbClr val="1F4E79"/>
                </a:solidFill>
                <a:latin typeface="Poppins Bold"/>
                <a:ea typeface="Poppins Bold"/>
                <a:cs typeface="Poppins Bold"/>
                <a:sym typeface="Poppins Bold"/>
              </a:rPr>
              <a:t>1</a:t>
            </a:r>
          </a:p>
        </p:txBody>
      </p:sp>
      <p:sp>
        <p:nvSpPr>
          <p:cNvPr id="13" name="TextBox 13"/>
          <p:cNvSpPr txBox="1"/>
          <p:nvPr/>
        </p:nvSpPr>
        <p:spPr>
          <a:xfrm>
            <a:off x="1313855" y="3536751"/>
            <a:ext cx="7187654"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Dashboard 1: App Store Overview</a:t>
            </a:r>
          </a:p>
        </p:txBody>
      </p:sp>
      <p:sp>
        <p:nvSpPr>
          <p:cNvPr id="14" name="TextBox 14"/>
          <p:cNvSpPr txBox="1"/>
          <p:nvPr/>
        </p:nvSpPr>
        <p:spPr>
          <a:xfrm>
            <a:off x="1313855" y="4171801"/>
            <a:ext cx="7366695"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Total Apps Summary</a:t>
            </a:r>
          </a:p>
        </p:txBody>
      </p:sp>
      <p:sp>
        <p:nvSpPr>
          <p:cNvPr id="15" name="TextBox 15"/>
          <p:cNvSpPr txBox="1"/>
          <p:nvPr/>
        </p:nvSpPr>
        <p:spPr>
          <a:xfrm>
            <a:off x="1313855" y="4724549"/>
            <a:ext cx="7366695"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Category Distribution</a:t>
            </a:r>
          </a:p>
        </p:txBody>
      </p:sp>
      <p:sp>
        <p:nvSpPr>
          <p:cNvPr id="16" name="TextBox 16"/>
          <p:cNvSpPr txBox="1"/>
          <p:nvPr/>
        </p:nvSpPr>
        <p:spPr>
          <a:xfrm>
            <a:off x="1313855" y="5277296"/>
            <a:ext cx="7366695"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Top 10 Apps by Installs</a:t>
            </a:r>
          </a:p>
        </p:txBody>
      </p:sp>
      <p:sp>
        <p:nvSpPr>
          <p:cNvPr id="17" name="TextBox 17"/>
          <p:cNvSpPr txBox="1"/>
          <p:nvPr/>
        </p:nvSpPr>
        <p:spPr>
          <a:xfrm>
            <a:off x="1313855" y="5830044"/>
            <a:ext cx="7366695"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Rating Analysis</a:t>
            </a:r>
          </a:p>
        </p:txBody>
      </p:sp>
      <p:sp>
        <p:nvSpPr>
          <p:cNvPr id="18" name="TextBox 18"/>
          <p:cNvSpPr txBox="1"/>
          <p:nvPr/>
        </p:nvSpPr>
        <p:spPr>
          <a:xfrm>
            <a:off x="1313855" y="6382791"/>
            <a:ext cx="7366695"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Free vs Paid Apps Breakdown</a:t>
            </a:r>
          </a:p>
        </p:txBody>
      </p:sp>
      <p:grpSp>
        <p:nvGrpSpPr>
          <p:cNvPr id="19" name="Group 19"/>
          <p:cNvGrpSpPr/>
          <p:nvPr/>
        </p:nvGrpSpPr>
        <p:grpSpPr>
          <a:xfrm>
            <a:off x="9266635" y="2393156"/>
            <a:ext cx="8048179" cy="5429845"/>
            <a:chOff x="0" y="0"/>
            <a:chExt cx="10730905" cy="7239793"/>
          </a:xfrm>
        </p:grpSpPr>
        <p:sp>
          <p:nvSpPr>
            <p:cNvPr id="20" name="Freeform 20"/>
            <p:cNvSpPr/>
            <p:nvPr/>
          </p:nvSpPr>
          <p:spPr>
            <a:xfrm>
              <a:off x="25400" y="25400"/>
              <a:ext cx="10680065" cy="7188962"/>
            </a:xfrm>
            <a:custGeom>
              <a:avLst/>
              <a:gdLst/>
              <a:ahLst/>
              <a:cxnLst/>
              <a:rect l="l" t="t" r="r" b="b"/>
              <a:pathLst>
                <a:path w="10680065" h="7188962">
                  <a:moveTo>
                    <a:pt x="0" y="158750"/>
                  </a:moveTo>
                  <a:cubicBezTo>
                    <a:pt x="0" y="71120"/>
                    <a:pt x="71247" y="0"/>
                    <a:pt x="159131" y="0"/>
                  </a:cubicBezTo>
                  <a:lnTo>
                    <a:pt x="10520934" y="0"/>
                  </a:lnTo>
                  <a:cubicBezTo>
                    <a:pt x="10608818" y="0"/>
                    <a:pt x="10680065" y="71120"/>
                    <a:pt x="10680065" y="158750"/>
                  </a:cubicBezTo>
                  <a:lnTo>
                    <a:pt x="10680065" y="7030212"/>
                  </a:lnTo>
                  <a:cubicBezTo>
                    <a:pt x="10680065" y="7117969"/>
                    <a:pt x="10608818" y="7188962"/>
                    <a:pt x="10520934" y="7188962"/>
                  </a:cubicBezTo>
                  <a:lnTo>
                    <a:pt x="159131" y="7188962"/>
                  </a:lnTo>
                  <a:cubicBezTo>
                    <a:pt x="71247" y="7188962"/>
                    <a:pt x="0" y="7117842"/>
                    <a:pt x="0" y="7030212"/>
                  </a:cubicBezTo>
                  <a:close/>
                </a:path>
              </a:pathLst>
            </a:custGeom>
            <a:solidFill>
              <a:srgbClr val="DED2A6"/>
            </a:solidFill>
          </p:spPr>
        </p:sp>
        <p:sp>
          <p:nvSpPr>
            <p:cNvPr id="21" name="Freeform 21"/>
            <p:cNvSpPr/>
            <p:nvPr/>
          </p:nvSpPr>
          <p:spPr>
            <a:xfrm>
              <a:off x="0" y="0"/>
              <a:ext cx="10730865" cy="7239762"/>
            </a:xfrm>
            <a:custGeom>
              <a:avLst/>
              <a:gdLst/>
              <a:ahLst/>
              <a:cxnLst/>
              <a:rect l="l" t="t" r="r" b="b"/>
              <a:pathLst>
                <a:path w="10730865" h="7239762">
                  <a:moveTo>
                    <a:pt x="0" y="184150"/>
                  </a:moveTo>
                  <a:cubicBezTo>
                    <a:pt x="0" y="82423"/>
                    <a:pt x="82677" y="0"/>
                    <a:pt x="184531" y="0"/>
                  </a:cubicBezTo>
                  <a:lnTo>
                    <a:pt x="10546334" y="0"/>
                  </a:lnTo>
                  <a:lnTo>
                    <a:pt x="10546334" y="25400"/>
                  </a:lnTo>
                  <a:lnTo>
                    <a:pt x="10546334" y="0"/>
                  </a:lnTo>
                  <a:cubicBezTo>
                    <a:pt x="10648188" y="0"/>
                    <a:pt x="10730865" y="82423"/>
                    <a:pt x="10730865" y="184150"/>
                  </a:cubicBezTo>
                  <a:lnTo>
                    <a:pt x="10705465" y="184150"/>
                  </a:lnTo>
                  <a:lnTo>
                    <a:pt x="10730865" y="184150"/>
                  </a:lnTo>
                  <a:lnTo>
                    <a:pt x="10730865" y="7055612"/>
                  </a:lnTo>
                  <a:lnTo>
                    <a:pt x="10705465" y="7055612"/>
                  </a:lnTo>
                  <a:lnTo>
                    <a:pt x="10730865" y="7055612"/>
                  </a:lnTo>
                  <a:cubicBezTo>
                    <a:pt x="10730865" y="7157339"/>
                    <a:pt x="10648188" y="7239762"/>
                    <a:pt x="10546334" y="7239762"/>
                  </a:cubicBezTo>
                  <a:lnTo>
                    <a:pt x="10546334" y="7214362"/>
                  </a:lnTo>
                  <a:lnTo>
                    <a:pt x="10546334" y="7239762"/>
                  </a:lnTo>
                  <a:lnTo>
                    <a:pt x="184531" y="7239762"/>
                  </a:lnTo>
                  <a:lnTo>
                    <a:pt x="184531" y="7214362"/>
                  </a:lnTo>
                  <a:lnTo>
                    <a:pt x="184531" y="7239762"/>
                  </a:lnTo>
                  <a:cubicBezTo>
                    <a:pt x="82677" y="7239762"/>
                    <a:pt x="0" y="7157339"/>
                    <a:pt x="0" y="7055612"/>
                  </a:cubicBezTo>
                  <a:lnTo>
                    <a:pt x="0" y="184150"/>
                  </a:lnTo>
                  <a:lnTo>
                    <a:pt x="25400" y="184150"/>
                  </a:lnTo>
                  <a:lnTo>
                    <a:pt x="0" y="184150"/>
                  </a:lnTo>
                  <a:moveTo>
                    <a:pt x="50800" y="184150"/>
                  </a:moveTo>
                  <a:lnTo>
                    <a:pt x="50800" y="7055612"/>
                  </a:lnTo>
                  <a:lnTo>
                    <a:pt x="25400" y="7055612"/>
                  </a:lnTo>
                  <a:lnTo>
                    <a:pt x="50800" y="7055612"/>
                  </a:lnTo>
                  <a:cubicBezTo>
                    <a:pt x="50800" y="7129272"/>
                    <a:pt x="110617" y="7188962"/>
                    <a:pt x="184531" y="7188962"/>
                  </a:cubicBezTo>
                  <a:lnTo>
                    <a:pt x="10546334" y="7188962"/>
                  </a:lnTo>
                  <a:cubicBezTo>
                    <a:pt x="10620248" y="7188962"/>
                    <a:pt x="10680065" y="7129145"/>
                    <a:pt x="10680065" y="7055612"/>
                  </a:cubicBezTo>
                  <a:lnTo>
                    <a:pt x="10680065" y="184150"/>
                  </a:lnTo>
                  <a:cubicBezTo>
                    <a:pt x="10680065" y="110490"/>
                    <a:pt x="10620248" y="50800"/>
                    <a:pt x="10546334" y="50800"/>
                  </a:cubicBezTo>
                  <a:lnTo>
                    <a:pt x="184531" y="50800"/>
                  </a:lnTo>
                  <a:lnTo>
                    <a:pt x="184531" y="25400"/>
                  </a:lnTo>
                  <a:lnTo>
                    <a:pt x="184531" y="50800"/>
                  </a:lnTo>
                  <a:cubicBezTo>
                    <a:pt x="110617" y="50800"/>
                    <a:pt x="50800" y="110617"/>
                    <a:pt x="50800" y="184150"/>
                  </a:cubicBezTo>
                  <a:close/>
                </a:path>
              </a:pathLst>
            </a:custGeom>
            <a:solidFill>
              <a:srgbClr val="C7D8BF"/>
            </a:solidFill>
          </p:spPr>
        </p:sp>
      </p:grpSp>
      <p:grpSp>
        <p:nvGrpSpPr>
          <p:cNvPr id="22" name="Group 22"/>
          <p:cNvGrpSpPr/>
          <p:nvPr/>
        </p:nvGrpSpPr>
        <p:grpSpPr>
          <a:xfrm>
            <a:off x="9323784" y="2450306"/>
            <a:ext cx="7933879" cy="850552"/>
            <a:chOff x="0" y="0"/>
            <a:chExt cx="10578505" cy="1134070"/>
          </a:xfrm>
        </p:grpSpPr>
        <p:sp>
          <p:nvSpPr>
            <p:cNvPr id="23" name="Freeform 23"/>
            <p:cNvSpPr/>
            <p:nvPr/>
          </p:nvSpPr>
          <p:spPr>
            <a:xfrm>
              <a:off x="0" y="0"/>
              <a:ext cx="10578465" cy="1133983"/>
            </a:xfrm>
            <a:custGeom>
              <a:avLst/>
              <a:gdLst/>
              <a:ahLst/>
              <a:cxnLst/>
              <a:rect l="l" t="t" r="r" b="b"/>
              <a:pathLst>
                <a:path w="10578465" h="1133983">
                  <a:moveTo>
                    <a:pt x="0" y="97790"/>
                  </a:moveTo>
                  <a:cubicBezTo>
                    <a:pt x="0" y="43815"/>
                    <a:pt x="43815" y="0"/>
                    <a:pt x="97790" y="0"/>
                  </a:cubicBezTo>
                  <a:lnTo>
                    <a:pt x="10480675" y="0"/>
                  </a:lnTo>
                  <a:cubicBezTo>
                    <a:pt x="10534650" y="0"/>
                    <a:pt x="10578465" y="43815"/>
                    <a:pt x="10578465" y="97790"/>
                  </a:cubicBezTo>
                  <a:lnTo>
                    <a:pt x="10578465" y="1036193"/>
                  </a:lnTo>
                  <a:cubicBezTo>
                    <a:pt x="10578465" y="1090168"/>
                    <a:pt x="10534650" y="1133983"/>
                    <a:pt x="10480675" y="1133983"/>
                  </a:cubicBezTo>
                  <a:lnTo>
                    <a:pt x="97790" y="1133983"/>
                  </a:lnTo>
                  <a:cubicBezTo>
                    <a:pt x="43815" y="1133983"/>
                    <a:pt x="0" y="1090168"/>
                    <a:pt x="0" y="1036193"/>
                  </a:cubicBezTo>
                  <a:close/>
                </a:path>
              </a:pathLst>
            </a:custGeom>
            <a:solidFill>
              <a:srgbClr val="E1F2D9"/>
            </a:solidFill>
          </p:spPr>
        </p:sp>
      </p:grpSp>
      <p:sp>
        <p:nvSpPr>
          <p:cNvPr id="24" name="TextBox 24"/>
          <p:cNvSpPr txBox="1"/>
          <p:nvPr/>
        </p:nvSpPr>
        <p:spPr>
          <a:xfrm>
            <a:off x="13078122" y="2633514"/>
            <a:ext cx="425203" cy="503039"/>
          </a:xfrm>
          <a:prstGeom prst="rect">
            <a:avLst/>
          </a:prstGeom>
        </p:spPr>
        <p:txBody>
          <a:bodyPr lIns="0" tIns="0" rIns="0" bIns="0" rtlCol="0" anchor="t">
            <a:spAutoFit/>
          </a:bodyPr>
          <a:lstStyle/>
          <a:p>
            <a:pPr algn="l">
              <a:lnSpc>
                <a:spcPts val="3312"/>
              </a:lnSpc>
            </a:pPr>
            <a:r>
              <a:rPr lang="en-US" sz="3312" b="1">
                <a:solidFill>
                  <a:srgbClr val="1F4E79"/>
                </a:solidFill>
                <a:latin typeface="Poppins Bold"/>
                <a:ea typeface="Poppins Bold"/>
                <a:cs typeface="Poppins Bold"/>
                <a:sym typeface="Poppins Bold"/>
              </a:rPr>
              <a:t>2</a:t>
            </a:r>
          </a:p>
        </p:txBody>
      </p:sp>
      <p:sp>
        <p:nvSpPr>
          <p:cNvPr id="25" name="TextBox 25"/>
          <p:cNvSpPr txBox="1"/>
          <p:nvPr/>
        </p:nvSpPr>
        <p:spPr>
          <a:xfrm>
            <a:off x="9607302" y="3536751"/>
            <a:ext cx="7366844" cy="1110854"/>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Dashboard 2: App Insights &amp; Performance Analysis</a:t>
            </a:r>
          </a:p>
        </p:txBody>
      </p:sp>
      <p:sp>
        <p:nvSpPr>
          <p:cNvPr id="26" name="TextBox 26"/>
          <p:cNvSpPr txBox="1"/>
          <p:nvPr/>
        </p:nvSpPr>
        <p:spPr>
          <a:xfrm>
            <a:off x="9607302" y="4703415"/>
            <a:ext cx="7366844"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Category Trends</a:t>
            </a:r>
          </a:p>
        </p:txBody>
      </p:sp>
      <p:sp>
        <p:nvSpPr>
          <p:cNvPr id="27" name="TextBox 27"/>
          <p:cNvSpPr txBox="1"/>
          <p:nvPr/>
        </p:nvSpPr>
        <p:spPr>
          <a:xfrm>
            <a:off x="9607302" y="5256162"/>
            <a:ext cx="7366844"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Pricing Insights</a:t>
            </a:r>
          </a:p>
        </p:txBody>
      </p:sp>
      <p:sp>
        <p:nvSpPr>
          <p:cNvPr id="28" name="TextBox 28"/>
          <p:cNvSpPr txBox="1"/>
          <p:nvPr/>
        </p:nvSpPr>
        <p:spPr>
          <a:xfrm>
            <a:off x="9607302" y="5808910"/>
            <a:ext cx="7366844"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Installs vs Ratings Relation</a:t>
            </a:r>
          </a:p>
        </p:txBody>
      </p:sp>
      <p:sp>
        <p:nvSpPr>
          <p:cNvPr id="29" name="TextBox 29"/>
          <p:cNvSpPr txBox="1"/>
          <p:nvPr/>
        </p:nvSpPr>
        <p:spPr>
          <a:xfrm>
            <a:off x="9607302" y="6361659"/>
            <a:ext cx="7366844"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Content Rating Analysis</a:t>
            </a:r>
          </a:p>
        </p:txBody>
      </p:sp>
      <p:sp>
        <p:nvSpPr>
          <p:cNvPr id="30" name="TextBox 30"/>
          <p:cNvSpPr txBox="1"/>
          <p:nvPr/>
        </p:nvSpPr>
        <p:spPr>
          <a:xfrm>
            <a:off x="9607302" y="6914406"/>
            <a:ext cx="7366844"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Top-Performing App Categories</a:t>
            </a:r>
          </a:p>
        </p:txBody>
      </p:sp>
      <p:grpSp>
        <p:nvGrpSpPr>
          <p:cNvPr id="31" name="Group 31"/>
          <p:cNvGrpSpPr/>
          <p:nvPr/>
        </p:nvGrpSpPr>
        <p:grpSpPr>
          <a:xfrm>
            <a:off x="992238" y="8122890"/>
            <a:ext cx="16303526" cy="1204764"/>
            <a:chOff x="0" y="0"/>
            <a:chExt cx="21738035" cy="1606352"/>
          </a:xfrm>
        </p:grpSpPr>
        <p:sp>
          <p:nvSpPr>
            <p:cNvPr id="32" name="Freeform 32"/>
            <p:cNvSpPr/>
            <p:nvPr/>
          </p:nvSpPr>
          <p:spPr>
            <a:xfrm>
              <a:off x="0" y="0"/>
              <a:ext cx="21737955" cy="1606296"/>
            </a:xfrm>
            <a:custGeom>
              <a:avLst/>
              <a:gdLst/>
              <a:ahLst/>
              <a:cxnLst/>
              <a:rect l="l" t="t" r="r" b="b"/>
              <a:pathLst>
                <a:path w="21737955" h="1606296">
                  <a:moveTo>
                    <a:pt x="0" y="158750"/>
                  </a:moveTo>
                  <a:cubicBezTo>
                    <a:pt x="0" y="71120"/>
                    <a:pt x="71120" y="0"/>
                    <a:pt x="158750" y="0"/>
                  </a:cubicBezTo>
                  <a:lnTo>
                    <a:pt x="21579205" y="0"/>
                  </a:lnTo>
                  <a:cubicBezTo>
                    <a:pt x="21666836" y="0"/>
                    <a:pt x="21737955" y="71120"/>
                    <a:pt x="21737955" y="158750"/>
                  </a:cubicBezTo>
                  <a:lnTo>
                    <a:pt x="21737955" y="1447546"/>
                  </a:lnTo>
                  <a:cubicBezTo>
                    <a:pt x="21737955" y="1535176"/>
                    <a:pt x="21666836" y="1606296"/>
                    <a:pt x="21579205" y="1606296"/>
                  </a:cubicBezTo>
                  <a:lnTo>
                    <a:pt x="158750" y="1606296"/>
                  </a:lnTo>
                  <a:cubicBezTo>
                    <a:pt x="71120" y="1606296"/>
                    <a:pt x="0" y="1535176"/>
                    <a:pt x="0" y="1447546"/>
                  </a:cubicBezTo>
                  <a:close/>
                </a:path>
              </a:pathLst>
            </a:custGeom>
            <a:solidFill>
              <a:srgbClr val="D1EBC7"/>
            </a:solidFill>
          </p:spPr>
        </p:sp>
      </p:grpSp>
      <p:grpSp>
        <p:nvGrpSpPr>
          <p:cNvPr id="33" name="Group 33"/>
          <p:cNvGrpSpPr>
            <a:grpSpLocks noChangeAspect="1"/>
          </p:cNvGrpSpPr>
          <p:nvPr/>
        </p:nvGrpSpPr>
        <p:grpSpPr>
          <a:xfrm>
            <a:off x="1275755" y="8553004"/>
            <a:ext cx="354360" cy="283518"/>
            <a:chOff x="0" y="0"/>
            <a:chExt cx="472480" cy="378023"/>
          </a:xfrm>
        </p:grpSpPr>
        <p:sp>
          <p:nvSpPr>
            <p:cNvPr id="34" name="Freeform 34"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3"/>
              <a:stretch>
                <a:fillRect t="-670" r="-8" b="-655"/>
              </a:stretch>
            </a:blipFill>
          </p:spPr>
        </p:sp>
      </p:grpSp>
      <p:sp>
        <p:nvSpPr>
          <p:cNvPr id="35" name="TextBox 35"/>
          <p:cNvSpPr txBox="1"/>
          <p:nvPr/>
        </p:nvSpPr>
        <p:spPr>
          <a:xfrm>
            <a:off x="1913632" y="8362950"/>
            <a:ext cx="15098614" cy="567929"/>
          </a:xfrm>
          <a:prstGeom prst="rect">
            <a:avLst/>
          </a:prstGeom>
        </p:spPr>
        <p:txBody>
          <a:bodyPr lIns="0" tIns="0" rIns="0" bIns="0" rtlCol="0" anchor="t">
            <a:spAutoFit/>
          </a:bodyPr>
          <a:lstStyle/>
          <a:p>
            <a:pPr algn="l">
              <a:lnSpc>
                <a:spcPts val="3562"/>
              </a:lnSpc>
            </a:pPr>
            <a:r>
              <a:rPr lang="en-US" sz="2187" b="1">
                <a:solidFill>
                  <a:srgbClr val="000000"/>
                </a:solidFill>
                <a:latin typeface="Poppins Bold"/>
                <a:ea typeface="Poppins Bold"/>
                <a:cs typeface="Poppins Bold"/>
                <a:sym typeface="Poppins Bold"/>
              </a:rPr>
              <a:t>Interactive Slicers:</a:t>
            </a:r>
            <a:r>
              <a:rPr lang="en-US" sz="2187">
                <a:solidFill>
                  <a:srgbClr val="000000"/>
                </a:solidFill>
                <a:latin typeface="Poppins"/>
                <a:ea typeface="Poppins"/>
                <a:cs typeface="Poppins"/>
                <a:sym typeface="Poppins"/>
              </a:rPr>
              <a:t> Category, Type, Content Rating, Price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228600" y="85725"/>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a:grpSpLocks noChangeAspect="1"/>
          </p:cNvGrpSpPr>
          <p:nvPr/>
        </p:nvGrpSpPr>
        <p:grpSpPr>
          <a:xfrm>
            <a:off x="8229600" y="0"/>
            <a:ext cx="10058400" cy="10287000"/>
            <a:chOff x="0" y="0"/>
            <a:chExt cx="13411200" cy="13716000"/>
          </a:xfrm>
        </p:grpSpPr>
        <p:sp>
          <p:nvSpPr>
            <p:cNvPr id="9" name="Freeform 9" descr="preencoded.png"/>
            <p:cNvSpPr/>
            <p:nvPr/>
          </p:nvSpPr>
          <p:spPr>
            <a:xfrm>
              <a:off x="0" y="0"/>
              <a:ext cx="13411200" cy="13716000"/>
            </a:xfrm>
            <a:custGeom>
              <a:avLst/>
              <a:gdLst/>
              <a:ahLst/>
              <a:cxnLst/>
              <a:rect l="l" t="t" r="r" b="b"/>
              <a:pathLst>
                <a:path w="13411200" h="13716000">
                  <a:moveTo>
                    <a:pt x="0" y="0"/>
                  </a:moveTo>
                  <a:lnTo>
                    <a:pt x="13411200" y="0"/>
                  </a:lnTo>
                  <a:lnTo>
                    <a:pt x="13411200" y="13716000"/>
                  </a:lnTo>
                  <a:lnTo>
                    <a:pt x="0" y="13716000"/>
                  </a:lnTo>
                  <a:lnTo>
                    <a:pt x="0" y="0"/>
                  </a:lnTo>
                  <a:close/>
                </a:path>
              </a:pathLst>
            </a:custGeom>
            <a:blipFill>
              <a:blip r:embed="rId5"/>
              <a:stretch>
                <a:fillRect/>
              </a:stretch>
            </a:blipFill>
          </p:spPr>
        </p:sp>
      </p:grpSp>
      <p:sp>
        <p:nvSpPr>
          <p:cNvPr id="10" name="TextBox 10"/>
          <p:cNvSpPr txBox="1"/>
          <p:nvPr/>
        </p:nvSpPr>
        <p:spPr>
          <a:xfrm>
            <a:off x="826145" y="1150888"/>
            <a:ext cx="6577310" cy="1532632"/>
          </a:xfrm>
          <a:prstGeom prst="rect">
            <a:avLst/>
          </a:prstGeom>
        </p:spPr>
        <p:txBody>
          <a:bodyPr lIns="0" tIns="0" rIns="0" bIns="0" rtlCol="0" anchor="t">
            <a:spAutoFit/>
          </a:bodyPr>
          <a:lstStyle/>
          <a:p>
            <a:pPr algn="l">
              <a:lnSpc>
                <a:spcPts val="5750"/>
              </a:lnSpc>
            </a:pPr>
            <a:r>
              <a:rPr lang="en-US" sz="4625" b="1">
                <a:solidFill>
                  <a:srgbClr val="000000"/>
                </a:solidFill>
                <a:latin typeface="Poppins Bold"/>
                <a:ea typeface="Poppins Bold"/>
                <a:cs typeface="Poppins Bold"/>
                <a:sym typeface="Poppins Bold"/>
              </a:rPr>
              <a:t>Tools &amp; Techniques Used</a:t>
            </a:r>
          </a:p>
        </p:txBody>
      </p:sp>
      <p:sp>
        <p:nvSpPr>
          <p:cNvPr id="11" name="TextBox 11"/>
          <p:cNvSpPr txBox="1"/>
          <p:nvPr/>
        </p:nvSpPr>
        <p:spPr>
          <a:xfrm>
            <a:off x="826145" y="2730252"/>
            <a:ext cx="3541216" cy="490091"/>
          </a:xfrm>
          <a:prstGeom prst="rect">
            <a:avLst/>
          </a:prstGeom>
        </p:spPr>
        <p:txBody>
          <a:bodyPr lIns="0" tIns="0" rIns="0" bIns="0" rtlCol="0" anchor="t">
            <a:spAutoFit/>
          </a:bodyPr>
          <a:lstStyle/>
          <a:p>
            <a:pPr algn="l">
              <a:lnSpc>
                <a:spcPts val="3437"/>
              </a:lnSpc>
            </a:pPr>
            <a:r>
              <a:rPr lang="en-US" sz="2750" b="1">
                <a:solidFill>
                  <a:srgbClr val="1D1F22"/>
                </a:solidFill>
                <a:latin typeface="Poppins Bold"/>
                <a:ea typeface="Poppins Bold"/>
                <a:cs typeface="Poppins Bold"/>
                <a:sym typeface="Poppins Bold"/>
              </a:rPr>
              <a:t>Tools:</a:t>
            </a:r>
          </a:p>
        </p:txBody>
      </p:sp>
      <p:sp>
        <p:nvSpPr>
          <p:cNvPr id="12" name="TextBox 12"/>
          <p:cNvSpPr txBox="1"/>
          <p:nvPr/>
        </p:nvSpPr>
        <p:spPr>
          <a:xfrm>
            <a:off x="826145" y="3488680"/>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Microsoft Excel (Data cleaning)</a:t>
            </a:r>
          </a:p>
        </p:txBody>
      </p:sp>
      <p:sp>
        <p:nvSpPr>
          <p:cNvPr id="14" name="TextBox 14"/>
          <p:cNvSpPr txBox="1"/>
          <p:nvPr/>
        </p:nvSpPr>
        <p:spPr>
          <a:xfrm>
            <a:off x="826145" y="4040829"/>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dirty="0">
                <a:solidFill>
                  <a:srgbClr val="1F4E79"/>
                </a:solidFill>
                <a:latin typeface="Poppins"/>
                <a:ea typeface="Poppins"/>
                <a:cs typeface="Poppins"/>
                <a:sym typeface="Poppins"/>
              </a:rPr>
              <a:t>Power BI Desktop (Modeling &amp; Visualization)</a:t>
            </a:r>
          </a:p>
        </p:txBody>
      </p:sp>
      <p:sp>
        <p:nvSpPr>
          <p:cNvPr id="15" name="TextBox 15"/>
          <p:cNvSpPr txBox="1"/>
          <p:nvPr/>
        </p:nvSpPr>
        <p:spPr>
          <a:xfrm>
            <a:off x="826145" y="5178772"/>
            <a:ext cx="3541216" cy="490091"/>
          </a:xfrm>
          <a:prstGeom prst="rect">
            <a:avLst/>
          </a:prstGeom>
        </p:spPr>
        <p:txBody>
          <a:bodyPr lIns="0" tIns="0" rIns="0" bIns="0" rtlCol="0" anchor="t">
            <a:spAutoFit/>
          </a:bodyPr>
          <a:lstStyle/>
          <a:p>
            <a:pPr algn="l">
              <a:lnSpc>
                <a:spcPts val="3437"/>
              </a:lnSpc>
            </a:pPr>
            <a:r>
              <a:rPr lang="en-US" sz="2750" b="1">
                <a:solidFill>
                  <a:srgbClr val="1D1F22"/>
                </a:solidFill>
                <a:latin typeface="Poppins Bold"/>
                <a:ea typeface="Poppins Bold"/>
                <a:cs typeface="Poppins Bold"/>
                <a:sym typeface="Poppins Bold"/>
              </a:rPr>
              <a:t>Techniques:</a:t>
            </a:r>
          </a:p>
        </p:txBody>
      </p:sp>
      <p:sp>
        <p:nvSpPr>
          <p:cNvPr id="16" name="TextBox 16"/>
          <p:cNvSpPr txBox="1"/>
          <p:nvPr/>
        </p:nvSpPr>
        <p:spPr>
          <a:xfrm>
            <a:off x="826145" y="5937200"/>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Data Cleaning &amp; Transformation in Power Query</a:t>
            </a:r>
          </a:p>
        </p:txBody>
      </p:sp>
      <p:sp>
        <p:nvSpPr>
          <p:cNvPr id="17" name="TextBox 17"/>
          <p:cNvSpPr txBox="1"/>
          <p:nvPr/>
        </p:nvSpPr>
        <p:spPr>
          <a:xfrm>
            <a:off x="826145" y="6397377"/>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Data Modeling (Fact &amp; Dimension Tables)</a:t>
            </a:r>
          </a:p>
        </p:txBody>
      </p:sp>
      <p:sp>
        <p:nvSpPr>
          <p:cNvPr id="18" name="TextBox 18"/>
          <p:cNvSpPr txBox="1"/>
          <p:nvPr/>
        </p:nvSpPr>
        <p:spPr>
          <a:xfrm>
            <a:off x="826145" y="6857554"/>
            <a:ext cx="6577310" cy="840879"/>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DAX Measures (Total Installs, Average Rating, Count of Apps, Top N Logic)</a:t>
            </a:r>
          </a:p>
        </p:txBody>
      </p:sp>
      <p:sp>
        <p:nvSpPr>
          <p:cNvPr id="19" name="TextBox 19"/>
          <p:cNvSpPr txBox="1"/>
          <p:nvPr/>
        </p:nvSpPr>
        <p:spPr>
          <a:xfrm>
            <a:off x="826145" y="7695307"/>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Star Schema Design</a:t>
            </a:r>
          </a:p>
        </p:txBody>
      </p:sp>
      <p:sp>
        <p:nvSpPr>
          <p:cNvPr id="20" name="TextBox 20"/>
          <p:cNvSpPr txBox="1"/>
          <p:nvPr/>
        </p:nvSpPr>
        <p:spPr>
          <a:xfrm>
            <a:off x="826145" y="8155484"/>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Visual-level, Page-level &amp; Report-level Filters</a:t>
            </a:r>
          </a:p>
        </p:txBody>
      </p:sp>
      <p:sp>
        <p:nvSpPr>
          <p:cNvPr id="21" name="TextBox 21"/>
          <p:cNvSpPr txBox="1"/>
          <p:nvPr/>
        </p:nvSpPr>
        <p:spPr>
          <a:xfrm>
            <a:off x="826145" y="8615660"/>
            <a:ext cx="6577310" cy="463303"/>
          </a:xfrm>
          <a:prstGeom prst="rect">
            <a:avLst/>
          </a:prstGeom>
        </p:spPr>
        <p:txBody>
          <a:bodyPr lIns="0" tIns="0" rIns="0" bIns="0" rtlCol="0" anchor="t">
            <a:spAutoFit/>
          </a:bodyPr>
          <a:lstStyle/>
          <a:p>
            <a:pPr marL="273348" lvl="1" indent="-136674" algn="l">
              <a:lnSpc>
                <a:spcPts val="2937"/>
              </a:lnSpc>
              <a:buFont typeface="Arial"/>
              <a:buChar char="•"/>
            </a:pPr>
            <a:r>
              <a:rPr lang="en-US" sz="1812">
                <a:solidFill>
                  <a:srgbClr val="1F4E79"/>
                </a:solidFill>
                <a:latin typeface="Poppins"/>
                <a:ea typeface="Poppins"/>
                <a:cs typeface="Poppins"/>
                <a:sym typeface="Poppins"/>
              </a:rPr>
              <a:t>Dashboard Formatting &amp; Theme Optimization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6" name="TextBox 6"/>
          <p:cNvSpPr txBox="1"/>
          <p:nvPr/>
        </p:nvSpPr>
        <p:spPr>
          <a:xfrm>
            <a:off x="992238" y="2076450"/>
            <a:ext cx="7197179"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Scope &amp; Limitations</a:t>
            </a:r>
          </a:p>
        </p:txBody>
      </p:sp>
      <p:sp>
        <p:nvSpPr>
          <p:cNvPr id="7" name="TextBox 7"/>
          <p:cNvSpPr txBox="1"/>
          <p:nvPr/>
        </p:nvSpPr>
        <p:spPr>
          <a:xfrm>
            <a:off x="992238" y="3699719"/>
            <a:ext cx="4252912" cy="579239"/>
          </a:xfrm>
          <a:prstGeom prst="rect">
            <a:avLst/>
          </a:prstGeom>
        </p:spPr>
        <p:txBody>
          <a:bodyPr lIns="0" tIns="0" rIns="0" bIns="0" rtlCol="0" anchor="t">
            <a:spAutoFit/>
          </a:bodyPr>
          <a:lstStyle/>
          <a:p>
            <a:pPr algn="l">
              <a:lnSpc>
                <a:spcPts val="4125"/>
              </a:lnSpc>
            </a:pPr>
            <a:r>
              <a:rPr lang="en-US" sz="3312" b="1">
                <a:solidFill>
                  <a:srgbClr val="1D1F22"/>
                </a:solidFill>
                <a:latin typeface="Poppins Bold"/>
                <a:ea typeface="Poppins Bold"/>
                <a:cs typeface="Poppins Bold"/>
                <a:sym typeface="Poppins Bold"/>
              </a:rPr>
              <a:t>Scope:</a:t>
            </a:r>
          </a:p>
        </p:txBody>
      </p:sp>
      <p:sp>
        <p:nvSpPr>
          <p:cNvPr id="8" name="TextBox 8"/>
          <p:cNvSpPr txBox="1"/>
          <p:nvPr/>
        </p:nvSpPr>
        <p:spPr>
          <a:xfrm>
            <a:off x="992238" y="4448175"/>
            <a:ext cx="7805886" cy="1021556"/>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Provides insights on app installs, ratings, genres, and pricing</a:t>
            </a:r>
          </a:p>
        </p:txBody>
      </p:sp>
      <p:sp>
        <p:nvSpPr>
          <p:cNvPr id="9" name="TextBox 9"/>
          <p:cNvSpPr txBox="1"/>
          <p:nvPr/>
        </p:nvSpPr>
        <p:spPr>
          <a:xfrm>
            <a:off x="992238" y="5454551"/>
            <a:ext cx="7805886"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Helps compare performance between categories</a:t>
            </a:r>
          </a:p>
        </p:txBody>
      </p:sp>
      <p:sp>
        <p:nvSpPr>
          <p:cNvPr id="10" name="TextBox 10"/>
          <p:cNvSpPr txBox="1"/>
          <p:nvPr/>
        </p:nvSpPr>
        <p:spPr>
          <a:xfrm>
            <a:off x="992238" y="6007299"/>
            <a:ext cx="7805886" cy="1021556"/>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Offers quick decision-making visuals for stakeholders</a:t>
            </a:r>
          </a:p>
        </p:txBody>
      </p:sp>
      <p:sp>
        <p:nvSpPr>
          <p:cNvPr id="11" name="TextBox 11"/>
          <p:cNvSpPr txBox="1"/>
          <p:nvPr/>
        </p:nvSpPr>
        <p:spPr>
          <a:xfrm>
            <a:off x="992238" y="7013674"/>
            <a:ext cx="7805886"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Covers both free and paid apps analysis</a:t>
            </a:r>
          </a:p>
        </p:txBody>
      </p:sp>
      <p:sp>
        <p:nvSpPr>
          <p:cNvPr id="12" name="TextBox 12"/>
          <p:cNvSpPr txBox="1"/>
          <p:nvPr/>
        </p:nvSpPr>
        <p:spPr>
          <a:xfrm>
            <a:off x="9499401" y="3699719"/>
            <a:ext cx="4252912" cy="579239"/>
          </a:xfrm>
          <a:prstGeom prst="rect">
            <a:avLst/>
          </a:prstGeom>
        </p:spPr>
        <p:txBody>
          <a:bodyPr lIns="0" tIns="0" rIns="0" bIns="0" rtlCol="0" anchor="t">
            <a:spAutoFit/>
          </a:bodyPr>
          <a:lstStyle/>
          <a:p>
            <a:pPr algn="l">
              <a:lnSpc>
                <a:spcPts val="4125"/>
              </a:lnSpc>
            </a:pPr>
            <a:r>
              <a:rPr lang="en-US" sz="3312" b="1">
                <a:solidFill>
                  <a:srgbClr val="1D1F22"/>
                </a:solidFill>
                <a:latin typeface="Poppins Bold"/>
                <a:ea typeface="Poppins Bold"/>
                <a:cs typeface="Poppins Bold"/>
                <a:sym typeface="Poppins Bold"/>
              </a:rPr>
              <a:t>Limitations:</a:t>
            </a:r>
          </a:p>
        </p:txBody>
      </p:sp>
      <p:sp>
        <p:nvSpPr>
          <p:cNvPr id="13" name="TextBox 13"/>
          <p:cNvSpPr txBox="1"/>
          <p:nvPr/>
        </p:nvSpPr>
        <p:spPr>
          <a:xfrm>
            <a:off x="9499401" y="4448175"/>
            <a:ext cx="7805886" cy="567929"/>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Dataset is not 100% real-time</a:t>
            </a:r>
          </a:p>
        </p:txBody>
      </p:sp>
      <p:sp>
        <p:nvSpPr>
          <p:cNvPr id="14" name="TextBox 14"/>
          <p:cNvSpPr txBox="1"/>
          <p:nvPr/>
        </p:nvSpPr>
        <p:spPr>
          <a:xfrm>
            <a:off x="9499401" y="5000922"/>
            <a:ext cx="7805886" cy="1021556"/>
          </a:xfrm>
          <a:prstGeom prst="rect">
            <a:avLst/>
          </a:prstGeom>
        </p:spPr>
        <p:txBody>
          <a:bodyPr lIns="0" tIns="0" rIns="0" bIns="0" rtlCol="0" anchor="t">
            <a:spAutoFit/>
          </a:bodyPr>
          <a:lstStyle/>
          <a:p>
            <a:pPr marL="329902" lvl="1" indent="-164951" algn="l">
              <a:lnSpc>
                <a:spcPts val="3562"/>
              </a:lnSpc>
              <a:buFont typeface="Arial"/>
              <a:buChar char="•"/>
            </a:pPr>
            <a:r>
              <a:rPr lang="en-US" sz="2187" dirty="0">
                <a:solidFill>
                  <a:srgbClr val="1F4E79"/>
                </a:solidFill>
                <a:latin typeface="Poppins"/>
                <a:ea typeface="Poppins"/>
                <a:cs typeface="Poppins"/>
                <a:sym typeface="Poppins"/>
              </a:rPr>
              <a:t>Some data fields may be inaccurate (user-entered app data)</a:t>
            </a:r>
          </a:p>
        </p:txBody>
      </p:sp>
      <p:sp>
        <p:nvSpPr>
          <p:cNvPr id="15" name="TextBox 15"/>
          <p:cNvSpPr txBox="1"/>
          <p:nvPr/>
        </p:nvSpPr>
        <p:spPr>
          <a:xfrm>
            <a:off x="9499401" y="6007299"/>
            <a:ext cx="7805886" cy="1021556"/>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Limited to Google Playstore, not combined with App Store</a:t>
            </a:r>
          </a:p>
        </p:txBody>
      </p:sp>
      <p:sp>
        <p:nvSpPr>
          <p:cNvPr id="16" name="TextBox 16"/>
          <p:cNvSpPr txBox="1"/>
          <p:nvPr/>
        </p:nvSpPr>
        <p:spPr>
          <a:xfrm>
            <a:off x="9499401" y="7013674"/>
            <a:ext cx="7805886" cy="1021556"/>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1F4E79"/>
                </a:solidFill>
                <a:latin typeface="Poppins"/>
                <a:ea typeface="Poppins"/>
                <a:cs typeface="Poppins"/>
                <a:sym typeface="Poppins"/>
              </a:rPr>
              <a:t>Rating and install numbers are approximate, not exact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6" name="TextBox 6"/>
          <p:cNvSpPr txBox="1"/>
          <p:nvPr/>
        </p:nvSpPr>
        <p:spPr>
          <a:xfrm>
            <a:off x="992238" y="885676"/>
            <a:ext cx="7088237"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Outcome</a:t>
            </a:r>
          </a:p>
        </p:txBody>
      </p:sp>
      <p:grpSp>
        <p:nvGrpSpPr>
          <p:cNvPr id="7" name="Group 7"/>
          <p:cNvGrpSpPr/>
          <p:nvPr/>
        </p:nvGrpSpPr>
        <p:grpSpPr>
          <a:xfrm>
            <a:off x="987475" y="2410122"/>
            <a:ext cx="647402" cy="647403"/>
            <a:chOff x="0" y="0"/>
            <a:chExt cx="863203" cy="863203"/>
          </a:xfrm>
        </p:grpSpPr>
        <p:sp>
          <p:nvSpPr>
            <p:cNvPr id="8" name="Freeform 8"/>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1F2D9"/>
            </a:solidFill>
          </p:spPr>
        </p:sp>
        <p:sp>
          <p:nvSpPr>
            <p:cNvPr id="9" name="Freeform 9"/>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7D8BF"/>
            </a:solidFill>
          </p:spPr>
        </p:sp>
      </p:grpSp>
      <p:sp>
        <p:nvSpPr>
          <p:cNvPr id="10" name="TextBox 10"/>
          <p:cNvSpPr txBox="1"/>
          <p:nvPr/>
        </p:nvSpPr>
        <p:spPr>
          <a:xfrm>
            <a:off x="1913632" y="2420391"/>
            <a:ext cx="9305628"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Helped identify top-performing categories</a:t>
            </a:r>
          </a:p>
        </p:txBody>
      </p:sp>
      <p:grpSp>
        <p:nvGrpSpPr>
          <p:cNvPr id="11" name="Group 11"/>
          <p:cNvGrpSpPr/>
          <p:nvPr/>
        </p:nvGrpSpPr>
        <p:grpSpPr>
          <a:xfrm>
            <a:off x="987475" y="3615035"/>
            <a:ext cx="647402" cy="647402"/>
            <a:chOff x="0" y="0"/>
            <a:chExt cx="863203" cy="863203"/>
          </a:xfrm>
        </p:grpSpPr>
        <p:sp>
          <p:nvSpPr>
            <p:cNvPr id="12" name="Freeform 12"/>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1F2D9"/>
            </a:solidFill>
          </p:spPr>
        </p:sp>
        <p:sp>
          <p:nvSpPr>
            <p:cNvPr id="13" name="Freeform 13"/>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7D8BF"/>
            </a:solidFill>
          </p:spPr>
        </p:sp>
      </p:grpSp>
      <p:sp>
        <p:nvSpPr>
          <p:cNvPr id="14" name="TextBox 14"/>
          <p:cNvSpPr txBox="1"/>
          <p:nvPr/>
        </p:nvSpPr>
        <p:spPr>
          <a:xfrm>
            <a:off x="1913632" y="3625304"/>
            <a:ext cx="12223402"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Showed which apps gain high installs with fewer ratings</a:t>
            </a:r>
          </a:p>
        </p:txBody>
      </p:sp>
      <p:grpSp>
        <p:nvGrpSpPr>
          <p:cNvPr id="15" name="Group 15"/>
          <p:cNvGrpSpPr/>
          <p:nvPr/>
        </p:nvGrpSpPr>
        <p:grpSpPr>
          <a:xfrm>
            <a:off x="987475" y="4819947"/>
            <a:ext cx="647402" cy="647403"/>
            <a:chOff x="0" y="0"/>
            <a:chExt cx="863203" cy="863203"/>
          </a:xfrm>
        </p:grpSpPr>
        <p:sp>
          <p:nvSpPr>
            <p:cNvPr id="16" name="Freeform 16"/>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1F2D9"/>
            </a:solidFill>
          </p:spPr>
        </p:sp>
        <p:sp>
          <p:nvSpPr>
            <p:cNvPr id="17" name="Freeform 17"/>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7D8BF"/>
            </a:solidFill>
          </p:spPr>
        </p:sp>
      </p:grpSp>
      <p:sp>
        <p:nvSpPr>
          <p:cNvPr id="18" name="TextBox 18"/>
          <p:cNvSpPr txBox="1"/>
          <p:nvPr/>
        </p:nvSpPr>
        <p:spPr>
          <a:xfrm>
            <a:off x="1913632" y="4830216"/>
            <a:ext cx="11739860"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Revealed market share distribution across categories</a:t>
            </a:r>
          </a:p>
        </p:txBody>
      </p:sp>
      <p:grpSp>
        <p:nvGrpSpPr>
          <p:cNvPr id="19" name="Group 19"/>
          <p:cNvGrpSpPr/>
          <p:nvPr/>
        </p:nvGrpSpPr>
        <p:grpSpPr>
          <a:xfrm>
            <a:off x="987475" y="6024860"/>
            <a:ext cx="647402" cy="647403"/>
            <a:chOff x="0" y="0"/>
            <a:chExt cx="863203" cy="863203"/>
          </a:xfrm>
        </p:grpSpPr>
        <p:sp>
          <p:nvSpPr>
            <p:cNvPr id="20" name="Freeform 20"/>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1F2D9"/>
            </a:solidFill>
          </p:spPr>
        </p:sp>
        <p:sp>
          <p:nvSpPr>
            <p:cNvPr id="21" name="Freeform 21"/>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7D8BF"/>
            </a:solidFill>
          </p:spPr>
        </p:sp>
      </p:grpSp>
      <p:sp>
        <p:nvSpPr>
          <p:cNvPr id="22" name="TextBox 22"/>
          <p:cNvSpPr txBox="1"/>
          <p:nvPr/>
        </p:nvSpPr>
        <p:spPr>
          <a:xfrm>
            <a:off x="1913632" y="6035129"/>
            <a:ext cx="14296579"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Highlighted the difference between Free vs Paid app performance</a:t>
            </a:r>
          </a:p>
        </p:txBody>
      </p:sp>
      <p:grpSp>
        <p:nvGrpSpPr>
          <p:cNvPr id="23" name="Group 23"/>
          <p:cNvGrpSpPr/>
          <p:nvPr/>
        </p:nvGrpSpPr>
        <p:grpSpPr>
          <a:xfrm>
            <a:off x="987475" y="7229772"/>
            <a:ext cx="647402" cy="647403"/>
            <a:chOff x="0" y="0"/>
            <a:chExt cx="863203" cy="863203"/>
          </a:xfrm>
        </p:grpSpPr>
        <p:sp>
          <p:nvSpPr>
            <p:cNvPr id="24" name="Freeform 24"/>
            <p:cNvSpPr/>
            <p:nvPr/>
          </p:nvSpPr>
          <p:spPr>
            <a:xfrm>
              <a:off x="6350" y="6350"/>
              <a:ext cx="850519" cy="850519"/>
            </a:xfrm>
            <a:custGeom>
              <a:avLst/>
              <a:gdLst/>
              <a:ahLst/>
              <a:cxnLst/>
              <a:rect l="l" t="t" r="r" b="b"/>
              <a:pathLst>
                <a:path w="850519" h="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E1F2D9"/>
            </a:solidFill>
          </p:spPr>
        </p:sp>
        <p:sp>
          <p:nvSpPr>
            <p:cNvPr id="25" name="Freeform 25"/>
            <p:cNvSpPr/>
            <p:nvPr/>
          </p:nvSpPr>
          <p:spPr>
            <a:xfrm>
              <a:off x="0" y="0"/>
              <a:ext cx="863219" cy="863219"/>
            </a:xfrm>
            <a:custGeom>
              <a:avLst/>
              <a:gdLst/>
              <a:ahLst/>
              <a:cxnLst/>
              <a:rect l="l" t="t" r="r" b="b"/>
              <a:pathLst>
                <a:path w="863219" h="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C7D8BF"/>
            </a:solidFill>
          </p:spPr>
        </p:sp>
      </p:grpSp>
      <p:sp>
        <p:nvSpPr>
          <p:cNvPr id="26" name="TextBox 26"/>
          <p:cNvSpPr txBox="1"/>
          <p:nvPr/>
        </p:nvSpPr>
        <p:spPr>
          <a:xfrm>
            <a:off x="1913632" y="7240041"/>
            <a:ext cx="14843820" cy="579239"/>
          </a:xfrm>
          <a:prstGeom prst="rect">
            <a:avLst/>
          </a:prstGeom>
        </p:spPr>
        <p:txBody>
          <a:bodyPr lIns="0" tIns="0" rIns="0" bIns="0" rtlCol="0" anchor="t">
            <a:spAutoFit/>
          </a:bodyPr>
          <a:lstStyle/>
          <a:p>
            <a:pPr algn="l">
              <a:lnSpc>
                <a:spcPts val="4125"/>
              </a:lnSpc>
            </a:pPr>
            <a:r>
              <a:rPr lang="en-US" sz="3312" b="1">
                <a:solidFill>
                  <a:srgbClr val="1F4E79"/>
                </a:solidFill>
                <a:latin typeface="Poppins Bold"/>
                <a:ea typeface="Poppins Bold"/>
                <a:cs typeface="Poppins Bold"/>
                <a:sym typeface="Poppins Bold"/>
              </a:rPr>
              <a:t>Provided a clear understanding of user engagement and app trends</a:t>
            </a:r>
          </a:p>
        </p:txBody>
      </p:sp>
      <p:sp>
        <p:nvSpPr>
          <p:cNvPr id="27" name="TextBox 27"/>
          <p:cNvSpPr txBox="1"/>
          <p:nvPr/>
        </p:nvSpPr>
        <p:spPr>
          <a:xfrm>
            <a:off x="992238" y="8048476"/>
            <a:ext cx="16303526" cy="1276647"/>
          </a:xfrm>
          <a:prstGeom prst="rect">
            <a:avLst/>
          </a:prstGeom>
        </p:spPr>
        <p:txBody>
          <a:bodyPr lIns="0" tIns="0" rIns="0" bIns="0" rtlCol="0" anchor="t">
            <a:spAutoFit/>
          </a:bodyPr>
          <a:lstStyle/>
          <a:p>
            <a:pPr algn="l">
              <a:lnSpc>
                <a:spcPts val="4437"/>
              </a:lnSpc>
            </a:pPr>
            <a:r>
              <a:rPr lang="en-US" sz="2750">
                <a:solidFill>
                  <a:srgbClr val="1F4E79"/>
                </a:solidFill>
                <a:latin typeface="Poppins"/>
                <a:ea typeface="Poppins"/>
                <a:cs typeface="Poppins"/>
                <a:sym typeface="Poppins"/>
              </a:rPr>
              <a:t>This dashboard can be presented in interviews as a complete end-to-end project explaining your understanding of data cleaning, modeling, and visualization.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txBody>
            <a:bodyPr/>
            <a:lstStyle/>
            <a:p>
              <a:endParaRPr lang="en-IN" dirty="0"/>
            </a:p>
          </p:txBody>
        </p:sp>
      </p:grpSp>
      <p:sp>
        <p:nvSpPr>
          <p:cNvPr id="6" name="TextBox 6"/>
          <p:cNvSpPr txBox="1"/>
          <p:nvPr/>
        </p:nvSpPr>
        <p:spPr>
          <a:xfrm>
            <a:off x="992238" y="1638597"/>
            <a:ext cx="8031956"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Future Enhancements</a:t>
            </a:r>
          </a:p>
        </p:txBody>
      </p:sp>
      <p:sp>
        <p:nvSpPr>
          <p:cNvPr id="7" name="TextBox 7"/>
          <p:cNvSpPr txBox="1"/>
          <p:nvPr/>
        </p:nvSpPr>
        <p:spPr>
          <a:xfrm>
            <a:off x="992238" y="3053506"/>
            <a:ext cx="283518" cy="468660"/>
          </a:xfrm>
          <a:prstGeom prst="rect">
            <a:avLst/>
          </a:prstGeom>
        </p:spPr>
        <p:txBody>
          <a:bodyPr lIns="0" tIns="0" rIns="0" bIns="0" rtlCol="0" anchor="t">
            <a:spAutoFit/>
          </a:bodyPr>
          <a:lstStyle/>
          <a:p>
            <a:pPr algn="l">
              <a:lnSpc>
                <a:spcPts val="3562"/>
              </a:lnSpc>
            </a:pPr>
            <a:r>
              <a:rPr lang="en-US" sz="2187">
                <a:solidFill>
                  <a:srgbClr val="1F4E79"/>
                </a:solidFill>
                <a:latin typeface="Poppins Light"/>
                <a:ea typeface="Poppins Light"/>
                <a:cs typeface="Poppins Light"/>
                <a:sym typeface="Poppins Light"/>
              </a:rPr>
              <a:t>01</a:t>
            </a:r>
          </a:p>
        </p:txBody>
      </p:sp>
      <p:grpSp>
        <p:nvGrpSpPr>
          <p:cNvPr id="8" name="Group 8"/>
          <p:cNvGrpSpPr/>
          <p:nvPr/>
        </p:nvGrpSpPr>
        <p:grpSpPr>
          <a:xfrm>
            <a:off x="992238" y="3611612"/>
            <a:ext cx="8009930" cy="38100"/>
            <a:chOff x="0" y="0"/>
            <a:chExt cx="10679907" cy="50800"/>
          </a:xfrm>
        </p:grpSpPr>
        <p:sp>
          <p:nvSpPr>
            <p:cNvPr id="9" name="Freeform 9"/>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5AA43B"/>
            </a:solidFill>
          </p:spPr>
        </p:sp>
      </p:grpSp>
      <p:sp>
        <p:nvSpPr>
          <p:cNvPr id="10" name="TextBox 10"/>
          <p:cNvSpPr txBox="1"/>
          <p:nvPr/>
        </p:nvSpPr>
        <p:spPr>
          <a:xfrm>
            <a:off x="992238" y="3781871"/>
            <a:ext cx="8009930" cy="933450"/>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Add time-series analysis using Last Updated</a:t>
            </a:r>
          </a:p>
        </p:txBody>
      </p:sp>
      <p:sp>
        <p:nvSpPr>
          <p:cNvPr id="11" name="TextBox 11"/>
          <p:cNvSpPr txBox="1"/>
          <p:nvPr/>
        </p:nvSpPr>
        <p:spPr>
          <a:xfrm>
            <a:off x="9285684" y="3053507"/>
            <a:ext cx="467915" cy="425946"/>
          </a:xfrm>
          <a:prstGeom prst="rect">
            <a:avLst/>
          </a:prstGeom>
        </p:spPr>
        <p:txBody>
          <a:bodyPr wrap="square" lIns="0" tIns="0" rIns="0" bIns="0" rtlCol="0" anchor="t">
            <a:spAutoFit/>
          </a:bodyPr>
          <a:lstStyle/>
          <a:p>
            <a:pPr algn="l">
              <a:lnSpc>
                <a:spcPts val="3562"/>
              </a:lnSpc>
            </a:pPr>
            <a:r>
              <a:rPr lang="en-US" sz="2187" dirty="0">
                <a:solidFill>
                  <a:srgbClr val="1F4E79"/>
                </a:solidFill>
                <a:latin typeface="Poppins Light"/>
                <a:ea typeface="Poppins Light"/>
                <a:cs typeface="Poppins Light"/>
                <a:sym typeface="Poppins Light"/>
              </a:rPr>
              <a:t>02</a:t>
            </a:r>
          </a:p>
        </p:txBody>
      </p:sp>
      <p:grpSp>
        <p:nvGrpSpPr>
          <p:cNvPr id="12" name="Group 12"/>
          <p:cNvGrpSpPr/>
          <p:nvPr/>
        </p:nvGrpSpPr>
        <p:grpSpPr>
          <a:xfrm>
            <a:off x="9285685" y="3611612"/>
            <a:ext cx="8010079" cy="38100"/>
            <a:chOff x="0" y="0"/>
            <a:chExt cx="10680105" cy="50800"/>
          </a:xfrm>
        </p:grpSpPr>
        <p:sp>
          <p:nvSpPr>
            <p:cNvPr id="13" name="Freeform 13"/>
            <p:cNvSpPr/>
            <p:nvPr/>
          </p:nvSpPr>
          <p:spPr>
            <a:xfrm>
              <a:off x="0" y="0"/>
              <a:ext cx="10680065" cy="50800"/>
            </a:xfrm>
            <a:custGeom>
              <a:avLst/>
              <a:gdLst/>
              <a:ahLst/>
              <a:cxnLst/>
              <a:rect l="l" t="t" r="r" b="b"/>
              <a:pathLst>
                <a:path w="10680065" h="50800">
                  <a:moveTo>
                    <a:pt x="0" y="0"/>
                  </a:moveTo>
                  <a:lnTo>
                    <a:pt x="10680065" y="0"/>
                  </a:lnTo>
                  <a:lnTo>
                    <a:pt x="10680065" y="50800"/>
                  </a:lnTo>
                  <a:lnTo>
                    <a:pt x="0" y="50800"/>
                  </a:lnTo>
                  <a:close/>
                </a:path>
              </a:pathLst>
            </a:custGeom>
            <a:solidFill>
              <a:srgbClr val="5AA43B"/>
            </a:solidFill>
          </p:spPr>
        </p:sp>
      </p:grpSp>
      <p:sp>
        <p:nvSpPr>
          <p:cNvPr id="14" name="TextBox 14"/>
          <p:cNvSpPr txBox="1"/>
          <p:nvPr/>
        </p:nvSpPr>
        <p:spPr>
          <a:xfrm>
            <a:off x="9285685" y="3781871"/>
            <a:ext cx="8010079" cy="861774"/>
          </a:xfrm>
          <a:prstGeom prst="rect">
            <a:avLst/>
          </a:prstGeom>
        </p:spPr>
        <p:txBody>
          <a:bodyPr lIns="0" tIns="0" rIns="0" bIns="0" rtlCol="0" anchor="t">
            <a:spAutoFit/>
          </a:bodyPr>
          <a:lstStyle/>
          <a:p>
            <a:pPr algn="l">
              <a:lnSpc>
                <a:spcPts val="3437"/>
              </a:lnSpc>
            </a:pPr>
            <a:r>
              <a:rPr lang="en-US" sz="2750" b="1" dirty="0">
                <a:solidFill>
                  <a:srgbClr val="1F4E79"/>
                </a:solidFill>
                <a:latin typeface="Poppins Bold"/>
                <a:ea typeface="Poppins Bold"/>
                <a:cs typeface="Poppins Bold"/>
                <a:sym typeface="Poppins Bold"/>
              </a:rPr>
              <a:t>Combine Google Play store &amp; Apple Store datasets for cross-market insights</a:t>
            </a:r>
          </a:p>
        </p:txBody>
      </p:sp>
      <p:sp>
        <p:nvSpPr>
          <p:cNvPr id="15" name="TextBox 15"/>
          <p:cNvSpPr txBox="1"/>
          <p:nvPr/>
        </p:nvSpPr>
        <p:spPr>
          <a:xfrm>
            <a:off x="992238" y="5097066"/>
            <a:ext cx="379362" cy="424796"/>
          </a:xfrm>
          <a:prstGeom prst="rect">
            <a:avLst/>
          </a:prstGeom>
        </p:spPr>
        <p:txBody>
          <a:bodyPr wrap="square" lIns="0" tIns="0" rIns="0" bIns="0" rtlCol="0" anchor="t">
            <a:spAutoFit/>
          </a:bodyPr>
          <a:lstStyle/>
          <a:p>
            <a:pPr algn="l">
              <a:lnSpc>
                <a:spcPts val="3562"/>
              </a:lnSpc>
            </a:pPr>
            <a:r>
              <a:rPr lang="en-US" sz="2187" dirty="0">
                <a:solidFill>
                  <a:srgbClr val="1F4E79"/>
                </a:solidFill>
                <a:latin typeface="Poppins Light"/>
                <a:ea typeface="Poppins Light"/>
                <a:cs typeface="Poppins Light"/>
                <a:sym typeface="Poppins Light"/>
              </a:rPr>
              <a:t>03</a:t>
            </a:r>
          </a:p>
        </p:txBody>
      </p:sp>
      <p:grpSp>
        <p:nvGrpSpPr>
          <p:cNvPr id="16" name="Group 16"/>
          <p:cNvGrpSpPr/>
          <p:nvPr/>
        </p:nvGrpSpPr>
        <p:grpSpPr>
          <a:xfrm>
            <a:off x="992238" y="5655171"/>
            <a:ext cx="8009930" cy="38100"/>
            <a:chOff x="0" y="0"/>
            <a:chExt cx="10679907" cy="50800"/>
          </a:xfrm>
        </p:grpSpPr>
        <p:sp>
          <p:nvSpPr>
            <p:cNvPr id="17" name="Freeform 17"/>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5AA43B"/>
            </a:solidFill>
          </p:spPr>
        </p:sp>
      </p:grpSp>
      <p:sp>
        <p:nvSpPr>
          <p:cNvPr id="18" name="TextBox 18"/>
          <p:cNvSpPr txBox="1"/>
          <p:nvPr/>
        </p:nvSpPr>
        <p:spPr>
          <a:xfrm>
            <a:off x="992238" y="5825430"/>
            <a:ext cx="6858297"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Include sentiment analysis of reviews</a:t>
            </a:r>
          </a:p>
        </p:txBody>
      </p:sp>
      <p:sp>
        <p:nvSpPr>
          <p:cNvPr id="19" name="TextBox 19"/>
          <p:cNvSpPr txBox="1"/>
          <p:nvPr/>
        </p:nvSpPr>
        <p:spPr>
          <a:xfrm>
            <a:off x="9285685" y="5097066"/>
            <a:ext cx="467914" cy="424796"/>
          </a:xfrm>
          <a:prstGeom prst="rect">
            <a:avLst/>
          </a:prstGeom>
        </p:spPr>
        <p:txBody>
          <a:bodyPr wrap="square" lIns="0" tIns="0" rIns="0" bIns="0" rtlCol="0" anchor="t">
            <a:spAutoFit/>
          </a:bodyPr>
          <a:lstStyle/>
          <a:p>
            <a:pPr algn="l">
              <a:lnSpc>
                <a:spcPts val="3562"/>
              </a:lnSpc>
            </a:pPr>
            <a:r>
              <a:rPr lang="en-US" sz="2187" dirty="0">
                <a:solidFill>
                  <a:srgbClr val="1F4E79"/>
                </a:solidFill>
                <a:latin typeface="Poppins Light"/>
                <a:ea typeface="Poppins Light"/>
                <a:cs typeface="Poppins Light"/>
                <a:sym typeface="Poppins Light"/>
              </a:rPr>
              <a:t>04</a:t>
            </a:r>
          </a:p>
        </p:txBody>
      </p:sp>
      <p:grpSp>
        <p:nvGrpSpPr>
          <p:cNvPr id="20" name="Group 20"/>
          <p:cNvGrpSpPr/>
          <p:nvPr/>
        </p:nvGrpSpPr>
        <p:grpSpPr>
          <a:xfrm>
            <a:off x="9285685" y="5655171"/>
            <a:ext cx="8010079" cy="38100"/>
            <a:chOff x="0" y="0"/>
            <a:chExt cx="10680105" cy="50800"/>
          </a:xfrm>
        </p:grpSpPr>
        <p:sp>
          <p:nvSpPr>
            <p:cNvPr id="21" name="Freeform 21"/>
            <p:cNvSpPr/>
            <p:nvPr/>
          </p:nvSpPr>
          <p:spPr>
            <a:xfrm>
              <a:off x="0" y="0"/>
              <a:ext cx="10680065" cy="50800"/>
            </a:xfrm>
            <a:custGeom>
              <a:avLst/>
              <a:gdLst/>
              <a:ahLst/>
              <a:cxnLst/>
              <a:rect l="l" t="t" r="r" b="b"/>
              <a:pathLst>
                <a:path w="10680065" h="50800">
                  <a:moveTo>
                    <a:pt x="0" y="0"/>
                  </a:moveTo>
                  <a:lnTo>
                    <a:pt x="10680065" y="0"/>
                  </a:lnTo>
                  <a:lnTo>
                    <a:pt x="10680065" y="50800"/>
                  </a:lnTo>
                  <a:lnTo>
                    <a:pt x="0" y="50800"/>
                  </a:lnTo>
                  <a:close/>
                </a:path>
              </a:pathLst>
            </a:custGeom>
            <a:solidFill>
              <a:srgbClr val="5AA43B"/>
            </a:solidFill>
          </p:spPr>
        </p:sp>
      </p:grpSp>
      <p:sp>
        <p:nvSpPr>
          <p:cNvPr id="22" name="TextBox 22"/>
          <p:cNvSpPr txBox="1"/>
          <p:nvPr/>
        </p:nvSpPr>
        <p:spPr>
          <a:xfrm>
            <a:off x="9285685" y="5825430"/>
            <a:ext cx="6240959" cy="490537"/>
          </a:xfrm>
          <a:prstGeom prst="rect">
            <a:avLst/>
          </a:prstGeom>
        </p:spPr>
        <p:txBody>
          <a:bodyPr lIns="0" tIns="0" rIns="0" bIns="0" rtlCol="0" anchor="t">
            <a:spAutoFit/>
          </a:bodyPr>
          <a:lstStyle/>
          <a:p>
            <a:pPr algn="l">
              <a:lnSpc>
                <a:spcPts val="3437"/>
              </a:lnSpc>
            </a:pPr>
            <a:r>
              <a:rPr lang="en-US" sz="2750" b="1">
                <a:solidFill>
                  <a:srgbClr val="1F4E79"/>
                </a:solidFill>
                <a:latin typeface="Poppins Bold"/>
                <a:ea typeface="Poppins Bold"/>
                <a:cs typeface="Poppins Bold"/>
                <a:sym typeface="Poppins Bold"/>
              </a:rPr>
              <a:t>Add a prediction model for installs</a:t>
            </a:r>
          </a:p>
        </p:txBody>
      </p:sp>
      <p:sp>
        <p:nvSpPr>
          <p:cNvPr id="23" name="TextBox 23"/>
          <p:cNvSpPr txBox="1"/>
          <p:nvPr/>
        </p:nvSpPr>
        <p:spPr>
          <a:xfrm>
            <a:off x="992238" y="6697712"/>
            <a:ext cx="379362" cy="424796"/>
          </a:xfrm>
          <a:prstGeom prst="rect">
            <a:avLst/>
          </a:prstGeom>
        </p:spPr>
        <p:txBody>
          <a:bodyPr wrap="square" lIns="0" tIns="0" rIns="0" bIns="0" rtlCol="0" anchor="t">
            <a:spAutoFit/>
          </a:bodyPr>
          <a:lstStyle/>
          <a:p>
            <a:pPr algn="l">
              <a:lnSpc>
                <a:spcPts val="3562"/>
              </a:lnSpc>
            </a:pPr>
            <a:r>
              <a:rPr lang="en-US" sz="2187" dirty="0">
                <a:solidFill>
                  <a:srgbClr val="1F4E79"/>
                </a:solidFill>
                <a:latin typeface="Poppins Light"/>
                <a:ea typeface="Poppins Light"/>
                <a:cs typeface="Poppins Light"/>
                <a:sym typeface="Poppins Light"/>
              </a:rPr>
              <a:t>05</a:t>
            </a:r>
          </a:p>
        </p:txBody>
      </p:sp>
      <p:grpSp>
        <p:nvGrpSpPr>
          <p:cNvPr id="24" name="Group 24"/>
          <p:cNvGrpSpPr/>
          <p:nvPr/>
        </p:nvGrpSpPr>
        <p:grpSpPr>
          <a:xfrm>
            <a:off x="992238" y="7255817"/>
            <a:ext cx="8009930" cy="38100"/>
            <a:chOff x="0" y="0"/>
            <a:chExt cx="10679907" cy="50800"/>
          </a:xfrm>
        </p:grpSpPr>
        <p:sp>
          <p:nvSpPr>
            <p:cNvPr id="25" name="Freeform 25"/>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5AA43B"/>
            </a:solidFill>
          </p:spPr>
        </p:sp>
      </p:grpSp>
      <p:sp>
        <p:nvSpPr>
          <p:cNvPr id="26" name="TextBox 26"/>
          <p:cNvSpPr txBox="1"/>
          <p:nvPr/>
        </p:nvSpPr>
        <p:spPr>
          <a:xfrm>
            <a:off x="992238" y="7426077"/>
            <a:ext cx="8009930" cy="933450"/>
          </a:xfrm>
          <a:prstGeom prst="rect">
            <a:avLst/>
          </a:prstGeom>
        </p:spPr>
        <p:txBody>
          <a:bodyPr lIns="0" tIns="0" rIns="0" bIns="0" rtlCol="0" anchor="t">
            <a:spAutoFit/>
          </a:bodyPr>
          <a:lstStyle/>
          <a:p>
            <a:pPr algn="l">
              <a:lnSpc>
                <a:spcPts val="3437"/>
              </a:lnSpc>
            </a:pPr>
            <a:r>
              <a:rPr lang="en-US" sz="2750" b="1" dirty="0">
                <a:solidFill>
                  <a:srgbClr val="1F4E79"/>
                </a:solidFill>
                <a:latin typeface="Poppins Bold"/>
                <a:ea typeface="Poppins Bold"/>
                <a:cs typeface="Poppins Bold"/>
                <a:sym typeface="Poppins Bold"/>
              </a:rPr>
              <a:t>Add bookmark navigation for professional storytelling</a:t>
            </a:r>
          </a:p>
        </p:txBody>
      </p:sp>
      <p:sp>
        <p:nvSpPr>
          <p:cNvPr id="27" name="TextBox 27"/>
          <p:cNvSpPr txBox="1"/>
          <p:nvPr/>
        </p:nvSpPr>
        <p:spPr>
          <a:xfrm>
            <a:off x="9285684" y="6697712"/>
            <a:ext cx="467913" cy="424796"/>
          </a:xfrm>
          <a:prstGeom prst="rect">
            <a:avLst/>
          </a:prstGeom>
        </p:spPr>
        <p:txBody>
          <a:bodyPr wrap="square" lIns="0" tIns="0" rIns="0" bIns="0" rtlCol="0" anchor="t">
            <a:spAutoFit/>
          </a:bodyPr>
          <a:lstStyle/>
          <a:p>
            <a:pPr algn="l">
              <a:lnSpc>
                <a:spcPts val="3562"/>
              </a:lnSpc>
            </a:pPr>
            <a:r>
              <a:rPr lang="en-US" sz="2187" dirty="0">
                <a:solidFill>
                  <a:srgbClr val="1F4E79"/>
                </a:solidFill>
                <a:latin typeface="Poppins Light"/>
                <a:ea typeface="Poppins Light"/>
                <a:cs typeface="Poppins Light"/>
                <a:sym typeface="Poppins Light"/>
              </a:rPr>
              <a:t>06</a:t>
            </a:r>
          </a:p>
        </p:txBody>
      </p:sp>
      <p:grpSp>
        <p:nvGrpSpPr>
          <p:cNvPr id="28" name="Group 28"/>
          <p:cNvGrpSpPr/>
          <p:nvPr/>
        </p:nvGrpSpPr>
        <p:grpSpPr>
          <a:xfrm>
            <a:off x="9285685" y="7255817"/>
            <a:ext cx="8010079" cy="38100"/>
            <a:chOff x="0" y="0"/>
            <a:chExt cx="10680105" cy="50800"/>
          </a:xfrm>
        </p:grpSpPr>
        <p:sp>
          <p:nvSpPr>
            <p:cNvPr id="29" name="Freeform 29"/>
            <p:cNvSpPr/>
            <p:nvPr/>
          </p:nvSpPr>
          <p:spPr>
            <a:xfrm>
              <a:off x="0" y="0"/>
              <a:ext cx="10680065" cy="50800"/>
            </a:xfrm>
            <a:custGeom>
              <a:avLst/>
              <a:gdLst/>
              <a:ahLst/>
              <a:cxnLst/>
              <a:rect l="l" t="t" r="r" b="b"/>
              <a:pathLst>
                <a:path w="10680065" h="50800">
                  <a:moveTo>
                    <a:pt x="0" y="0"/>
                  </a:moveTo>
                  <a:lnTo>
                    <a:pt x="10680065" y="0"/>
                  </a:lnTo>
                  <a:lnTo>
                    <a:pt x="10680065" y="50800"/>
                  </a:lnTo>
                  <a:lnTo>
                    <a:pt x="0" y="50800"/>
                  </a:lnTo>
                  <a:close/>
                </a:path>
              </a:pathLst>
            </a:custGeom>
            <a:solidFill>
              <a:srgbClr val="5AA43B"/>
            </a:solidFill>
          </p:spPr>
        </p:sp>
      </p:grpSp>
      <p:sp>
        <p:nvSpPr>
          <p:cNvPr id="30" name="TextBox 30"/>
          <p:cNvSpPr txBox="1"/>
          <p:nvPr/>
        </p:nvSpPr>
        <p:spPr>
          <a:xfrm>
            <a:off x="9285685" y="7426077"/>
            <a:ext cx="8010079" cy="933450"/>
          </a:xfrm>
          <a:prstGeom prst="rect">
            <a:avLst/>
          </a:prstGeom>
        </p:spPr>
        <p:txBody>
          <a:bodyPr lIns="0" tIns="0" rIns="0" bIns="0" rtlCol="0" anchor="t">
            <a:spAutoFit/>
          </a:bodyPr>
          <a:lstStyle/>
          <a:p>
            <a:pPr algn="l">
              <a:lnSpc>
                <a:spcPts val="3437"/>
              </a:lnSpc>
            </a:pPr>
            <a:r>
              <a:rPr lang="en-US" sz="2750" b="1" dirty="0">
                <a:solidFill>
                  <a:srgbClr val="1F4E79"/>
                </a:solidFill>
                <a:latin typeface="Poppins Bold"/>
                <a:ea typeface="Poppins Bold"/>
                <a:cs typeface="Poppins Bold"/>
                <a:sym typeface="Poppins Bold"/>
              </a:rPr>
              <a:t>Build a mobile-optimized version of the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ED2A6"/>
        </a:solidFill>
        <a:effectLst/>
      </p:bgPr>
    </p:bg>
    <p:spTree>
      <p:nvGrpSpPr>
        <p:cNvPr id="1" name=""/>
        <p:cNvGrpSpPr/>
        <p:nvPr/>
      </p:nvGrpSpPr>
      <p:grpSpPr>
        <a:xfrm>
          <a:off x="0" y="0"/>
          <a:ext cx="0" cy="0"/>
          <a:chOff x="0" y="0"/>
          <a:chExt cx="0" cy="0"/>
        </a:xfrm>
      </p:grpSpPr>
      <p:sp>
        <p:nvSpPr>
          <p:cNvPr id="6" name="Add-in_Banner">
            <a:extLst>
              <a:ext uri="{FF2B5EF4-FFF2-40B4-BE49-F238E27FC236}">
                <a16:creationId xmlns:a16="http://schemas.microsoft.com/office/drawing/2014/main" id="{3469E413-BCF5-4E2F-BE4B-EB617C589FA5}"/>
              </a:ext>
            </a:extLst>
          </p:cNvPr>
          <p:cNvSpPr txBox="1">
            <a:spLocks noGrp="1"/>
          </p:cNvSpPr>
          <p:nvPr>
            <p:ph type="title"/>
          </p:nvPr>
        </p:nvSpPr>
        <p:spPr>
          <a:xfrm>
            <a:off x="0" y="527093"/>
            <a:ext cx="18288000" cy="960772"/>
          </a:xfrm>
          <a:prstGeom prst="rect">
            <a:avLst/>
          </a:prstGeom>
          <a:solidFill>
            <a:srgbClr val="494748">
              <a:alpha val="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998000" tIns="270000" rIns="324000" bIns="270000" numCol="1" spcCol="0" rtlCol="0" fromWordArt="0" anchor="ctr" anchorCtr="0" forceAA="0" compatLnSpc="1">
            <a:prstTxWarp prst="textNoShape">
              <a:avLst/>
            </a:prstTxWarp>
            <a:spAutoFit/>
          </a:bodyPr>
          <a:lstStyle/>
          <a:p>
            <a:pPr algn="l"/>
            <a:r>
              <a:rPr lang="en-GB" sz="2700" dirty="0">
                <a:solidFill>
                  <a:srgbClr val="000000"/>
                </a:solidFill>
                <a:latin typeface="Segoe UI Light" panose="020B0502040204020203" pitchFamily="34" charset="0"/>
                <a:ea typeface="Calibri" panose="020F0502020204030204" pitchFamily="34" charset="0"/>
                <a:cs typeface="Segoe UI Light" panose="020B0502040204020203" pitchFamily="34" charset="0"/>
              </a:rPr>
              <a:t>Microsoft Power BI</a:t>
            </a:r>
            <a:endParaRPr lang="en-IE" sz="1800" dirty="0">
              <a:latin typeface="Segoe UI Light" panose="020B0502040204020203" pitchFamily="34" charset="0"/>
              <a:ea typeface="Calibri" panose="020F0502020204030204" pitchFamily="34" charset="0"/>
              <a:cs typeface="Segoe UI Light" panose="020B0502040204020203" pitchFamily="34" charset="0"/>
            </a:endParaRPr>
          </a:p>
        </p:txBody>
      </p:sp>
      <p:pic>
        <p:nvPicPr>
          <p:cNvPr id="7" name="Add-in_Icon" descr="Icon for Microsoft Power BI.">
            <a:extLst>
              <a:ext uri="{FF2B5EF4-FFF2-40B4-BE49-F238E27FC236}">
                <a16:creationId xmlns:a16="http://schemas.microsoft.com/office/drawing/2014/main" id="{87D43E1C-7B4D-44A2-8E6D-6786349BFB58}"/>
              </a:ext>
            </a:extLst>
          </p:cNvPr>
          <p:cNvPicPr/>
          <p:nvPr/>
        </p:nvPicPr>
        <p:blipFill>
          <a:blip r:embed="rId2"/>
          <a:stretch>
            <a:fillRect/>
          </a:stretch>
        </p:blipFill>
        <p:spPr bwMode="auto">
          <a:xfrm>
            <a:off x="1371601" y="795548"/>
            <a:ext cx="437198" cy="437198"/>
          </a:xfrm>
          <a:prstGeom prst="rect">
            <a:avLst/>
          </a:prstGeom>
          <a:noFill/>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descr="Add-in content for Microsoft Power BI."/>
              <p:cNvGraphicFramePr>
                <a:graphicFrameLocks noGrp="1"/>
              </p:cNvGraphicFramePr>
              <p:nvPr>
                <p:extLst>
                  <p:ext uri="{D42A27DB-BD31-4B8C-83A1-F6EECF244321}">
                    <p14:modId xmlns:p14="http://schemas.microsoft.com/office/powerpoint/2010/main" val="2395891907"/>
                  </p:ext>
                </p:extLst>
              </p:nvPr>
            </p:nvGraphicFramePr>
            <p:xfrm>
              <a:off x="0" y="1487864"/>
              <a:ext cx="18288000" cy="87991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descr="Add-in content for Microsoft Power BI."/>
              <p:cNvPicPr>
                <a:picLocks noGrp="1" noRot="1" noChangeAspect="1" noMove="1" noResize="1" noEditPoints="1" noAdjustHandles="1" noChangeArrowheads="1" noChangeShapeType="1"/>
              </p:cNvPicPr>
              <p:nvPr/>
            </p:nvPicPr>
            <p:blipFill>
              <a:blip r:embed="rId4"/>
              <a:stretch>
                <a:fillRect/>
              </a:stretch>
            </p:blipFill>
            <p:spPr>
              <a:xfrm>
                <a:off x="0" y="1487864"/>
                <a:ext cx="18288000" cy="8799135"/>
              </a:xfrm>
              <a:prstGeom prst="rect">
                <a:avLst/>
              </a:prstGeom>
            </p:spPr>
          </p:pic>
        </mc:Fallback>
      </mc:AlternateContent>
    </p:spTree>
    <p:extLst>
      <p:ext uri="{BB962C8B-B14F-4D97-AF65-F5344CB8AC3E}">
        <p14:creationId xmlns:p14="http://schemas.microsoft.com/office/powerpoint/2010/main" val="1564363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ED2A6"/>
        </a:solidFill>
        <a:effectLst/>
      </p:bgPr>
    </p:bg>
    <p:spTree>
      <p:nvGrpSpPr>
        <p:cNvPr id="1" name=""/>
        <p:cNvGrpSpPr/>
        <p:nvPr/>
      </p:nvGrpSpPr>
      <p:grpSpPr>
        <a:xfrm>
          <a:off x="0" y="0"/>
          <a:ext cx="0" cy="0"/>
          <a:chOff x="0" y="0"/>
          <a:chExt cx="0" cy="0"/>
        </a:xfrm>
      </p:grpSpPr>
      <p:sp>
        <p:nvSpPr>
          <p:cNvPr id="6" name="Add-in_Banner">
            <a:extLst>
              <a:ext uri="{FF2B5EF4-FFF2-40B4-BE49-F238E27FC236}">
                <a16:creationId xmlns:a16="http://schemas.microsoft.com/office/drawing/2014/main" id="{3469E413-BCF5-4E2F-BE4B-EB617C589FA5}"/>
              </a:ext>
            </a:extLst>
          </p:cNvPr>
          <p:cNvSpPr txBox="1">
            <a:spLocks noGrp="1"/>
          </p:cNvSpPr>
          <p:nvPr>
            <p:ph type="title"/>
          </p:nvPr>
        </p:nvSpPr>
        <p:spPr>
          <a:xfrm>
            <a:off x="0" y="527093"/>
            <a:ext cx="18288000" cy="960772"/>
          </a:xfrm>
          <a:prstGeom prst="rect">
            <a:avLst/>
          </a:prstGeom>
          <a:solidFill>
            <a:srgbClr val="494748">
              <a:alpha val="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998000" tIns="270000" rIns="324000" bIns="270000" numCol="1" spcCol="0" rtlCol="0" fromWordArt="0" anchor="ctr" anchorCtr="0" forceAA="0" compatLnSpc="1">
            <a:prstTxWarp prst="textNoShape">
              <a:avLst/>
            </a:prstTxWarp>
            <a:spAutoFit/>
          </a:bodyPr>
          <a:lstStyle/>
          <a:p>
            <a:pPr algn="l"/>
            <a:r>
              <a:rPr lang="en-GB" sz="2700" dirty="0">
                <a:solidFill>
                  <a:srgbClr val="000000"/>
                </a:solidFill>
                <a:latin typeface="Segoe UI Light" panose="020B0502040204020203" pitchFamily="34" charset="0"/>
                <a:ea typeface="Calibri" panose="020F0502020204030204" pitchFamily="34" charset="0"/>
                <a:cs typeface="Segoe UI Light" panose="020B0502040204020203" pitchFamily="34" charset="0"/>
              </a:rPr>
              <a:t>Microsoft Power BI</a:t>
            </a:r>
            <a:endParaRPr lang="en-IE" sz="1800" dirty="0">
              <a:latin typeface="Segoe UI Light" panose="020B0502040204020203" pitchFamily="34" charset="0"/>
              <a:ea typeface="Calibri" panose="020F0502020204030204" pitchFamily="34" charset="0"/>
              <a:cs typeface="Segoe UI Light" panose="020B0502040204020203" pitchFamily="34" charset="0"/>
            </a:endParaRPr>
          </a:p>
        </p:txBody>
      </p:sp>
      <p:pic>
        <p:nvPicPr>
          <p:cNvPr id="7" name="Add-in_Icon" descr="Icon for Microsoft Power BI.">
            <a:extLst>
              <a:ext uri="{FF2B5EF4-FFF2-40B4-BE49-F238E27FC236}">
                <a16:creationId xmlns:a16="http://schemas.microsoft.com/office/drawing/2014/main" id="{87D43E1C-7B4D-44A2-8E6D-6786349BFB58}"/>
              </a:ext>
            </a:extLst>
          </p:cNvPr>
          <p:cNvPicPr/>
          <p:nvPr/>
        </p:nvPicPr>
        <p:blipFill>
          <a:blip r:embed="rId2"/>
          <a:stretch>
            <a:fillRect/>
          </a:stretch>
        </p:blipFill>
        <p:spPr bwMode="auto">
          <a:xfrm>
            <a:off x="1371601" y="795548"/>
            <a:ext cx="437198" cy="437198"/>
          </a:xfrm>
          <a:prstGeom prst="rect">
            <a:avLst/>
          </a:prstGeom>
          <a:noFill/>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descr="Add-in content for Microsoft Power BI."/>
              <p:cNvGraphicFramePr>
                <a:graphicFrameLocks noGrp="1"/>
              </p:cNvGraphicFramePr>
              <p:nvPr>
                <p:extLst>
                  <p:ext uri="{D42A27DB-BD31-4B8C-83A1-F6EECF244321}">
                    <p14:modId xmlns:p14="http://schemas.microsoft.com/office/powerpoint/2010/main" val="679206014"/>
                  </p:ext>
                </p:extLst>
              </p:nvPr>
            </p:nvGraphicFramePr>
            <p:xfrm>
              <a:off x="0" y="1501202"/>
              <a:ext cx="18288000" cy="8785798"/>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descr="Add-in content for Microsoft Power BI."/>
              <p:cNvPicPr>
                <a:picLocks noGrp="1" noRot="1" noChangeAspect="1" noMove="1" noResize="1" noEditPoints="1" noAdjustHandles="1" noChangeArrowheads="1" noChangeShapeType="1"/>
              </p:cNvPicPr>
              <p:nvPr/>
            </p:nvPicPr>
            <p:blipFill>
              <a:blip r:embed="rId4"/>
              <a:stretch>
                <a:fillRect/>
              </a:stretch>
            </p:blipFill>
            <p:spPr>
              <a:xfrm>
                <a:off x="0" y="1501202"/>
                <a:ext cx="18288000" cy="8785798"/>
              </a:xfrm>
              <a:prstGeom prst="rect">
                <a:avLst/>
              </a:prstGeom>
            </p:spPr>
          </p:pic>
        </mc:Fallback>
      </mc:AlternateContent>
    </p:spTree>
    <p:extLst>
      <p:ext uri="{BB962C8B-B14F-4D97-AF65-F5344CB8AC3E}">
        <p14:creationId xmlns:p14="http://schemas.microsoft.com/office/powerpoint/2010/main" val="2903852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0BF81"/>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ED2A6"/>
            </a:solidFill>
          </p:spPr>
        </p:sp>
      </p:grpSp>
      <p:sp>
        <p:nvSpPr>
          <p:cNvPr id="12" name="TextBox 12"/>
          <p:cNvSpPr txBox="1"/>
          <p:nvPr/>
        </p:nvSpPr>
        <p:spPr>
          <a:xfrm>
            <a:off x="992238" y="4128195"/>
            <a:ext cx="7088237" cy="962174"/>
          </a:xfrm>
          <a:prstGeom prst="rect">
            <a:avLst/>
          </a:prstGeom>
        </p:spPr>
        <p:txBody>
          <a:bodyPr lIns="0" tIns="0" rIns="0" bIns="0" rtlCol="0" anchor="t">
            <a:spAutoFit/>
          </a:bodyPr>
          <a:lstStyle/>
          <a:p>
            <a:pPr algn="l">
              <a:lnSpc>
                <a:spcPts val="6937"/>
              </a:lnSpc>
            </a:pPr>
            <a:r>
              <a:rPr lang="en-US" sz="5562" b="1">
                <a:solidFill>
                  <a:srgbClr val="000000"/>
                </a:solidFill>
                <a:latin typeface="Poppins Bold"/>
                <a:ea typeface="Poppins Bold"/>
                <a:cs typeface="Poppins Bold"/>
                <a:sym typeface="Poppins Bold"/>
              </a:rPr>
              <a:t>Thank You</a:t>
            </a:r>
          </a:p>
        </p:txBody>
      </p:sp>
      <p:sp>
        <p:nvSpPr>
          <p:cNvPr id="13" name="TextBox 13"/>
          <p:cNvSpPr txBox="1"/>
          <p:nvPr/>
        </p:nvSpPr>
        <p:spPr>
          <a:xfrm>
            <a:off x="992238" y="5372695"/>
            <a:ext cx="16303526" cy="709761"/>
          </a:xfrm>
          <a:prstGeom prst="rect">
            <a:avLst/>
          </a:prstGeom>
        </p:spPr>
        <p:txBody>
          <a:bodyPr lIns="0" tIns="0" rIns="0" bIns="0" rtlCol="0" anchor="t">
            <a:spAutoFit/>
          </a:bodyPr>
          <a:lstStyle/>
          <a:p>
            <a:pPr algn="l">
              <a:lnSpc>
                <a:spcPts val="4437"/>
              </a:lnSpc>
            </a:pPr>
            <a:r>
              <a:rPr lang="en-US" sz="2750">
                <a:solidFill>
                  <a:srgbClr val="1F4E79"/>
                </a:solidFill>
                <a:latin typeface="Poppins"/>
                <a:ea typeface="Poppins"/>
                <a:cs typeface="Poppins"/>
                <a:sym typeface="Poppins"/>
              </a:rPr>
              <a:t>We appreciate your time and attention. Feel free to reach out with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57a2b854-50d8-4276-8797-f1c5817760e4}">
  <we:reference id="WA200003233" version="2.0.0.3" store="en-GB" storeType="OMEX"/>
  <we:alternateReferences/>
  <we:properties>
    <we:property name="Microsoft.Office.CampaignId" value="&quot;none&quot;"/>
    <we:property name="artifactViewState" value="&quot;live&quot;"/>
    <we:property name="backgroundColor" value="&quot;#DED2A6&quot;"/>
    <we:property name="bookmark" value="&quot;H4sIAAAAAAAAA+VY32/bOAz+VwK/bAOMg2U7Tty3NF0PA+523VL0Hg7FQEl06s2xfLKcNlfkfz9KTrI2S5Nm6I8A60ttkabIjx9JKbeezOuqgNlHmKB35B0r9W0C+luHeb5XtmsMpciigAfIRCCTAHqJJKmqTK7K2ju69QzoMZqLvG6gsIZo8Z9L34OiOIOxfcugqNH3KtS1KqHI/8NWmURGNzj3PbypCqXBmhwZMGjNTkmd3q0Lv0W0IwiTT3GEwrSrWVdmCYtjEUrMIpky6HFSq1sF59lGFWvabT9UpYG8pG3smhBJN4o5kyyVKBIRM5E6G3lhFip89v6m0hQdxTyrLDgDOYVSoAWEQtBYtx7fen8i1I12cby/JxipRgv8jJkTlSY3M7JzSsF9GVRV7c0JjTOtCCsnOFcGis5KcqWuhxoJIOkdBXP/pf34UNb0r3hlXwbEDCJW5zPxpRx3+KwzJC/GSs9e168zyGVnWndONbbOqQ3+XNJKTW4Xixr4Tsfz1k0BWi5EVGX8K9HZko8+U1qiPp45/p3kelkIob/m9rNwjxwnab8HUcLTlPUhgDBmAQbxziI5V9VHiqXVsSoXy8om10+1mjjlRQuqG/5vg5TK9ahGSwE9f1o+bLNkE70K8iSffFmxxPdarCkbvjfCgpB0Hw5V0UzKHbi1L87+Gl7fWegvfchyLEiPtvnrkckbjMcax2AWr/eFT+YgrZ825cKHyGbXt2nyjlgwt8IWn9BWz35o/n2FlnkOzFLmyzA+rDldPy3ezn3gBT789YpX87kj83oTeJQvmwHYhvIrN+wHBsfOJmSohU2gWu9A7QimXb7eGbK/a9VUj8/nvhheOkLKJOXUcASmQZJwnkRRHO5sPAsruXC99FfI95YBvXvwOESGV6DNYUyeO8HYAt9IvhX4z80/xpIEWRh3uzyMUkwEz16Yfy5N60At117/MIbTHK/rzttBUbQjFeW7n6GhVGVjDoKFu0J7LlJuSXRLxiDocx4nAZNCdmPZ5ynrHS4Zd2a8LnJBB8O72fYmSHdK+yDBgAujajfKsZUr6cToorz1/sgp8tb2BRSNNfvmhL6Q6rp8s5z5D00w98UeR5L9shWFAXCAQPRiiMK4343ES2fL3nSxNIsb0w/N7kfpL5XBPdFps8pktxeGKY8FpH2RdKXgu29CT5fVB5vW4lJ8SIeSnz2EiqKpCUuUx6APYiCsXYifvvvvkdWWhQJFJEQ/BNZLWSZYmkFgLW4/3OON4ermPprub3MBq8bUFQg8gxI3FDJRB0ppc7q1mN2PgKs6ns//B2BPRXJ8FAAA&quot;"/>
    <we:property name="creatorSessionId" value="&quot;d138f709-082a-473c-98a1-39583dc6a91c&quot;"/>
    <we:property name="creatorTenantId" value="&quot;dcf438c2-e741-4ece-822c-7f42d4d45380&quot;"/>
    <we:property name="creatorUserId" value="&quot;1003200532294FAD&quot;"/>
    <we:property name="datasetId" value="&quot;f909736f-0442-4eda-81ee-98b09f077c53&quot;"/>
    <we:property name="embedUrl" value="&quot;/reportEmbed?reportId=fe4d57b1-e795-4083-a3b2-ff5dcefa0ac2&amp;config=eyJjbHVzdGVyVXJsIjoiaHR0cHM6Ly9XQUJJLVNPVVRILUFGUklDQS1OT1JUSC1BLVBSSU1BUlktcmVkaXJlY3QuYW5hbHlzaXMud2luZG93cy5uZXQiLCJlbWJlZEZlYXR1cmVzIjp7InVzYWdlTWV0cmljc1ZOZXh0Ijp0cnVlfX0%3D&amp;disableSensitivityBanner=true&amp;storytellingChangeViewModeShortcutKeys=true&quot;"/>
    <we:property name="initialStateBookmark" value="&quot;H4sIAAAAAAAAA+VY227bOBD9FYMvbQFhoZtlK2+OkyyKbi4bB9mHRRDwMnbU0qKWopy4gf99h5TsJq5jx0UuBpqXSJzRcObMmRnS90RkZSHp9ISOgeyRfaW+jan+1gqIR/Jm7fT0y3Hv/Mv1Se/4EJdVYTKVl2TvnhiqR2Aus7Ki0lrAxX+vPEKlPKMj+zaksgSPFKBLlVOZfYdaGUVGVzDzCNwVUmlqTQ4MNWDNTlAd33Hv4I8Id6TcZBMYADf16rAthkkQxzwUMIxEGtAOQ7WyVnCerVSxpt32fZUbmuW4jV3jPGlHMQtEkArgCY8DnjobmTSNCpse3hUao8OYp4VFpScmNOcgiAtBQ1l7fE+OgZaVdnEcPhIMVKU5nMPQiXKTmSnaOcLgrntFUZIZonGmFWLlBBfKUNlaSG7UbV8DAiTInj/z3tqPz3mJ/+Q7+9JDZiCxWufIl3zUYtNWH70YKT19X7/OaCZak7J1pKF2Tq3w5wpXSnRbNjXwg44XtZucatGIsMrYV6SzJR9+prQAvT91/DvI9LwQQm/J7VfhHjqO0m6HRglL06BLfRrGgQ9+vLFILlRxgrHUOlblcl7Z6PqRVmOn3PSesmL/VYCpXI5qMBfg89/zh3WWbKIXQR5k4+sFSzxSY43Z8MgAJCLpPuwrWY3zDbjVL87+El4/WOjNfRhmIFEPtzl9ZvJ6o5GGETXN62PhizmI60dV3vgQ2ex6Nk1kL/BnVljjE9rq2Q7Nf27AMs+BmYtsHsbnJafLl8XbuU+ZhKe/XvBqNnNkXm4Cz/JlNQDrUH7nhv3E4NjYhAy2sDEtljtQPYJxl68PhuyfWlXF8/O5LYZXjpAiSRk2HA6pnySMJVEUhxsbT2Ml466X/g75XjOgNw8eh0j/hmqzG5PnQTC2wFeSbwH+a/MvCJIEgjBut1kYpZBwNnxj/rk0LQM1X3v/wxhMMrgtWx97UtYjFcSnX6GhUHlldoKFm0J7LVKuSXRNRt/vMhYnfiC4aMeiy9Kgs7tk3JjxUmYcD4YPs03GgHdK+yCooS6Mot4og1quhBODi/Ke/JVh5LXtSyora/bDAX4h1G3+YT7zn5pg7ostjiTbZSsKfcoo9XknplEYd9sRf+ts2Zsu5Ka5Mf3U7H6W/lYZ3BKdOquBaHfCMGUxp2mXJ23B2eab0Mtl9cmm1VyKd+lQ8quHUC6rErEEsU/1TgyEpQvxy3f/LbJas5ADjzjvhjTopMGQB+mQ+tbi+sM93Bmm7h6j6f5WF7CqTFlQDmc0hxWFjNShubA5XVvM9pc+4vZAZ7LmrvYM/TrU2f/zouo0pBQAAA==&quot;"/>
    <we:property name="isFiltersActionButtonVisible" value="true"/>
    <we:property name="isVisualContainerHeaderHidden" value="false"/>
    <we:property name="pageDisplayName" value="&quot;Page 1&quot;"/>
    <we:property name="pageName" value="&quot;f5df6144c2def3d91a7b&quot;"/>
    <we:property name="reportEmbeddedTime" value="&quot;2025-11-15T16:08:18.476Z&quot;"/>
    <we:property name="reportName" value="&quot;Google PlayStore&quot;"/>
    <we:property name="reportState" value="&quot;CONNECTED&quot;"/>
    <we:property name="reportUrl" value="&quot;/groups/me/reports/fe4d57b1-e795-4083-a3b2-ff5dcefa0ac2/f5df6144c2def3d91a7b?bookmarkGuid=2e1a00b2-57dd-462a-b1ef-04fd5de0cdc8&amp;bookmarkUsage=1&amp;ctid=dcf438c2-e741-4ece-822c-7f42d4d45380&amp;fromEntryPoint=export&quot;"/>
  </we:properties>
  <we:bindings/>
  <we:snapshot xmlns:r="http://schemas.openxmlformats.org/officeDocument/2006/relationships"/>
</we:webextension>
</file>

<file path=ppt/webextensions/webextension2.xml><?xml version="1.0" encoding="utf-8"?>
<we:webextension xmlns:we="http://schemas.microsoft.com/office/webextensions/webextension/2010/11" id="{e176d7aa-0801-49a3-978a-816d2b9413ed}">
  <we:reference id="WA200003233" version="2.0.0.3" store="en-GB" storeType="OMEX"/>
  <we:alternateReferences/>
  <we:properties>
    <we:property name="Microsoft.Office.CampaignId" value="&quot;none&quot;"/>
    <we:property name="artifactViewState" value="&quot;live&quot;"/>
    <we:property name="backgroundColor" value="&quot;#DED2A6&quot;"/>
    <we:property name="bookmark" value="&quot;H4sIAAAAAAAAA+1Z227bOBD9FUEvfTEW1N3KW+KkQLHdbjYOugssioAURwlbWdKSVBI3yL/vkJId2/EtRewkaN8kzog8c+ZGUncuF6ou6PgTHYF74B5V1bcRld8cz+25ZTuW8pATHhHOWBJ4PvEgYSitai2qUrkHd66m8hL0Z6EaWpiJcPDfLz2XFsUpvTRvOS0U9NwapKpKWojv0CqjSMsG7nsu3NZFJamZcqipBjPtNarjO0LwfgtwRZppcQ1DyHQ7ytMkCFmf0tT3+yzys8g3sFWrYJEtVTFT2+UHVampKHEZM9YPQ8qzLIU08n2WsZTT0IznotCdChuf3NYSrUObx7Uh55Bf0zID7loTJKgW8Z37B1DVSGvHyZxgWDUygzPIrajUQo9xnvdo3MVhXSv3Htk4lRVyZQXnlaaFM5VcVTcDCUgQdw/IfW9/OA7RG+hM5wx9VF46bOwMEMVlJcdLcH3BEYVqRefnB8rPW7gZlbwTYSSxr+gyQzB+VkkO8mhsOT4WcuJsv7cAfyf8InCU8iTOs5wlJCIMfMI8D6KNgdCxITJr0rwPBlXRjMptoR6L0YWlaRHpZOyJXKtCZCDneHZHgBlrE4Rqas2o24UEtPKKWzFYK+/cjwItb+f+TIvGTPvuGL/g1U35zhDXUdemKIL+OpOE9gtlV3lWJnBFHGfE93Mfa1MSckaBRRHp79lbpo5AqbvcWES7RPpTefCJ7LRe5WHc90kCnBMW+35MYt8W47U8abjVrLqdLylmNi8NsixhftJPU5yWxbQfvK0Y2WOlX9txNsaqFIxV5eCKSv3KSvuK2J62sT1Gdx7084iymBDfYyEjAWPeHuNxJWNdc1/T2d9MHGZFo5BL4EdU/hzR+ASvtlEYcy8KU0r7YUaDMIhwx0s2RuF5VX9CKlsd2xsmu3Rk7r2sRla5O06ohv3XAC65SOpwIsDnvyYP62YyYTafdxNreu12oI3NTjuf1X7g5UEV6R9Cgbxvz3P7YqEsJvmU2N4UgIAC9XCZP581zKYg8pX7c7gWcDOJMfSWe+AR6+7Wdn+Gpm1IxUn+vgIDzBJVcqE7YB8WGHvC/mAbLi18ygpY/fU0vLrtyzN06dnKtxzWVhVxu/TYJkxXkH9Ycrurg1y3lo5qKoWa2D15+10YPVx6ovhsYfbQ7s7E5ZVescUMP1rfzCitR+q9GNKgRbo0jnZzhv6RrsZeSTN7ZMnOtlebE7I7BtI0Svoxbu4TnvGMxAw2HwN/NbPX2cwe7ZV+9bGX6WOvcWdPUfdVFMH9nC+3LYBRCpCSKIpDCDkEhIUeX10Au7t9Cn4KfhimaRyFYU7iOCZI64+Ux41lqreDSqp2WhzVo8L0oVTo88JZUiVVftFJZ3y2u5r5GNuJ0mJkssicAaBswPnHmZlpdSHdbWncgsO9l8iVKb0EW8/F6cwvqRGUuk0KxyOO6DSzTtP8EYGpB2TngVtnBuYLVtyNsfH271e2Cv+93bksC/L2eLH8Fr9qtKppBqe0hCW3+RgVtOTAu+dVN/r2P6trF0FniS6j1nxg/r5OL//v7/8HKzU5jA8eAAA=&quot;"/>
    <we:property name="creatorSessionId" value="&quot;b2e8f834-2307-461d-8f03-bfdd76752a73&quot;"/>
    <we:property name="creatorTenantId" value="&quot;dcf438c2-e741-4ece-822c-7f42d4d45380&quot;"/>
    <we:property name="creatorUserId" value="&quot;1003200532294FAD&quot;"/>
    <we:property name="datasetId" value="&quot;f909736f-0442-4eda-81ee-98b09f077c53&quot;"/>
    <we:property name="embedUrl" value="&quot;/reportEmbed?reportId=fe4d57b1-e795-4083-a3b2-ff5dcefa0ac2&amp;config=eyJjbHVzdGVyVXJsIjoiaHR0cHM6Ly9XQUJJLVNPVVRILUFGUklDQS1OT1JUSC1BLVBSSU1BUlktcmVkaXJlY3QuYW5hbHlzaXMud2luZG93cy5uZXQiLCJlbWJlZEZlYXR1cmVzIjp7InVzYWdlTWV0cmljc1ZOZXh0Ijp0cnVlfX0%3D&amp;disableSensitivityBanner=true&amp;storytellingChangeViewModeShortcutKeys=true&quot;"/>
    <we:property name="initialStateBookmark" value="&quot;H4sIAAAAAAAAA+1ZbU/bOhT+K1G+7Es1JWmSNnwrhUkT4+UC2r3SNCE7PgFvaZJrO0Av4r/fY8ctbWlpmGgBbd8S++T4Oc95s507l3FZ5WR8REbg7ri7ZflzRMRPx3c7bmHHjo8PDgenBxdHg8N9HC4rxctCujt3riLiEtRXLmuSaw04+O17xyV5fkIu9VtGcgkdtwIhy4Lk/D9ohHFKiRruOy7cVnkpiFZ5pogCrfYaxfEd1/Y/dnFFkip+DWeQqmaUJb1uSPuEJEHQp1GQRoHGKxsBg2ypiFZtlh+WhSK8wGX0WD8MCUvTBJIoCGhKE0ZCPZ7xXFkROt6/rQRahzaPK83KgF2TIgXmGhMEyAbxnXsIRNbC2LE/N3FW1iKFU8jMVKG4GqOeT2jcxaCqpHuPbJyIErkyE+elIrkznbkqb4YCkCDm7nj3ne3hGKA30JnOKfqouHTo2BkiistSjJfg+o4jEsVy6+cHys8buCkRzE5hJNEf6DJNMH5WCgZid2w43uNi4uygswB/I/wicJxlvThLM9rzIo9C4FHfh2htIFg2eGpMmvfBsMzrUdEW6h4fXRiaFpFOxp7Jtcx5CmKOZ3cEmLEmQYgixoyqWYhDM18yMw3Gyjv3C0fLG91fSV5rtR/28AtW3hQfNHGWuiZFEfSPmSQ0X0izyosygSviOPWCIAso7fVCRgnQKPL6W/aWriNQKJsbi2iXzP5WHnwmO41XWRj3A68HjHk0DoLYiwNTjJ/kScGtouXtfEnR2vykm6Y9GvT6SYJqaUz63fcVI1us9E92nLWxKjilZTG8IkK9sdK+IranbWyL0Z11+1lEaOx5gU9D6nUp9bcYjysZs839ic7+buIwzWuJXALbJeL3iMZneLWJwpj5UZgQ0g9T0g27Ee54vbVReF5WR0hlI2N6w2SXjsx9EuXICNtzhKzpvzXgkouknk0m8PmvycNTmnSYzefdxJpOsx1oYtNKZ7PSD7w8iCL9Z5Aj7+15bl4MlMUknxLbmQLgkKMcLnP8omE2BZGt3J/DNYebSYyht9wd3zPubmwPZmhqQyoq+fsKNDBDVMG4ssA+LzD2jP1BGy4NfEJzWP31NLzs9uUFuvRs5VsOq1VFbJcebcJ0BfmDgpldHWSqsXRUEcHlxO7J2wHXcrj0RPDFwuyh3Z3yyyu1YosZfjG+mRF6Gqn/aki7DdKlcbSZM/SvdDX6RprZI0s2tr1an5D2GEiSqNePcXPfYylLvZjC+mPgn2b2NpvZo73Snz72On3sLe7sCcq+iSK4nfNl2wIYJQCJF0VxCCGDrkdDn60ugPZSn0CQQBCGSRJHYZh5cRx7SOuvlMe1ZaqzgUoqN1oc5aPC9LmQ6PPcWVIlZXZhZ2d8trma+RjbvlR8pLNInwGgqMH5x5nRtLqQbrY0tuBw6yVyZUovwdZxUZ3+JTWCQjVJ4fiew61kaiX1HxGYekBYD9w6MzBfseKujY33f7/SKvy3dueyLMib48XyW/yyVrIiKZyQApbc5mNUkIIBs8+rbvT1z1TXrIG+4jahWshbcP8DsaS7kAceAAA=&quot;"/>
    <we:property name="isFiltersActionButtonVisible" value="true"/>
    <we:property name="isVisualContainerHeaderHidden" value="false"/>
    <we:property name="pageDisplayName" value="&quot;Page 2&quot;"/>
    <we:property name="pageName" value="&quot;d9734b8aa9228b52c521&quot;"/>
    <we:property name="reportEmbeddedTime" value="&quot;2025-11-15T16:09:07.966Z&quot;"/>
    <we:property name="reportName" value="&quot;Google PlayStore&quot;"/>
    <we:property name="reportState" value="&quot;CONNECTED&quot;"/>
    <we:property name="reportUrl" value="&quot;/groups/me/reports/fe4d57b1-e795-4083-a3b2-ff5dcefa0ac2/d9734b8aa9228b52c521?bookmarkGuid=ddc1e09e-3dc9-40fb-887b-f62b0286cc0d&amp;bookmarkUsage=1&amp;ctid=dcf438c2-e741-4ece-822c-7f42d4d45380&amp;fromEntryPoint=export&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126</TotalTime>
  <Words>544</Words>
  <Application>Microsoft Office PowerPoint</Application>
  <PresentationFormat>Custom</PresentationFormat>
  <Paragraphs>124</Paragraphs>
  <Slides>11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Poppins Bold</vt:lpstr>
      <vt:lpstr>Segoe UI Light</vt:lpstr>
      <vt:lpstr>Poppins</vt:lpstr>
      <vt:lpstr>Calibri</vt:lpstr>
      <vt:lpstr>Arial</vt:lpstr>
      <vt:lpstr>Poppins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Microsoft Power BI</vt:lpstr>
      <vt:lpstr>Microsoft Power BI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App-Store-Insights-Dashboard (1).pptx</dc:title>
  <cp:lastModifiedBy>Vinay Chary</cp:lastModifiedBy>
  <cp:revision>9</cp:revision>
  <dcterms:created xsi:type="dcterms:W3CDTF">2006-08-16T00:00:00Z</dcterms:created>
  <dcterms:modified xsi:type="dcterms:W3CDTF">2025-11-15T16:14:00Z</dcterms:modified>
  <dc:identifier>DAG4qqjyWug</dc:identifier>
</cp:coreProperties>
</file>